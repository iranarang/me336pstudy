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79" r:id="rId4"/>
    <p:sldMasterId id="2147483659" r:id="rId5"/>
    <p:sldMasterId id="2147483669" r:id="rId6"/>
  </p:sldMasterIdLst>
  <p:notesMasterIdLst>
    <p:notesMasterId r:id="rId54"/>
  </p:notesMasterIdLst>
  <p:sldIdLst>
    <p:sldId id="272" r:id="rId7"/>
    <p:sldId id="2531" r:id="rId8"/>
    <p:sldId id="2532" r:id="rId9"/>
    <p:sldId id="827" r:id="rId10"/>
    <p:sldId id="832" r:id="rId11"/>
    <p:sldId id="834" r:id="rId12"/>
    <p:sldId id="2533" r:id="rId13"/>
    <p:sldId id="2489" r:id="rId14"/>
    <p:sldId id="835" r:id="rId15"/>
    <p:sldId id="2528" r:id="rId16"/>
    <p:sldId id="836" r:id="rId17"/>
    <p:sldId id="2538" r:id="rId18"/>
    <p:sldId id="2565" r:id="rId19"/>
    <p:sldId id="2566" r:id="rId20"/>
    <p:sldId id="838" r:id="rId21"/>
    <p:sldId id="2529" r:id="rId22"/>
    <p:sldId id="2551" r:id="rId23"/>
    <p:sldId id="840" r:id="rId24"/>
    <p:sldId id="839" r:id="rId25"/>
    <p:sldId id="2564" r:id="rId26"/>
    <p:sldId id="855" r:id="rId27"/>
    <p:sldId id="847" r:id="rId28"/>
    <p:sldId id="2571" r:id="rId29"/>
    <p:sldId id="848" r:id="rId30"/>
    <p:sldId id="849" r:id="rId31"/>
    <p:sldId id="2554" r:id="rId32"/>
    <p:sldId id="2556" r:id="rId33"/>
    <p:sldId id="2557" r:id="rId34"/>
    <p:sldId id="2550" r:id="rId35"/>
    <p:sldId id="857" r:id="rId36"/>
    <p:sldId id="858" r:id="rId37"/>
    <p:sldId id="2552" r:id="rId38"/>
    <p:sldId id="859" r:id="rId39"/>
    <p:sldId id="266" r:id="rId40"/>
    <p:sldId id="2509" r:id="rId41"/>
    <p:sldId id="260" r:id="rId42"/>
    <p:sldId id="262" r:id="rId43"/>
    <p:sldId id="263" r:id="rId44"/>
    <p:sldId id="2558" r:id="rId45"/>
    <p:sldId id="2559" r:id="rId46"/>
    <p:sldId id="2562" r:id="rId47"/>
    <p:sldId id="2560" r:id="rId48"/>
    <p:sldId id="2567" r:id="rId49"/>
    <p:sldId id="2568" r:id="rId50"/>
    <p:sldId id="2569" r:id="rId51"/>
    <p:sldId id="2527" r:id="rId52"/>
    <p:sldId id="2570" r:id="rId53"/>
  </p:sldIdLst>
  <p:sldSz cx="9144000" cy="5143500" type="screen16x9"/>
  <p:notesSz cx="6858000" cy="9313863"/>
  <p:custDataLst>
    <p:tags r:id="rId5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272"/>
            <p14:sldId id="2531"/>
            <p14:sldId id="2532"/>
            <p14:sldId id="827"/>
            <p14:sldId id="832"/>
            <p14:sldId id="834"/>
            <p14:sldId id="2533"/>
            <p14:sldId id="2489"/>
            <p14:sldId id="835"/>
            <p14:sldId id="2528"/>
            <p14:sldId id="836"/>
            <p14:sldId id="2538"/>
            <p14:sldId id="2565"/>
            <p14:sldId id="2566"/>
            <p14:sldId id="838"/>
            <p14:sldId id="2529"/>
            <p14:sldId id="2551"/>
            <p14:sldId id="840"/>
            <p14:sldId id="839"/>
            <p14:sldId id="2564"/>
            <p14:sldId id="855"/>
            <p14:sldId id="847"/>
            <p14:sldId id="2571"/>
            <p14:sldId id="848"/>
            <p14:sldId id="849"/>
            <p14:sldId id="2554"/>
            <p14:sldId id="2556"/>
            <p14:sldId id="2557"/>
            <p14:sldId id="2550"/>
            <p14:sldId id="857"/>
            <p14:sldId id="858"/>
            <p14:sldId id="2552"/>
            <p14:sldId id="859"/>
            <p14:sldId id="266"/>
            <p14:sldId id="2509"/>
            <p14:sldId id="260"/>
            <p14:sldId id="262"/>
            <p14:sldId id="263"/>
            <p14:sldId id="2558"/>
            <p14:sldId id="2559"/>
            <p14:sldId id="2562"/>
            <p14:sldId id="2560"/>
            <p14:sldId id="2567"/>
            <p14:sldId id="2568"/>
            <p14:sldId id="2569"/>
            <p14:sldId id="2527"/>
            <p14:sldId id="25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CCFFFF"/>
    <a:srgbClr val="305668"/>
    <a:srgbClr val="C00000"/>
    <a:srgbClr val="EA22B1"/>
    <a:srgbClr val="BF5700"/>
    <a:srgbClr val="C6531F"/>
    <a:srgbClr val="C01338"/>
    <a:srgbClr val="79C82A"/>
    <a:srgbClr val="DE7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5" autoAdjust="0"/>
    <p:restoredTop sz="90955" autoAdjust="0"/>
  </p:normalViewPr>
  <p:slideViewPr>
    <p:cSldViewPr>
      <p:cViewPr varScale="1">
        <p:scale>
          <a:sx n="127" d="100"/>
          <a:sy n="127" d="100"/>
        </p:scale>
        <p:origin x="144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tags" Target="tags/tag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alibri" panose="020F0502020204030204" pitchFamily="34" charset="0"/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alibri" panose="020F0502020204030204" pitchFamily="34" charset="0"/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 smtClean="0"/>
              <a:pPr>
                <a:defRPr/>
              </a:pPr>
              <a:t>10/30/2024</a:t>
            </a:fld>
            <a:endParaRPr lang="en-US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alibri" panose="020F0502020204030204" pitchFamily="34" charset="0"/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alibri" panose="020F0502020204030204" pitchFamily="34" charset="0"/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radiation is undetectable to the human senses, it is a challenging hazard to quantify. Thus, dosimetry is…</a:t>
            </a:r>
          </a:p>
          <a:p>
            <a:endParaRPr lang="en-US" dirty="0"/>
          </a:p>
          <a:p>
            <a:r>
              <a:rPr lang="en-US" dirty="0"/>
              <a:t>Typically a human body</a:t>
            </a:r>
          </a:p>
          <a:p>
            <a:r>
              <a:rPr lang="en-US" dirty="0"/>
              <a:t>Sometimes a material – electronics and structural steel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97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units based on what we have access to use for detection</a:t>
            </a:r>
          </a:p>
          <a:p>
            <a:endParaRPr lang="en-US" dirty="0"/>
          </a:p>
          <a:p>
            <a:r>
              <a:rPr lang="en-US" dirty="0"/>
              <a:t>The skin: SEU</a:t>
            </a:r>
          </a:p>
          <a:p>
            <a:endParaRPr lang="en-US" dirty="0"/>
          </a:p>
          <a:p>
            <a:r>
              <a:rPr lang="en-US" dirty="0"/>
              <a:t>The paperclip: </a:t>
            </a:r>
            <a:r>
              <a:rPr lang="en-US" dirty="0" err="1"/>
              <a:t>Photoplates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822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on, we presumed safe until proven dangerous. Thus, if we didn’t notice any harm, we assumed there wasn’t any.</a:t>
            </a:r>
          </a:p>
          <a:p>
            <a:endParaRPr lang="en-US" dirty="0"/>
          </a:p>
          <a:p>
            <a:r>
              <a:rPr lang="en-US" dirty="0"/>
              <a:t>X-ray fitting for shoes until the 1970’s(!!!)</a:t>
            </a:r>
          </a:p>
          <a:p>
            <a:endParaRPr lang="en-US" dirty="0"/>
          </a:p>
          <a:p>
            <a:r>
              <a:rPr lang="en-US" dirty="0"/>
              <a:t>Comparable to DDT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411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approaches focus on long-term effects</a:t>
            </a:r>
          </a:p>
          <a:p>
            <a:endParaRPr lang="en-US" dirty="0"/>
          </a:p>
          <a:p>
            <a:r>
              <a:rPr lang="en-US" dirty="0"/>
              <a:t>Most of those effects are truly attributable only at high doses/dose rates, so most data from very quickly exposed populations</a:t>
            </a:r>
          </a:p>
          <a:p>
            <a:endParaRPr lang="en-US" dirty="0"/>
          </a:p>
          <a:p>
            <a:r>
              <a:rPr lang="en-US" dirty="0"/>
              <a:t>Need to extrapolate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7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units in red for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A4FA1-3BA7-AE4A-9D15-B4A5C51EA57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63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literal unit we will talk about today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244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28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117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71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000F-3A2F-82A3-4F95-94E475CBC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D76F1-20B9-AF1E-059E-39786E3DA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88274-3A8F-A78D-0CBB-D355D26F6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3243D-71B2-2AD8-8964-E526103BC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088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42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512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528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561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point out that an ion pair is actually saying an elementary charge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672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BA80-5766-0799-6EB2-68760CDA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33FB9-FFFB-E5F1-ACBE-9E650629F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AA1E2-7BE6-33A0-4026-128C7428F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point out that an ion pair is actually saying an elementary charge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CC77C-6DA8-DF07-B6D6-335083EC8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38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given mass of both materials, the ratio of absorbed doses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31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676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9361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199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3548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98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997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3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4584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637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6039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441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141B-C524-26D1-62FE-5A2B5665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F1CE4-DB4D-F762-FFFC-64C5E3F23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29260-A92B-1B9C-A865-6C4D1AC81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D8AA-BD6A-BD0C-FF4C-E28C96939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104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85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5735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0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478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1650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57200"/>
            <a:ext cx="6347714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A54F-A5F7-4C66-B990-A448CA91943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477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  <a:cs typeface="Calibri" panose="020F0502020204030204" pitchFamily="34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Position/Role,</a:t>
            </a:r>
            <a:r>
              <a:rPr lang="en-US" sz="1050" baseline="0" dirty="0">
                <a:latin typeface="Calibri" panose="020F0502020204030204" pitchFamily="34" charset="0"/>
                <a:cs typeface="Calibri" panose="020F0502020204030204" pitchFamily="34" charset="0"/>
              </a:rPr>
              <a:t> The University of Texas at Austin</a:t>
            </a:r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  <a:cs typeface="Calibri" panose="020F0502020204030204" pitchFamily="34" charset="0"/>
              </a:rPr>
              <a:t>Month 20xx</a:t>
            </a:r>
            <a:endParaRPr 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6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  <p:sldLayoutId id="2147483680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0.png"/><Relationship Id="rId5" Type="http://schemas.openxmlformats.org/officeDocument/2006/relationships/image" Target="../media/image330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1.png"/><Relationship Id="rId5" Type="http://schemas.openxmlformats.org/officeDocument/2006/relationships/image" Target="../media/image380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3BC39-91D5-1424-D3F5-63DE2681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9359F7-6F6F-87AB-8463-F3F0BCE3E3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6403"/>
            <a:ext cx="9136856" cy="1741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2A063A-03A6-70DD-4E94-34DBD403E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038885"/>
            <a:ext cx="7772400" cy="1065729"/>
          </a:xfrm>
        </p:spPr>
        <p:txBody>
          <a:bodyPr>
            <a:normAutofit fontScale="90000"/>
          </a:bodyPr>
          <a:lstStyle/>
          <a:p>
            <a:r>
              <a:rPr lang="en-US" dirty="0"/>
              <a:t>The Roentgen, the Rad, and the Rem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A30BE-03EF-9D7A-F336-595C36A28E8F}"/>
              </a:ext>
            </a:extLst>
          </p:cNvPr>
          <p:cNvSpPr txBox="1"/>
          <p:nvPr/>
        </p:nvSpPr>
        <p:spPr>
          <a:xfrm>
            <a:off x="609600" y="3049072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And the sievert, the gray, and the… paperclip?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E80A590-AE4E-0A3A-6705-6FE25AF999BA}"/>
              </a:ext>
            </a:extLst>
          </p:cNvPr>
          <p:cNvSpPr/>
          <p:nvPr/>
        </p:nvSpPr>
        <p:spPr>
          <a:xfrm>
            <a:off x="457200" y="438150"/>
            <a:ext cx="1371600" cy="457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61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D27F-C6D9-CAAB-56F5-0368A93C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42950"/>
            <a:ext cx="8229600" cy="85725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Learning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2AC4-56FC-7890-8526-2193A0196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71650"/>
            <a:ext cx="8686800" cy="29146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Define Dosimetry and how dosimetric approaches changed over time</a:t>
            </a:r>
          </a:p>
          <a:p>
            <a:r>
              <a:rPr lang="en-US" dirty="0"/>
              <a:t>Understand and convert between </a:t>
            </a:r>
            <a:r>
              <a:rPr lang="en-US" dirty="0" err="1"/>
              <a:t>e</a:t>
            </a:r>
            <a:r>
              <a:rPr lang="en-US" b="1" u="sng" dirty="0" err="1"/>
              <a:t>X</a:t>
            </a:r>
            <a:r>
              <a:rPr lang="en-US" dirty="0" err="1"/>
              <a:t>posure</a:t>
            </a:r>
            <a:r>
              <a:rPr lang="en-US" dirty="0"/>
              <a:t>, absorbed </a:t>
            </a:r>
            <a:r>
              <a:rPr lang="en-US" b="1" u="sng" dirty="0"/>
              <a:t>D</a:t>
            </a:r>
            <a:r>
              <a:rPr lang="en-US" dirty="0"/>
              <a:t>ose, and </a:t>
            </a:r>
            <a:r>
              <a:rPr lang="en-US" b="1" u="sng" dirty="0" err="1"/>
              <a:t>K</a:t>
            </a:r>
            <a:r>
              <a:rPr lang="en-US" dirty="0" err="1"/>
              <a:t>erma</a:t>
            </a:r>
            <a:endParaRPr lang="en-US" dirty="0"/>
          </a:p>
          <a:p>
            <a:r>
              <a:rPr lang="en-US" dirty="0"/>
              <a:t>Calculate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and </a:t>
            </a:r>
            <a:r>
              <a:rPr lang="en-US" i="1" dirty="0"/>
              <a:t>K</a:t>
            </a:r>
            <a:r>
              <a:rPr lang="en-US" dirty="0"/>
              <a:t> given fluence, energy, and appropriate material properties</a:t>
            </a:r>
          </a:p>
          <a:p>
            <a:r>
              <a:rPr lang="en-US" dirty="0"/>
              <a:t>Understand and utilize the Bragg-Gray Principle to calculate </a:t>
            </a:r>
            <a:r>
              <a:rPr lang="en-US" i="1" dirty="0"/>
              <a:t>D</a:t>
            </a:r>
            <a:r>
              <a:rPr lang="en-US" dirty="0"/>
              <a:t> to a material given the absorbed dose in a cavity</a:t>
            </a:r>
          </a:p>
          <a:p>
            <a:r>
              <a:rPr lang="en-US" dirty="0"/>
              <a:t>Perform basic internal dosimetry calculations utilizing dose conversion factors for inhalation and ingestion</a:t>
            </a:r>
          </a:p>
        </p:txBody>
      </p:sp>
    </p:spTree>
    <p:extLst>
      <p:ext uri="{BB962C8B-B14F-4D97-AF65-F5344CB8AC3E}">
        <p14:creationId xmlns:p14="http://schemas.microsoft.com/office/powerpoint/2010/main" val="391642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7F84-4846-9BAE-A2B7-618103F1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Dosimetry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461C9-A87F-8323-F947-BDDD47BE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1650"/>
            <a:ext cx="8229600" cy="3238500"/>
          </a:xfrm>
        </p:spPr>
        <p:txBody>
          <a:bodyPr>
            <a:normAutofit/>
          </a:bodyPr>
          <a:lstStyle/>
          <a:p>
            <a:r>
              <a:rPr lang="en-US" dirty="0"/>
              <a:t>Dosimetry is “…the methods, measurements, and calculations involved in evaluating the ionizing radiation absorbed by a target”</a:t>
            </a:r>
          </a:p>
          <a:p>
            <a:pPr lvl="1"/>
            <a:r>
              <a:rPr lang="en-US" dirty="0"/>
              <a:t>Often a human</a:t>
            </a:r>
          </a:p>
          <a:p>
            <a:pPr lvl="1"/>
            <a:r>
              <a:rPr lang="en-US" dirty="0"/>
              <a:t>Sometimes a material </a:t>
            </a:r>
          </a:p>
        </p:txBody>
      </p:sp>
    </p:spTree>
    <p:extLst>
      <p:ext uri="{BB962C8B-B14F-4D97-AF65-F5344CB8AC3E}">
        <p14:creationId xmlns:p14="http://schemas.microsoft.com/office/powerpoint/2010/main" val="175835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91607" y="407194"/>
            <a:ext cx="4760786" cy="9906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Historical Units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2400" y="1104900"/>
            <a:ext cx="5943600" cy="4038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1800" dirty="0"/>
              <a:t>Early units are tied to clearly visible effects:</a:t>
            </a:r>
          </a:p>
          <a:p>
            <a:pPr>
              <a:defRPr/>
            </a:pPr>
            <a:endParaRPr lang="en-US" sz="1800" dirty="0"/>
          </a:p>
          <a:p>
            <a:pPr>
              <a:defRPr/>
            </a:pPr>
            <a:r>
              <a:rPr lang="en-US" sz="1800" dirty="0"/>
              <a:t>The Skin-Erythema Unit:</a:t>
            </a:r>
          </a:p>
          <a:p>
            <a:pPr marL="685800" lvl="1">
              <a:defRPr/>
            </a:pPr>
            <a:r>
              <a:rPr lang="en-US" sz="1800" dirty="0"/>
              <a:t>The dose required to incite a mild radiation burn on the skin</a:t>
            </a:r>
          </a:p>
          <a:p>
            <a:pPr marL="685800" lvl="1">
              <a:defRPr/>
            </a:pPr>
            <a:r>
              <a:rPr lang="en-US" sz="1800" dirty="0"/>
              <a:t>Still a real unit you can calculate at a tanning salon </a:t>
            </a:r>
            <a:r>
              <a:rPr lang="en-US" sz="1800" dirty="0">
                <a:sym typeface="Wingdings" panose="05000000000000000000" pitchFamily="2" charset="2"/>
              </a:rPr>
              <a:t></a:t>
            </a:r>
          </a:p>
          <a:p>
            <a:pPr marL="400050" lvl="1" indent="0">
              <a:buNone/>
              <a:defRPr/>
            </a:pPr>
            <a:endParaRPr lang="en-US" sz="1800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1800" dirty="0">
                <a:sym typeface="Wingdings" panose="05000000000000000000" pitchFamily="2" charset="2"/>
              </a:rPr>
              <a:t>The Paperclip</a:t>
            </a:r>
          </a:p>
          <a:p>
            <a:pPr marL="685800" lvl="1">
              <a:defRPr/>
            </a:pPr>
            <a:r>
              <a:rPr lang="en-US" sz="1800" dirty="0">
                <a:sym typeface="Wingdings" panose="05000000000000000000" pitchFamily="2" charset="2"/>
              </a:rPr>
              <a:t>Radiation required to create a shadow on a </a:t>
            </a:r>
            <a:r>
              <a:rPr lang="en-US" sz="1800" dirty="0" err="1">
                <a:sym typeface="Wingdings" panose="05000000000000000000" pitchFamily="2" charset="2"/>
              </a:rPr>
              <a:t>photoplate</a:t>
            </a:r>
            <a:endParaRPr lang="en-US" sz="1800" dirty="0"/>
          </a:p>
        </p:txBody>
      </p:sp>
      <p:pic>
        <p:nvPicPr>
          <p:cNvPr id="4" name="Picture 3" descr="A paper clip on a black background&#10;&#10;Description automatically generated">
            <a:extLst>
              <a:ext uri="{FF2B5EF4-FFF2-40B4-BE49-F238E27FC236}">
                <a16:creationId xmlns:a16="http://schemas.microsoft.com/office/drawing/2014/main" id="{611EBAE6-07B2-EE07-C864-3773C892A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8" t="34091" r="38572" b="2273"/>
          <a:stretch/>
        </p:blipFill>
        <p:spPr>
          <a:xfrm>
            <a:off x="6435300" y="3009900"/>
            <a:ext cx="2708700" cy="2133600"/>
          </a:xfrm>
          <a:prstGeom prst="rect">
            <a:avLst/>
          </a:prstGeom>
        </p:spPr>
      </p:pic>
      <p:pic>
        <p:nvPicPr>
          <p:cNvPr id="2" name="Content Placeholder 4" descr="A close-up of a person's back&#10;&#10;Description automatically generated with medium confidence">
            <a:extLst>
              <a:ext uri="{FF2B5EF4-FFF2-40B4-BE49-F238E27FC236}">
                <a16:creationId xmlns:a16="http://schemas.microsoft.com/office/drawing/2014/main" id="{7650956B-6A4E-26B8-2F9C-6F052CE3B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" t="2005" r="1931" b="2151"/>
          <a:stretch/>
        </p:blipFill>
        <p:spPr>
          <a:xfrm>
            <a:off x="6435300" y="1200150"/>
            <a:ext cx="27087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244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38149"/>
            <a:ext cx="6137672" cy="87576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dirty="0">
                <a:solidFill>
                  <a:srgbClr val="FF0000"/>
                </a:solidFill>
              </a:rPr>
              <a:t>Principle of Initial Radiation Standards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19100" y="1313919"/>
            <a:ext cx="8305799" cy="19685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early limits on exposure to x-rays were a </a:t>
            </a:r>
            <a:r>
              <a:rPr lang="en-US" sz="2400" i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judgment call 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based on absence of </a:t>
            </a:r>
            <a:r>
              <a:rPr lang="en-US" sz="24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observed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acute harm (i.e. burns).  They were not arrived at through quantitative observation of biological changes </a:t>
            </a:r>
            <a:endParaRPr lang="en-US" sz="2400" i="1" dirty="0">
              <a:solidFill>
                <a:srgbClr val="CC0000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400" dirty="0"/>
              <a:t>Environmental engineers, this should sound familiar…</a:t>
            </a:r>
            <a:endParaRPr lang="en-US" sz="2400" i="1" dirty="0">
              <a:solidFill>
                <a:srgbClr val="CC0000"/>
              </a:solidFill>
            </a:endParaRPr>
          </a:p>
        </p:txBody>
      </p:sp>
      <p:pic>
        <p:nvPicPr>
          <p:cNvPr id="3" name="Picture 2" descr="A x-ray test with a couple of people&#10;&#10;Description automatically generated">
            <a:extLst>
              <a:ext uri="{FF2B5EF4-FFF2-40B4-BE49-F238E27FC236}">
                <a16:creationId xmlns:a16="http://schemas.microsoft.com/office/drawing/2014/main" id="{8BD58046-124D-C8CC-F0D3-7CD91BE326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206219"/>
            <a:ext cx="2509838" cy="1937281"/>
          </a:xfrm>
          <a:prstGeom prst="rect">
            <a:avLst/>
          </a:prstGeom>
        </p:spPr>
      </p:pic>
      <p:pic>
        <p:nvPicPr>
          <p:cNvPr id="5" name="Picture 4" descr="A cartoon of a person holding vegetables&#10;&#10;Description automatically generated">
            <a:extLst>
              <a:ext uri="{FF2B5EF4-FFF2-40B4-BE49-F238E27FC236}">
                <a16:creationId xmlns:a16="http://schemas.microsoft.com/office/drawing/2014/main" id="{58996AC6-A6A7-FFE3-65F1-4279163BD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6" b="5833"/>
          <a:stretch/>
        </p:blipFill>
        <p:spPr>
          <a:xfrm>
            <a:off x="5029200" y="3175000"/>
            <a:ext cx="30480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5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38150"/>
            <a:ext cx="6137672" cy="789385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The Modern Approach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7772400" cy="381833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modern approach has been to rely on risk estimates that are unlikely to underestimate the </a:t>
            </a:r>
            <a:r>
              <a:rPr lang="en-US" altLang="en-US" sz="24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long-term</a:t>
            </a:r>
            <a:r>
              <a:rPr lang="en-US" alt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consequences of radiation exposure, such as cancers </a:t>
            </a:r>
          </a:p>
          <a:p>
            <a:pPr>
              <a:lnSpc>
                <a:spcPct val="90000"/>
              </a:lnSpc>
            </a:pPr>
            <a:endParaRPr lang="en-US" altLang="en-US" sz="24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/>
              <a:t>It is important to realize that most of the harmful effects observed in human populations have occurred at high doses and high dose rates. </a:t>
            </a:r>
          </a:p>
          <a:p>
            <a:pPr lvl="1" indent="-342900">
              <a:lnSpc>
                <a:spcPct val="90000"/>
              </a:lnSpc>
            </a:pPr>
            <a:r>
              <a:rPr lang="en-US" altLang="en-US" sz="2000" dirty="0"/>
              <a:t>Largest epidemiological studies are from Hiroshima and Nagasaki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The information gathered from those populations </a:t>
            </a:r>
            <a:r>
              <a:rPr lang="en-US" altLang="en-US" sz="2400" i="1" dirty="0"/>
              <a:t>must then be extrapolated</a:t>
            </a:r>
            <a:r>
              <a:rPr lang="en-US" altLang="en-US" sz="2400" dirty="0"/>
              <a:t> to low doses and low dose rates to estimate the risks that occur in occupational/public health settings.</a:t>
            </a:r>
            <a:endParaRPr lang="en-US" altLang="en-US" sz="2000" dirty="0"/>
          </a:p>
          <a:p>
            <a:pPr marL="198835" indent="-198835">
              <a:lnSpc>
                <a:spcPct val="90000"/>
              </a:lnSpc>
              <a:buFont typeface="Wingdings 2" panose="05020102010507070707" pitchFamily="18" charset="2"/>
              <a:buChar char="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9544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4B6F-08CC-6B5E-7AE8-1A21E4C7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42950"/>
            <a:ext cx="8229600" cy="3505200"/>
          </a:xfrm>
        </p:spPr>
        <p:txBody>
          <a:bodyPr/>
          <a:lstStyle/>
          <a:p>
            <a:pPr algn="ctr"/>
            <a:r>
              <a:rPr lang="en-US" dirty="0"/>
              <a:t>Dosimetry Concepts and Units</a:t>
            </a:r>
          </a:p>
        </p:txBody>
      </p:sp>
    </p:spTree>
    <p:extLst>
      <p:ext uri="{BB962C8B-B14F-4D97-AF65-F5344CB8AC3E}">
        <p14:creationId xmlns:p14="http://schemas.microsoft.com/office/powerpoint/2010/main" val="1316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Lightning Bolt 38" descr="-">
            <a:extLst>
              <a:ext uri="{FF2B5EF4-FFF2-40B4-BE49-F238E27FC236}">
                <a16:creationId xmlns:a16="http://schemas.microsoft.com/office/drawing/2014/main" id="{56662D13-8241-647F-91CE-9D65BD46B3D0}"/>
              </a:ext>
            </a:extLst>
          </p:cNvPr>
          <p:cNvSpPr/>
          <p:nvPr/>
        </p:nvSpPr>
        <p:spPr>
          <a:xfrm>
            <a:off x="114300" y="114300"/>
            <a:ext cx="0" cy="0"/>
          </a:xfrm>
          <a:prstGeom prst="lightningBolt">
            <a:avLst/>
          </a:prstGeom>
          <a:solidFill>
            <a:srgbClr val="5B9BD5"/>
          </a:solidFill>
          <a:ln w="12700" cap="flat" cmpd="sng" algn="ctr">
            <a:solidFill>
              <a:srgbClr val="F8971F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kern="0">
              <a:solidFill>
                <a:srgbClr val="FFFFFF"/>
              </a:solidFill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A623E0F-51D3-9071-BC11-4A108F1B4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81" y="633552"/>
            <a:ext cx="7221328" cy="424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466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399" y="372666"/>
            <a:ext cx="6137672" cy="78938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Absorbed Dose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072" y="1276350"/>
                <a:ext cx="8755856" cy="3771900"/>
              </a:xfrm>
            </p:spPr>
            <p:txBody>
              <a:bodyPr>
                <a:noAutofit/>
              </a:bodyPr>
              <a:lstStyle/>
              <a:p>
                <a:pPr marL="198882" indent="-198882">
                  <a:lnSpc>
                    <a:spcPct val="90000"/>
                  </a:lnSpc>
                  <a:buFont typeface="Wingdings" panose="05000000000000000000" pitchFamily="2" charset="2"/>
                  <a:buChar char="l"/>
                  <a:defRPr/>
                </a:pPr>
                <a:r>
                  <a:rPr lang="en-US" sz="1800" dirty="0"/>
                  <a:t> </a:t>
                </a:r>
                <a:r>
                  <a:rPr lang="en-US" sz="2000" i="1" dirty="0">
                    <a:cs typeface="Times New Roman" charset="0"/>
                  </a:rPr>
                  <a:t>Absorbed dose (D)</a:t>
                </a:r>
                <a:r>
                  <a:rPr lang="en-US" sz="2000" dirty="0">
                    <a:cs typeface="Times New Roman" charset="0"/>
                  </a:rPr>
                  <a:t> is radiation energy absorbed (J or ergs) per unit mass (kg); you will also often see the dose rate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sz="2000" dirty="0">
                    <a:cs typeface="Times New Roman" charset="0"/>
                  </a:rPr>
                  <a:t>), which adds time (seconds or </a:t>
                </a:r>
                <a:r>
                  <a:rPr lang="en-US" sz="2000" dirty="0" err="1">
                    <a:cs typeface="Times New Roman" charset="0"/>
                  </a:rPr>
                  <a:t>hrs</a:t>
                </a:r>
                <a:r>
                  <a:rPr lang="en-US" sz="2000" dirty="0">
                    <a:cs typeface="Times New Roman" charset="0"/>
                  </a:rPr>
                  <a:t>)</a:t>
                </a:r>
              </a:p>
              <a:p>
                <a:pPr marL="198882" indent="-198882">
                  <a:lnSpc>
                    <a:spcPct val="90000"/>
                  </a:lnSpc>
                  <a:buFont typeface="Wingdings" panose="05000000000000000000" pitchFamily="2" charset="2"/>
                  <a:buChar char="l"/>
                  <a:defRPr/>
                </a:pPr>
                <a:endParaRPr lang="en-US" sz="2000" dirty="0">
                  <a:cs typeface="Times New Roman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charset="0"/>
                                </a:rPr>
                                <m:t>𝑎𝑏𝑠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charset="0"/>
                        </a:rPr>
                        <m:t>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charset="0"/>
                        </a:rPr>
                        <m:t> </m:t>
                      </m:r>
                      <m:acc>
                        <m:accPr>
                          <m:chr m:val="̇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  <m:t>𝐷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charset="0"/>
                                </a:rPr>
                                <m:t>𝑎𝑏𝑠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  <m:t>𝑚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  <m:t>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>
                  <a:cs typeface="Times New Roman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  <a:defRPr/>
                </a:pPr>
                <a:endParaRPr lang="en-US" sz="2400" dirty="0">
                  <a:cs typeface="Times New Roman" charset="0"/>
                </a:endParaRPr>
              </a:p>
              <a:p>
                <a:pPr marL="198882" indent="-198882">
                  <a:lnSpc>
                    <a:spcPct val="90000"/>
                  </a:lnSpc>
                  <a:buFont typeface="Wingdings" panose="05000000000000000000" pitchFamily="2" charset="2"/>
                  <a:buChar char="l"/>
                  <a:defRPr/>
                </a:pPr>
                <a:r>
                  <a:rPr lang="en-US" sz="2000" dirty="0">
                    <a:cs typeface="Times New Roman" charset="0"/>
                  </a:rPr>
                  <a:t> The amount absorbed depends on the properties of the radiation AND the properties of the target</a:t>
                </a:r>
              </a:p>
              <a:p>
                <a:pPr marL="0" indent="0">
                  <a:lnSpc>
                    <a:spcPct val="90000"/>
                  </a:lnSpc>
                  <a:buNone/>
                  <a:defRPr/>
                </a:pPr>
                <a:endParaRPr lang="en-US" sz="2000" dirty="0">
                  <a:cs typeface="Times New Roman" charset="0"/>
                </a:endParaRPr>
              </a:p>
              <a:p>
                <a:pPr marL="198882" indent="-198882">
                  <a:lnSpc>
                    <a:spcPct val="90000"/>
                  </a:lnSpc>
                  <a:buFont typeface="Wingdings" panose="05000000000000000000" pitchFamily="2" charset="2"/>
                  <a:buChar char="l"/>
                  <a:defRPr/>
                </a:pPr>
                <a:r>
                  <a:rPr lang="en-US" sz="2000" dirty="0">
                    <a:cs typeface="Times New Roman" charset="0"/>
                  </a:rPr>
                  <a:t>Is a valid quantity for all radiation types</a:t>
                </a: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072" y="1276350"/>
                <a:ext cx="8755856" cy="3771900"/>
              </a:xfrm>
              <a:blipFill>
                <a:blip r:embed="rId3"/>
                <a:stretch>
                  <a:fillRect l="-627" t="-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62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7D5E62-7234-FF03-3C66-F79B79BE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37168"/>
            <a:ext cx="5524500" cy="4352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27EA43-1ABC-1D10-A092-CB1CDC243AE5}"/>
              </a:ext>
            </a:extLst>
          </p:cNvPr>
          <p:cNvSpPr txBox="1"/>
          <p:nvPr/>
        </p:nvSpPr>
        <p:spPr>
          <a:xfrm>
            <a:off x="457200" y="389903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Measure of how much radioactive material is present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E035A-0697-11C1-2B85-0E2A643AE4D5}"/>
              </a:ext>
            </a:extLst>
          </p:cNvPr>
          <p:cNvSpPr txBox="1"/>
          <p:nvPr/>
        </p:nvSpPr>
        <p:spPr>
          <a:xfrm>
            <a:off x="3218948" y="4890093"/>
            <a:ext cx="6001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^ “Objective” measure of radiation produced, independent of target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CFFF8B-9EEB-7F3E-7163-901B7BAB73C4}"/>
                  </a:ext>
                </a:extLst>
              </p:cNvPr>
              <p:cNvSpPr txBox="1"/>
              <p:nvPr/>
            </p:nvSpPr>
            <p:spPr>
              <a:xfrm>
                <a:off x="5209172" y="452386"/>
                <a:ext cx="4191000" cy="839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&lt;- How much energy per unit mass the target (organ or whole-body) absorbed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𝑎𝑏𝑠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CFFF8B-9EEB-7F3E-7163-901B7BAB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172" y="452386"/>
                <a:ext cx="4191000" cy="839782"/>
              </a:xfrm>
              <a:prstGeom prst="rect">
                <a:avLst/>
              </a:prstGeom>
              <a:blipFill>
                <a:blip r:embed="rId4"/>
                <a:stretch>
                  <a:fillRect l="-146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DC871-F7BF-E752-816F-D5772D65F970}"/>
                  </a:ext>
                </a:extLst>
              </p:cNvPr>
              <p:cNvSpPr txBox="1"/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How damaging the </a:t>
                </a:r>
                <a:r>
                  <a:rPr lang="en-US" sz="1100" i="1" u="sng" dirty="0"/>
                  <a:t>type</a:t>
                </a:r>
                <a:r>
                  <a:rPr lang="en-US" sz="1100" dirty="0"/>
                  <a:t> of radiation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&gt;1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DC871-F7BF-E752-816F-D5772D65F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blipFill>
                <a:blip r:embed="rId5"/>
                <a:stretch>
                  <a:fillRect t="-649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D7505B-708A-186F-8577-A5EEEB0D34D2}"/>
                  </a:ext>
                </a:extLst>
              </p:cNvPr>
              <p:cNvSpPr txBox="1"/>
              <p:nvPr/>
            </p:nvSpPr>
            <p:spPr>
              <a:xfrm>
                <a:off x="7086600" y="2419350"/>
                <a:ext cx="2057400" cy="159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Total effective biological damage, based on absorbed dose, radiation type, </a:t>
                </a:r>
                <a:r>
                  <a:rPr lang="en-US" sz="1200" u="sng" dirty="0"/>
                  <a:t>and target organ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=∑(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D7505B-708A-186F-8577-A5EEEB0D3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2419350"/>
                <a:ext cx="2057400" cy="1599797"/>
              </a:xfrm>
              <a:prstGeom prst="rect">
                <a:avLst/>
              </a:prstGeom>
              <a:blipFill>
                <a:blip r:embed="rId6"/>
                <a:stretch>
                  <a:fillRect l="-297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4DC138-4B17-F8B7-4E0E-26D42333107C}"/>
                  </a:ext>
                </a:extLst>
              </p:cNvPr>
              <p:cNvSpPr txBox="1"/>
              <p:nvPr/>
            </p:nvSpPr>
            <p:spPr>
              <a:xfrm>
                <a:off x="4953000" y="4541471"/>
                <a:ext cx="3509600" cy="379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𝑅𝑜𝑒𝑛𝑡𝑔𝑒𝑛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=100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𝑒𝑟𝑔𝑠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𝑆𝑇𝑃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1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1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𝑆𝑇𝑃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4DC138-4B17-F8B7-4E0E-26D423331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541471"/>
                <a:ext cx="3509600" cy="379271"/>
              </a:xfrm>
              <a:prstGeom prst="rect">
                <a:avLst/>
              </a:prstGeom>
              <a:blipFill>
                <a:blip r:embed="rId7"/>
                <a:stretch>
                  <a:fillRect t="-3226" b="-1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570539B-0E2E-D42D-0EC0-19191B81AF6B}"/>
              </a:ext>
            </a:extLst>
          </p:cNvPr>
          <p:cNvSpPr/>
          <p:nvPr/>
        </p:nvSpPr>
        <p:spPr>
          <a:xfrm>
            <a:off x="2324100" y="895350"/>
            <a:ext cx="1295400" cy="1388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7C49F5-DDA4-2146-BD5A-72E8036D1A83}"/>
              </a:ext>
            </a:extLst>
          </p:cNvPr>
          <p:cNvSpPr/>
          <p:nvPr/>
        </p:nvSpPr>
        <p:spPr>
          <a:xfrm>
            <a:off x="7167200" y="2239811"/>
            <a:ext cx="1729150" cy="1599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B561E-B5B7-5CDE-7679-051A1BC873EC}"/>
              </a:ext>
            </a:extLst>
          </p:cNvPr>
          <p:cNvSpPr/>
          <p:nvPr/>
        </p:nvSpPr>
        <p:spPr>
          <a:xfrm>
            <a:off x="3218948" y="4920742"/>
            <a:ext cx="5925052" cy="217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75E2DE-AFD5-E8F4-F796-87E98898AFC7}"/>
              </a:ext>
            </a:extLst>
          </p:cNvPr>
          <p:cNvSpPr/>
          <p:nvPr/>
        </p:nvSpPr>
        <p:spPr>
          <a:xfrm>
            <a:off x="5029200" y="4540434"/>
            <a:ext cx="3943852" cy="37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922807-DE78-23C8-6EAD-5B10537BD64D}"/>
              </a:ext>
            </a:extLst>
          </p:cNvPr>
          <p:cNvSpPr/>
          <p:nvPr/>
        </p:nvSpPr>
        <p:spPr>
          <a:xfrm>
            <a:off x="380999" y="3622031"/>
            <a:ext cx="2640555" cy="918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451A0-0BD7-DD15-8B80-DF6D07676D99}"/>
              </a:ext>
            </a:extLst>
          </p:cNvPr>
          <p:cNvSpPr/>
          <p:nvPr/>
        </p:nvSpPr>
        <p:spPr>
          <a:xfrm>
            <a:off x="3021553" y="4170863"/>
            <a:ext cx="755837" cy="718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70FC5-F784-B6AB-BF97-52D5DCDE9C97}"/>
              </a:ext>
            </a:extLst>
          </p:cNvPr>
          <p:cNvSpPr/>
          <p:nvPr/>
        </p:nvSpPr>
        <p:spPr>
          <a:xfrm>
            <a:off x="5257870" y="1240303"/>
            <a:ext cx="3715182" cy="3366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1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98234" y="290343"/>
            <a:ext cx="6137672" cy="789385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Absorbed Dose Units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9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1000" y="913490"/>
                <a:ext cx="7448550" cy="409666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400" dirty="0"/>
                  <a:t>The SI unit, the </a:t>
                </a:r>
                <a:r>
                  <a:rPr lang="en-US" altLang="en-US" sz="2400" dirty="0" err="1"/>
                  <a:t>Gy</a:t>
                </a:r>
                <a:r>
                  <a:rPr lang="en-US" altLang="en-US" sz="2400" dirty="0"/>
                  <a:t>, is defined as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000" dirty="0"/>
                  <a:t>1 </a:t>
                </a:r>
                <a:r>
                  <a:rPr lang="en-US" altLang="en-US" sz="2000" dirty="0" err="1"/>
                  <a:t>Gy</a:t>
                </a:r>
                <a:r>
                  <a:rPr lang="en-US" altLang="en-US" sz="2000" dirty="0"/>
                  <a:t> = 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𝑘𝑔</m:t>
                        </m:r>
                      </m:den>
                    </m:f>
                  </m:oMath>
                </a14:m>
                <a:endParaRPr lang="en-US" altLang="en-US" sz="2000" dirty="0"/>
              </a:p>
              <a:p>
                <a:pPr>
                  <a:defRPr/>
                </a:pPr>
                <a:r>
                  <a:rPr lang="en-US" sz="2400" dirty="0"/>
                  <a:t>Before the SI units, radiation dose was measured by a unit called the </a:t>
                </a:r>
                <a:r>
                  <a:rPr lang="en-US" sz="2400" i="1" dirty="0"/>
                  <a:t>rad</a:t>
                </a:r>
                <a:r>
                  <a:rPr lang="en-US" sz="2400" dirty="0"/>
                  <a:t> (</a:t>
                </a:r>
                <a:r>
                  <a:rPr lang="en-US" sz="2400" u="sng" dirty="0"/>
                  <a:t>r</a:t>
                </a:r>
                <a:r>
                  <a:rPr lang="en-US" sz="2400" dirty="0"/>
                  <a:t>adiation </a:t>
                </a:r>
                <a:r>
                  <a:rPr lang="en-US" sz="2400" u="sng" dirty="0"/>
                  <a:t>a</a:t>
                </a:r>
                <a:r>
                  <a:rPr lang="en-US" sz="2400" dirty="0"/>
                  <a:t>bsorbed </a:t>
                </a:r>
                <a:r>
                  <a:rPr lang="en-US" sz="2400" u="sng" dirty="0"/>
                  <a:t>d</a:t>
                </a:r>
                <a:r>
                  <a:rPr lang="en-US" sz="2400" dirty="0"/>
                  <a:t>ose) </a:t>
                </a:r>
              </a:p>
              <a:p>
                <a:pPr marL="685800" lvl="1">
                  <a:defRPr/>
                </a:pPr>
                <a:r>
                  <a:rPr lang="en-US" altLang="en-US" sz="2000" dirty="0"/>
                  <a:t>1 Rad = 100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𝑒𝑟𝑔𝑠</m:t>
                        </m:r>
                      </m:num>
                      <m:den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en-US" altLang="en-US" sz="2000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sz="2400" dirty="0"/>
                  <a:t>The US and SI units vary by a factor of 100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000" dirty="0"/>
                  <a:t>1 rad = 100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𝑒𝑟𝑔𝑠</m:t>
                        </m:r>
                      </m:num>
                      <m:den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7 </m:t>
                        </m:r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𝑒𝑟𝑔𝑠</m:t>
                        </m:r>
                      </m:den>
                    </m:f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1,000 </m:t>
                        </m:r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𝑘𝑔</m:t>
                        </m:r>
                      </m:den>
                    </m:f>
                  </m:oMath>
                </a14:m>
                <a:r>
                  <a:rPr lang="en-US" altLang="en-US" sz="2000" dirty="0"/>
                  <a:t> = 0.01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en-US" altLang="en-US" sz="2000" dirty="0"/>
                  <a:t> = </a:t>
                </a:r>
                <a:r>
                  <a:rPr lang="en-US" altLang="en-US" sz="2000" dirty="0">
                    <a:solidFill>
                      <a:srgbClr val="FF0000"/>
                    </a:solidFill>
                  </a:rPr>
                  <a:t>0.01 </a:t>
                </a:r>
                <a:r>
                  <a:rPr lang="en-US" altLang="en-US" sz="2000" dirty="0" err="1">
                    <a:solidFill>
                      <a:srgbClr val="FF0000"/>
                    </a:solidFill>
                  </a:rPr>
                  <a:t>Gy</a:t>
                </a:r>
                <a:endParaRPr lang="en-US" alt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sz="2400" dirty="0"/>
                  <a:t>The </a:t>
                </a:r>
                <a:r>
                  <a:rPr lang="en-US" altLang="en-US" sz="2400" dirty="0" err="1"/>
                  <a:t>Gy</a:t>
                </a:r>
                <a:r>
                  <a:rPr lang="en-US" altLang="en-US" sz="2400" dirty="0"/>
                  <a:t> is the preferred unit internationally, but the Rad is still used in the US nuke industry</a:t>
                </a:r>
              </a:p>
            </p:txBody>
          </p:sp>
        </mc:Choice>
        <mc:Fallback xmlns="">
          <p:sp>
            <p:nvSpPr>
              <p:cNvPr id="296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13490"/>
                <a:ext cx="7448550" cy="4096660"/>
              </a:xfrm>
              <a:blipFill>
                <a:blip r:embed="rId3"/>
                <a:stretch>
                  <a:fillRect l="-1147" t="-2083" r="-1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1143001" y="-1321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9702" name="Rectangle 7"/>
          <p:cNvSpPr>
            <a:spLocks noChangeArrowheads="1"/>
          </p:cNvSpPr>
          <p:nvPr/>
        </p:nvSpPr>
        <p:spPr bwMode="auto">
          <a:xfrm>
            <a:off x="1143001" y="-1321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73633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894B-0E5D-3DD5-09BD-7FE6819D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57200"/>
            <a:ext cx="8153399" cy="9906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Absorbed Dose from Flux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BACBABA4-6B2D-AA6A-3589-7348965BA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2100" y="2239186"/>
                <a:ext cx="6019800" cy="790024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alt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𝑝h𝑜𝑡𝑜𝑛𝑠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𝑠𝑒𝑐𝑜𝑛𝑑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𝑀𝑒𝑉</m:t>
                              </m:r>
                            </m:num>
                            <m:den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𝑝𝑎𝑟𝑡𝑖𝑐𝑙𝑒</m:t>
                              </m:r>
                            </m:den>
                          </m:f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𝑒𝑛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en-US" sz="2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BACBABA4-6B2D-AA6A-3589-7348965BA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2100" y="2239186"/>
                <a:ext cx="6019800" cy="790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CC96AF5F-F0EB-649D-C5EB-40008E4A3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626532"/>
            <a:ext cx="8153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 dirty="0">
                <a:cs typeface="Times New Roman" panose="02020603050405020304" pitchFamily="18" charset="0"/>
              </a:rPr>
              <a:t>A General form of the absorbed dose </a:t>
            </a:r>
            <a:r>
              <a:rPr lang="en-US" altLang="en-US" sz="2000" b="0" u="sng" dirty="0">
                <a:cs typeface="Times New Roman" panose="02020603050405020304" pitchFamily="18" charset="0"/>
              </a:rPr>
              <a:t>rate</a:t>
            </a:r>
            <a:r>
              <a:rPr lang="en-US" altLang="en-US" sz="2000" b="0" dirty="0">
                <a:cs typeface="Times New Roman" panose="02020603050405020304" pitchFamily="18" charset="0"/>
              </a:rPr>
              <a:t> equation is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6367275-436A-E79A-9670-30B970402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08430"/>
            <a:ext cx="8153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cs typeface="Times New Roman" panose="02020603050405020304" pitchFamily="18" charset="0"/>
              </a:rPr>
              <a:t>What are the output units if you use the values given above? How could you convert to the </a:t>
            </a:r>
            <a:r>
              <a:rPr lang="en-US" altLang="en-US" sz="2000" dirty="0" err="1">
                <a:cs typeface="Times New Roman" panose="02020603050405020304" pitchFamily="18" charset="0"/>
              </a:rPr>
              <a:t>Gy</a:t>
            </a:r>
            <a:r>
              <a:rPr lang="en-US" altLang="en-US" sz="2000" dirty="0">
                <a:cs typeface="Times New Roman" panose="02020603050405020304" pitchFamily="18" charset="0"/>
              </a:rPr>
              <a:t> or the Rad?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780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5B9E-4B69-6CB6-8925-3ABD90A8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2" name="Rectangle 2">
                <a:extLst>
                  <a:ext uri="{FF2B5EF4-FFF2-40B4-BE49-F238E27FC236}">
                    <a16:creationId xmlns:a16="http://schemas.microsoft.com/office/drawing/2014/main" id="{343D0456-C263-CBC6-EA5A-FE550810A79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0" y="1047750"/>
                <a:ext cx="9144000" cy="3886200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Consider a 0.3 MeV gamma ray beam with a photon flux of 1000 photons/cm</a:t>
                </a:r>
                <a:r>
                  <a:rPr lang="en-US" sz="2000" baseline="30000" dirty="0">
                    <a:solidFill>
                      <a:schemeClr val="tx1"/>
                    </a:solidFill>
                    <a:latin typeface="+mj-lt"/>
                  </a:rPr>
                  <a:t>2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/s. </a:t>
                </a: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Given the absorbed dose rate equation from earlier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ctrlPr>
                              <a:rPr 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 dirty="0" err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err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600" i="1" dirty="0" err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𝑡𝑖𝑠𝑠𝑢𝑒</m:t>
                        </m:r>
                      </m:sub>
                      <m:sup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𝑘𝑒𝑉</m:t>
                        </m:r>
                      </m:sup>
                    </m:sSubSup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=3.164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what is what is the absorbed dose rate for soft tissue?</a:t>
                </a: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18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18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1800" dirty="0">
                    <a:solidFill>
                      <a:schemeClr val="tx1"/>
                    </a:solidFill>
                    <a:latin typeface="+mj-lt"/>
                  </a:rPr>
                </a:br>
                <a:endParaRPr lang="en-US" sz="1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5842" name="Rectangle 2">
                <a:extLst>
                  <a:ext uri="{FF2B5EF4-FFF2-40B4-BE49-F238E27FC236}">
                    <a16:creationId xmlns:a16="http://schemas.microsoft.com/office/drawing/2014/main" id="{343D0456-C263-CBC6-EA5A-FE550810A7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047750"/>
                <a:ext cx="9144000" cy="3886200"/>
              </a:xfrm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175E1DA6-E7B9-17D4-B884-224A8A628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3440"/>
            <a:ext cx="9144000" cy="789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kern="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First Principles Absorbed Dose Calculation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EFB8D-E58C-CD04-7C57-E043A8BFB56A}"/>
              </a:ext>
            </a:extLst>
          </p:cNvPr>
          <p:cNvSpPr/>
          <p:nvPr/>
        </p:nvSpPr>
        <p:spPr>
          <a:xfrm>
            <a:off x="419100" y="2819400"/>
            <a:ext cx="8305800" cy="213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5595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724C-3626-39B0-2B81-89E67616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6" y="590550"/>
            <a:ext cx="8655844" cy="9906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First Principles Absorbed Dose 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7174B9-D4EB-562F-6F1B-194B7613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85950"/>
            <a:ext cx="85344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3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 anchor="ctr">
            <a:norm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rgbClr val="FF0000"/>
                </a:solidFill>
              </a:rPr>
              <a:t>Exposure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749028"/>
                <a:ext cx="4038600" cy="3108722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000" u="sng" dirty="0"/>
                  <a:t>Exposure</a:t>
                </a:r>
                <a:r>
                  <a:rPr lang="en-US" altLang="en-US" sz="2000" dirty="0"/>
                  <a:t> expresses the measure of ionization of air by evaluating the charge generated in a given quantity of air at STP</a:t>
                </a:r>
              </a:p>
              <a:p>
                <a:pPr marL="0" indent="0" eaLnBrk="1" hangingPunct="1">
                  <a:lnSpc>
                    <a:spcPct val="90000"/>
                  </a:lnSpc>
                  <a:buClrTx/>
                  <a:buNone/>
                </a:pPr>
                <a:endParaRPr lang="en-US" altLang="en-US" sz="2000" dirty="0"/>
              </a:p>
              <a:p>
                <a:pPr marL="0" indent="0" eaLnBrk="1" hangingPunct="1">
                  <a:lnSpc>
                    <a:spcPct val="90000"/>
                  </a:lnSpc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𝐶h𝑎𝑟𝑔𝑒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𝐺𝑒𝑛𝑒𝑟𝑎𝑡𝑒𝑑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</m:den>
                      </m:f>
                    </m:oMath>
                  </m:oMathPara>
                </a14:m>
                <a:endParaRPr lang="en-US" altLang="en-US" sz="1500" b="1" dirty="0"/>
              </a:p>
              <a:p>
                <a:pPr marL="0" indent="0" eaLnBrk="1" hangingPunct="1">
                  <a:lnSpc>
                    <a:spcPct val="90000"/>
                  </a:lnSpc>
                  <a:buClrTx/>
                  <a:buNone/>
                </a:pPr>
                <a:endParaRPr lang="en-US" altLang="en-US" sz="1500" b="1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sz="2000" dirty="0"/>
                  <a:t>Air is the target as it was the first medium that can have its ionization measured</a:t>
                </a:r>
              </a:p>
            </p:txBody>
          </p:sp>
        </mc:Choice>
        <mc:Fallback xmlns="">
          <p:sp>
            <p:nvSpPr>
              <p:cNvPr id="317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749028"/>
                <a:ext cx="4038600" cy="3108722"/>
              </a:xfrm>
              <a:blipFill>
                <a:blip r:embed="rId3"/>
                <a:stretch>
                  <a:fillRect l="-1357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E41C895-BD18-BAF2-F3C1-7CE69B125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036278"/>
            <a:ext cx="4038600" cy="25342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062433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7D5E62-7234-FF03-3C66-F79B79BE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37168"/>
            <a:ext cx="5524500" cy="4352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FE035A-0697-11C1-2B85-0E2A643AE4D5}"/>
              </a:ext>
            </a:extLst>
          </p:cNvPr>
          <p:cNvSpPr txBox="1"/>
          <p:nvPr/>
        </p:nvSpPr>
        <p:spPr>
          <a:xfrm>
            <a:off x="3218948" y="4890093"/>
            <a:ext cx="6001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^ “Objective” measure of a radiation field, defined as charge produced in air at STP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CFFF8B-9EEB-7F3E-7163-901B7BAB73C4}"/>
                  </a:ext>
                </a:extLst>
              </p:cNvPr>
              <p:cNvSpPr txBox="1"/>
              <p:nvPr/>
            </p:nvSpPr>
            <p:spPr>
              <a:xfrm>
                <a:off x="5209172" y="452386"/>
                <a:ext cx="4191000" cy="806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&lt;- How much energy per unit mass the target (organ or whole-body) absorbed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𝑎𝑏𝑠</m:t>
                              </m:r>
                            </m:sub>
                          </m:sSub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CFFF8B-9EEB-7F3E-7163-901B7BAB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172" y="452386"/>
                <a:ext cx="4191000" cy="806183"/>
              </a:xfrm>
              <a:prstGeom prst="rect">
                <a:avLst/>
              </a:prstGeom>
              <a:blipFill>
                <a:blip r:embed="rId4"/>
                <a:stretch>
                  <a:fillRect l="-146" t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DC871-F7BF-E752-816F-D5772D65F970}"/>
                  </a:ext>
                </a:extLst>
              </p:cNvPr>
              <p:cNvSpPr txBox="1"/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How damaging the </a:t>
                </a:r>
                <a:r>
                  <a:rPr lang="en-US" sz="1100" i="1" u="sng" dirty="0"/>
                  <a:t>type</a:t>
                </a:r>
                <a:r>
                  <a:rPr lang="en-US" sz="1100" dirty="0"/>
                  <a:t> of radiation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&gt;1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DC871-F7BF-E752-816F-D5772D65F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blipFill>
                <a:blip r:embed="rId5"/>
                <a:stretch>
                  <a:fillRect t="-649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4DC138-4B17-F8B7-4E0E-26D42333107C}"/>
                  </a:ext>
                </a:extLst>
              </p:cNvPr>
              <p:cNvSpPr txBox="1"/>
              <p:nvPr/>
            </p:nvSpPr>
            <p:spPr>
              <a:xfrm>
                <a:off x="4953000" y="4541471"/>
                <a:ext cx="3509600" cy="3474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4DC138-4B17-F8B7-4E0E-26D423331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541471"/>
                <a:ext cx="3509600" cy="347467"/>
              </a:xfrm>
              <a:prstGeom prst="rect">
                <a:avLst/>
              </a:prstGeom>
              <a:blipFill>
                <a:blip r:embed="rId6"/>
                <a:stretch>
                  <a:fillRect t="-3509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570539B-0E2E-D42D-0EC0-19191B81AF6B}"/>
              </a:ext>
            </a:extLst>
          </p:cNvPr>
          <p:cNvSpPr/>
          <p:nvPr/>
        </p:nvSpPr>
        <p:spPr>
          <a:xfrm>
            <a:off x="2324100" y="1344846"/>
            <a:ext cx="1295400" cy="938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922807-DE78-23C8-6EAD-5B10537BD64D}"/>
              </a:ext>
            </a:extLst>
          </p:cNvPr>
          <p:cNvSpPr/>
          <p:nvPr/>
        </p:nvSpPr>
        <p:spPr>
          <a:xfrm>
            <a:off x="333625" y="3687929"/>
            <a:ext cx="2640555" cy="918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CAF04-A857-D466-9AA2-1E351492CE4A}"/>
              </a:ext>
            </a:extLst>
          </p:cNvPr>
          <p:cNvSpPr/>
          <p:nvPr/>
        </p:nvSpPr>
        <p:spPr>
          <a:xfrm>
            <a:off x="5313383" y="1344846"/>
            <a:ext cx="1853817" cy="3109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3DA2E-B10A-0696-CEC7-B273338A7B15}"/>
              </a:ext>
            </a:extLst>
          </p:cNvPr>
          <p:cNvSpPr/>
          <p:nvPr/>
        </p:nvSpPr>
        <p:spPr>
          <a:xfrm>
            <a:off x="5148714" y="4324350"/>
            <a:ext cx="653550" cy="281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0D52E-44D8-B7C5-5C49-BDBA90FC936C}"/>
              </a:ext>
            </a:extLst>
          </p:cNvPr>
          <p:cNvSpPr/>
          <p:nvPr/>
        </p:nvSpPr>
        <p:spPr>
          <a:xfrm>
            <a:off x="2324099" y="926691"/>
            <a:ext cx="1333501" cy="5020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B692F-19A7-6F9C-2AA6-30D1B8381497}"/>
              </a:ext>
            </a:extLst>
          </p:cNvPr>
          <p:cNvSpPr/>
          <p:nvPr/>
        </p:nvSpPr>
        <p:spPr>
          <a:xfrm>
            <a:off x="3021554" y="3409950"/>
            <a:ext cx="729729" cy="5334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84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C4FD-3A0C-C8DE-95E3-832AF832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Exposure Units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CDF3B3-8E41-2043-D16E-189ECED5BB8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749028"/>
                <a:ext cx="3962400" cy="2118122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u="sng" dirty="0"/>
                  <a:t>SI Unit: The X-unit</a:t>
                </a:r>
              </a:p>
              <a:p>
                <a:pPr marL="0" indent="0" algn="ctr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𝐶𝑜𝑢𝑙𝑜𝑚𝑏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CDF3B3-8E41-2043-D16E-189ECED5B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749028"/>
                <a:ext cx="3962400" cy="211812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CBC754-F94F-6EA4-F8A1-772D5F914C6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749028"/>
                <a:ext cx="4495800" cy="2118122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u="sng" dirty="0"/>
                  <a:t>US Unit: The Roentgen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𝑒𝑠𝑢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1 </a:t>
                </a:r>
                <a:r>
                  <a:rPr lang="en-US" sz="2400" dirty="0" err="1"/>
                  <a:t>esu</a:t>
                </a:r>
                <a:r>
                  <a:rPr lang="en-US" sz="2400" dirty="0"/>
                  <a:t> = 3.34E-10 C</a:t>
                </a:r>
              </a:p>
              <a:p>
                <a:pPr marL="0" indent="0">
                  <a:buNone/>
                </a:pPr>
                <a:r>
                  <a:rPr lang="en-US" sz="2400" dirty="0"/>
                  <a:t>1 </a:t>
                </a:r>
                <a:r>
                  <a:rPr lang="en-US" sz="2400" dirty="0" err="1"/>
                  <a:t>esu</a:t>
                </a:r>
                <a:r>
                  <a:rPr lang="en-US" sz="2400" dirty="0"/>
                  <a:t> = 1 </a:t>
                </a:r>
                <a:r>
                  <a:rPr lang="en-US" sz="2400" dirty="0" err="1"/>
                  <a:t>statCoulomb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sC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CBC754-F94F-6EA4-F8A1-772D5F914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749028"/>
                <a:ext cx="4495800" cy="2118122"/>
              </a:xfrm>
              <a:blipFill>
                <a:blip r:embed="rId4"/>
                <a:stretch>
                  <a:fillRect l="-1889" t="-1709" b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EBB1219-2429-5D3A-2822-6433B2AF25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073128"/>
                <a:ext cx="9144000" cy="10703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Font typeface="Arial"/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3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US" sz="3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8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3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80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3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2.998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9 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𝑒𝑠𝑢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3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3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r>
                                <a:rPr lang="en-US" sz="3800" i="1">
                                  <a:latin typeface="Cambria Math" panose="02040503050406030204" pitchFamily="18" charset="0"/>
                                </a:rPr>
                                <m:t>1000 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3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800" i="1">
                                  <a:latin typeface="Cambria Math" panose="02040503050406030204" pitchFamily="18" charset="0"/>
                                </a:rPr>
                                <m:t>0.0012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93 </m:t>
                              </m:r>
                              <m:sSub>
                                <m:sSubPr>
                                  <m:ctrlPr>
                                    <a:rPr lang="en-US" sz="3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3800" b="0" i="1" smtClean="0">
                                      <a:latin typeface="Cambria Math" panose="02040503050406030204" pitchFamily="18" charset="0"/>
                                    </a:rPr>
                                    <m:t>𝑎𝑖𝑟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Sup>
                                <m:sSubSupPr>
                                  <m:ctrlPr>
                                    <a:rPr lang="en-US" sz="3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3800" b="0" i="1" smtClean="0">
                                      <a:latin typeface="Cambria Math" panose="02040503050406030204" pitchFamily="18" charset="0"/>
                                    </a:rPr>
                                    <m:t>𝑎𝑖𝑟</m:t>
                                  </m:r>
                                </m:sub>
                                <m:sup>
                                  <m:r>
                                    <a:rPr lang="en-US" sz="3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r>
                        <a:rPr lang="en-US" sz="3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3881</m:t>
                      </m:r>
                      <m:f>
                        <m:fPr>
                          <m:ctrlPr>
                            <a:rPr lang="en-US" sz="3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𝑒𝑠𝑢</m:t>
                          </m:r>
                        </m:num>
                        <m:den>
                          <m:r>
                            <a:rPr lang="en-US" sz="3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bSup>
                            <m:sSubSupPr>
                              <m:ctrlPr>
                                <a:rPr lang="en-US" sz="3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3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  <m:sup>
                              <m:r>
                                <a:rPr lang="en-US" sz="3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=3881 </m:t>
                      </m:r>
                      <m:r>
                        <a:rPr lang="en-US" sz="3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3800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EBB1219-2429-5D3A-2822-6433B2AF2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73128"/>
                <a:ext cx="9144000" cy="10703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4EC2ED1-7A81-C289-40D0-BC52071FCE2A}"/>
              </a:ext>
            </a:extLst>
          </p:cNvPr>
          <p:cNvSpPr txBox="1"/>
          <p:nvPr/>
        </p:nvSpPr>
        <p:spPr>
          <a:xfrm>
            <a:off x="152400" y="4073128"/>
            <a:ext cx="137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Conversion:</a:t>
            </a:r>
          </a:p>
        </p:txBody>
      </p:sp>
    </p:spTree>
    <p:extLst>
      <p:ext uri="{BB962C8B-B14F-4D97-AF65-F5344CB8AC3E}">
        <p14:creationId xmlns:p14="http://schemas.microsoft.com/office/powerpoint/2010/main" val="323055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 of a battery charging system&#10;&#10;Description automatically generated">
            <a:extLst>
              <a:ext uri="{FF2B5EF4-FFF2-40B4-BE49-F238E27FC236}">
                <a16:creationId xmlns:a16="http://schemas.microsoft.com/office/drawing/2014/main" id="{BEBAF3CD-BD43-938B-2D88-77D1CFB5F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238500"/>
            <a:ext cx="3771900" cy="1885950"/>
          </a:xfrm>
          <a:prstGeom prst="rect">
            <a:avLst/>
          </a:prstGeom>
        </p:spPr>
      </p:pic>
      <p:pic>
        <p:nvPicPr>
          <p:cNvPr id="5" name="Picture 4" descr="A diagram of a electrical scheme&#10;&#10;Description automatically generated">
            <a:extLst>
              <a:ext uri="{FF2B5EF4-FFF2-40B4-BE49-F238E27FC236}">
                <a16:creationId xmlns:a16="http://schemas.microsoft.com/office/drawing/2014/main" id="{9ADC94E5-2D88-8236-17BF-CE44F073B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933450"/>
            <a:ext cx="3426143" cy="2095500"/>
          </a:xfrm>
          <a:prstGeom prst="rect">
            <a:avLst/>
          </a:prstGeom>
        </p:spPr>
      </p:pic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9550"/>
            <a:ext cx="8229600" cy="85725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</a:rPr>
              <a:t>Measuring Exposure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5" name="Rectangle 3"/>
              <p:cNvSpPr>
                <a:spLocks noGrp="1" noChangeArrowheads="1"/>
              </p:cNvSpPr>
              <p:nvPr>
                <p:ph sz="half" idx="1"/>
              </p:nvPr>
            </p:nvSpPr>
            <p:spPr>
              <a:xfrm>
                <a:off x="79057" y="1276350"/>
                <a:ext cx="5334000" cy="3657600"/>
              </a:xfrm>
            </p:spPr>
            <p:txBody>
              <a:bodyPr>
                <a:noAutofit/>
              </a:bodyPr>
              <a:lstStyle/>
              <a:p>
                <a:pPr marL="198835" indent="-198835">
                  <a:lnSpc>
                    <a:spcPct val="90000"/>
                  </a:lnSpc>
                  <a:buFont typeface="Wingdings" panose="05000000000000000000" pitchFamily="2" charset="2"/>
                  <a:buChar char="l"/>
                </a:pPr>
                <a:r>
                  <a:rPr lang="en-US" altLang="en-US" sz="2000" dirty="0">
                    <a:cs typeface="Times New Roman" panose="02020603050405020304" pitchFamily="18" charset="0"/>
                  </a:rPr>
                  <a:t>Why are exposure’s units so weird?</a:t>
                </a:r>
              </a:p>
              <a:p>
                <a:pPr marL="198835" indent="-198835">
                  <a:lnSpc>
                    <a:spcPct val="90000"/>
                  </a:lnSpc>
                  <a:buFont typeface="Wingdings" panose="05000000000000000000" pitchFamily="2" charset="2"/>
                  <a:buChar char="l"/>
                </a:pPr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marL="198835" indent="-198835">
                  <a:lnSpc>
                    <a:spcPct val="90000"/>
                  </a:lnSpc>
                  <a:buFont typeface="Wingdings" panose="05000000000000000000" pitchFamily="2" charset="2"/>
                  <a:buChar char="l"/>
                </a:pPr>
                <a:r>
                  <a:rPr lang="en-US" altLang="en-US" sz="2000" dirty="0">
                    <a:cs typeface="Times New Roman" panose="02020603050405020304" pitchFamily="18" charset="0"/>
                  </a:rPr>
                  <a:t>The Ion Chamber, the first dosimetry tool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marL="198835" indent="-198835">
                  <a:lnSpc>
                    <a:spcPct val="90000"/>
                  </a:lnSpc>
                  <a:buFont typeface="Wingdings" panose="05000000000000000000" pitchFamily="2" charset="2"/>
                  <a:buChar char="l"/>
                </a:pPr>
                <a:r>
                  <a:rPr lang="en-US" altLang="en-US" sz="2000" dirty="0">
                    <a:cs typeface="Times New Roman" panose="02020603050405020304" pitchFamily="18" charset="0"/>
                  </a:rPr>
                  <a:t>Made of a battery providing voltage across two wires/plates and a current counter:</a:t>
                </a:r>
              </a:p>
              <a:p>
                <a:pPr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>
                    <a:cs typeface="Times New Roman" panose="02020603050405020304" pitchFamily="18" charset="0"/>
                  </a:rPr>
                  <a:t>Radiation interacts with and makes ions in the air</a:t>
                </a:r>
              </a:p>
              <a:p>
                <a:pPr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>
                    <a:cs typeface="Times New Roman" panose="02020603050405020304" pitchFamily="18" charset="0"/>
                  </a:rPr>
                  <a:t>Wires with applied voltage draw the ions in, creating a current</a:t>
                </a:r>
              </a:p>
              <a:p>
                <a:pPr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>
                    <a:cs typeface="Times New Roman" panose="02020603050405020304" pitchFamily="18" charset="0"/>
                  </a:rPr>
                  <a:t>Current is measured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∝</m:t>
                    </m:r>
                  </m:oMath>
                </a14:m>
                <a:r>
                  <a:rPr lang="en-US" altLang="en-US" sz="1800" dirty="0">
                    <a:cs typeface="Times New Roman" panose="02020603050405020304" pitchFamily="18" charset="0"/>
                  </a:rPr>
                  <a:t> amount of radiation absorbed </a:t>
                </a:r>
              </a:p>
            </p:txBody>
          </p:sp>
        </mc:Choice>
        <mc:Fallback xmlns="">
          <p:sp>
            <p:nvSpPr>
              <p:cNvPr id="337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9057" y="1276350"/>
                <a:ext cx="5334000" cy="3657600"/>
              </a:xfrm>
              <a:blipFill>
                <a:blip r:embed="rId5"/>
                <a:stretch>
                  <a:fillRect l="-1029" t="-1667" r="-343" b="-1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79706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1545581" y="285750"/>
            <a:ext cx="6137672" cy="789385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Exposure to Air Dose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95351"/>
            <a:ext cx="8534400" cy="160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cs typeface="Times New Roman" panose="02020603050405020304" pitchFamily="18" charset="0"/>
              </a:rPr>
              <a:t>X-units can also be converted into more fundamental units of absorbed dose, given: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the charge on a single ion pair is 1.6 X 10</a:t>
            </a:r>
            <a:r>
              <a:rPr lang="en-US" altLang="en-US" sz="2000" baseline="30000" dirty="0">
                <a:cs typeface="Times New Roman" panose="02020603050405020304" pitchFamily="18" charset="0"/>
              </a:rPr>
              <a:t>-19</a:t>
            </a:r>
            <a:r>
              <a:rPr lang="en-US" altLang="en-US" sz="2000" dirty="0">
                <a:cs typeface="Times New Roman" panose="02020603050405020304" pitchFamily="18" charset="0"/>
              </a:rPr>
              <a:t> C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the average energy dissipated per ion pair produced in air is 34 eV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9E8F7-5C78-444F-6264-C59BBFF04B71}"/>
              </a:ext>
            </a:extLst>
          </p:cNvPr>
          <p:cNvSpPr txBox="1"/>
          <p:nvPr/>
        </p:nvSpPr>
        <p:spPr>
          <a:xfrm>
            <a:off x="343440" y="2918758"/>
            <a:ext cx="845712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066288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030F-6D85-35CC-71BD-55A5C4258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8A6C286A-D50D-56FA-F092-203DC2EB3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5581" y="285750"/>
            <a:ext cx="6137672" cy="789385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Exposure to Air Dose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5F8B813-9F62-022A-8863-4409A1681F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895351"/>
            <a:ext cx="8534400" cy="160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cs typeface="Times New Roman" panose="02020603050405020304" pitchFamily="18" charset="0"/>
              </a:rPr>
              <a:t>X-units can also be converted into more fundamental units of absorbed dose, given: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the charge on a single ion pair is 1.6 X 10</a:t>
            </a:r>
            <a:r>
              <a:rPr lang="en-US" altLang="en-US" sz="2000" baseline="30000" dirty="0">
                <a:cs typeface="Times New Roman" panose="02020603050405020304" pitchFamily="18" charset="0"/>
              </a:rPr>
              <a:t>-19</a:t>
            </a:r>
            <a:r>
              <a:rPr lang="en-US" altLang="en-US" sz="2000" dirty="0">
                <a:cs typeface="Times New Roman" panose="02020603050405020304" pitchFamily="18" charset="0"/>
              </a:rPr>
              <a:t> C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the average energy dissipated per ion pair produced in air is 34 eV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5AF72E-A339-B046-A808-A1A773065C82}"/>
                  </a:ext>
                </a:extLst>
              </p:cNvPr>
              <p:cNvSpPr txBox="1"/>
              <p:nvPr/>
            </p:nvSpPr>
            <p:spPr>
              <a:xfrm>
                <a:off x="-82673" y="3105152"/>
                <a:ext cx="9156946" cy="1017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𝑖𝑜𝑛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𝑝𝑎𝑖𝑟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1.6∗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−19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34 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𝑒𝑉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𝑖𝑜𝑛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𝑝𝑎𝑖𝑟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1.6∗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−19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𝑒𝑉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∗1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𝐺𝑦</m:t>
                          </m:r>
                        </m:num>
                        <m:den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𝑘𝑔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34 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69E8F7-5C78-444F-6264-C59BBFF04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673" y="3105152"/>
                <a:ext cx="9156946" cy="1017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4CCA3D-99FD-DFA6-A9AA-90F0E934E291}"/>
                  </a:ext>
                </a:extLst>
              </p:cNvPr>
              <p:cNvSpPr txBox="1"/>
              <p:nvPr/>
            </p:nvSpPr>
            <p:spPr>
              <a:xfrm>
                <a:off x="609600" y="4501250"/>
                <a:ext cx="7772400" cy="4616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If you repeat this for the US units: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=0.877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𝑎𝑖𝑟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4CCA3D-99FD-DFA6-A9AA-90F0E934E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501250"/>
                <a:ext cx="7772400" cy="461665"/>
              </a:xfrm>
              <a:prstGeom prst="rect">
                <a:avLst/>
              </a:prstGeom>
              <a:blipFill>
                <a:blip r:embed="rId4"/>
                <a:stretch>
                  <a:fillRect l="-1016" t="-7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94975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69105"/>
            <a:ext cx="9144000" cy="861857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100" dirty="0">
                <a:solidFill>
                  <a:srgbClr val="FF0000"/>
                </a:solidFill>
                <a:latin typeface="+mn-lt"/>
              </a:rPr>
              <a:t>Exposure to Material Dose: Comparative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55" name="Text Box 4"/>
              <p:cNvSpPr txBox="1">
                <a:spLocks noChangeArrowheads="1"/>
              </p:cNvSpPr>
              <p:nvPr/>
            </p:nvSpPr>
            <p:spPr bwMode="auto">
              <a:xfrm>
                <a:off x="35719" y="1504950"/>
                <a:ext cx="9067800" cy="35843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285750" indent="-28575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800" dirty="0">
                    <a:latin typeface="+mn-lt"/>
                  </a:rPr>
                  <a:t>Calculating radiation dose absorbed from any exposure can be determined by the ratio of </a:t>
                </a:r>
                <a:r>
                  <a:rPr lang="en-US" altLang="en-US" sz="1800" i="1" dirty="0">
                    <a:latin typeface="+mn-lt"/>
                  </a:rPr>
                  <a:t>mass absorption coefficients </a:t>
                </a:r>
                <a14:m>
                  <m:oMath xmlns:m="http://schemas.openxmlformats.org/officeDocument/2006/math">
                    <m:r>
                      <a:rPr lang="en-US" altLang="en-US" sz="18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𝑒𝑛</m:t>
                            </m:r>
                          </m:sub>
                        </m:sSub>
                      </m:num>
                      <m:den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>
                    <a:latin typeface="+mn-lt"/>
                  </a:rPr>
                  <a:t> of the medium to air as well as the measured dose to the air</a:t>
                </a:r>
              </a:p>
              <a:p>
                <a:pPr marL="285750" indent="-285750" eaLnBrk="1" hangingPunct="1">
                  <a:buFont typeface="Arial" panose="020B0604020202020204" pitchFamily="34" charset="0"/>
                  <a:buChar char="•"/>
                </a:pPr>
                <a:endParaRPr lang="en-US" altLang="en-US" sz="1800" dirty="0">
                  <a:latin typeface="+mn-lt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𝑚𝑒𝑑𝑖𝑢𝑚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𝑚𝑒𝑑𝑖𝑢𝑚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𝑎𝑖𝑟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𝑎𝑖𝑟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alt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𝑚𝑒𝑑𝑖𝑢𝑚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US" sz="1800" dirty="0">
                  <a:latin typeface="+mn-lt"/>
                </a:endParaRPr>
              </a:p>
              <a:p>
                <a:pPr eaLnBrk="1" hangingPunct="1"/>
                <a:endParaRPr lang="en-US" altLang="en-US" sz="1800" dirty="0">
                  <a:latin typeface="+mn-lt"/>
                </a:endParaRPr>
              </a:p>
              <a:p>
                <a:pPr marL="285750" indent="-28575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800" dirty="0">
                    <a:latin typeface="+mn-lt"/>
                  </a:rPr>
                  <a:t>For tissue-to-air, the ratio is relatively constant from 0.1-10 MeV</a:t>
                </a:r>
              </a:p>
              <a:p>
                <a:pPr eaLnBrk="1" hangingPunct="1"/>
                <a:endParaRPr lang="en-US" altLang="en-US" sz="1800" dirty="0">
                  <a:latin typeface="+mn-lt"/>
                </a:endParaRPr>
              </a:p>
              <a:p>
                <a:pPr marL="285750" indent="-28575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𝑒𝑛</m:t>
                            </m:r>
                          </m:sub>
                        </m:sSub>
                      </m:num>
                      <m:den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altLang="en-US" sz="1800" dirty="0">
                    <a:latin typeface="+mn-lt"/>
                  </a:rPr>
                  <a:t> can be found in textbooks or online references, and detectors can give you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𝑎𝑖𝑟</m:t>
                        </m:r>
                      </m:sub>
                    </m:sSub>
                  </m:oMath>
                </a14:m>
                <a:endParaRPr lang="en-US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4915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9" y="1504950"/>
                <a:ext cx="9067800" cy="3584379"/>
              </a:xfrm>
              <a:prstGeom prst="rect">
                <a:avLst/>
              </a:prstGeom>
              <a:blipFill>
                <a:blip r:embed="rId3"/>
                <a:stretch>
                  <a:fillRect l="-471" t="-1020" r="-2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8401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14350"/>
            <a:ext cx="7391400" cy="78938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</a:rPr>
              <a:t>Comparative Method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28600" y="1710046"/>
                <a:ext cx="8686800" cy="3133014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2400" dirty="0">
                    <a:cs typeface="Times New Roman" panose="02020603050405020304" pitchFamily="18" charset="0"/>
                  </a:rPr>
                  <a:t>Given the following physical characteristics, what is the dose to tissue from an exposure of </a:t>
                </a:r>
                <a:r>
                  <a:rPr lang="en-US" altLang="en-US" sz="2400" u="sng" dirty="0">
                    <a:cs typeface="Times New Roman" panose="02020603050405020304" pitchFamily="18" charset="0"/>
                  </a:rPr>
                  <a:t>1 X-Unit’s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worth of 500 keV x-rays?</a:t>
                </a:r>
              </a:p>
              <a:p>
                <a:pPr lvl="1"/>
                <a:r>
                  <a:rPr lang="en-US" altLang="en-US" sz="2400" dirty="0">
                    <a:cs typeface="Times New Roman" panose="02020603050405020304" pitchFamily="18" charset="0"/>
                  </a:rPr>
                  <a:t>Muscle tissue: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𝑒𝑛</m:t>
                            </m:r>
                          </m:sub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500 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𝑘𝑒𝑉</m:t>
                            </m:r>
                          </m:sup>
                        </m:sSubSup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den>
                    </m:f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=3.269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alt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sz="2400" dirty="0">
                    <a:cs typeface="Times New Roman" panose="02020603050405020304" pitchFamily="18" charset="0"/>
                  </a:rPr>
                  <a:t>Air: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𝑒𝑛</m:t>
                            </m:r>
                          </m:sub>
                          <m:sup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500 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𝑘𝑒𝑉</m:t>
                            </m:r>
                          </m:sup>
                        </m:sSubSup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den>
                    </m:f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=2.966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alt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sz="2400" dirty="0">
                    <a:cs typeface="Times New Roman" panose="02020603050405020304" pitchFamily="18" charset="0"/>
                  </a:rPr>
                  <a:t>Remember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den>
                    </m:f>
                    <m:r>
                      <a:rPr lang="en-US" alt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cs typeface="Times New Roman" panose="02020603050405020304" pitchFamily="18" charset="0"/>
                  </a:rPr>
                  <a:t>in air is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34</m:t>
                    </m:r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m:rPr>
                            <m:nor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𝑢𝑛𝑖𝑡</m:t>
                        </m:r>
                      </m:den>
                    </m:f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710046"/>
                <a:ext cx="8686800" cy="3133014"/>
              </a:xfrm>
              <a:blipFill>
                <a:blip r:embed="rId3"/>
                <a:stretch>
                  <a:fillRect l="-982" t="-1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65957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5A246-6C0D-F9F4-44E2-5F11F40F2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666750"/>
                <a:ext cx="8458200" cy="4019550"/>
              </a:xfrm>
            </p:spPr>
            <p:txBody>
              <a:bodyPr/>
              <a:lstStyle/>
              <a:p>
                <a:r>
                  <a:rPr lang="en-US" dirty="0"/>
                  <a:t>We are given: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𝑒𝑛</m:t>
                                    </m:r>
                                  </m:sub>
                                  <m:sup>
                                    <m:r>
                                      <a:rPr lang="en-US" alt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500 </m:t>
                                    </m:r>
                                    <m:r>
                                      <a:rPr lang="en-US" alt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𝑘𝑒𝑉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𝑚𝑢𝑠𝑐𝑙𝑒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=3.269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𝑒𝑛</m:t>
                                    </m:r>
                                  </m:sub>
                                  <m:sup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500 </m:t>
                                    </m:r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𝑘𝑒𝑉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𝑎𝑖𝑟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=2.966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en-US" sz="1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X = 1 x-unit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5A246-6C0D-F9F4-44E2-5F11F40F2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66750"/>
                <a:ext cx="8458200" cy="4019550"/>
              </a:xfrm>
              <a:blipFill>
                <a:blip r:embed="rId2"/>
                <a:stretch>
                  <a:fillRect l="-1658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B29DA5-F96E-BEAF-3A60-561905A9DCE9}"/>
              </a:ext>
            </a:extLst>
          </p:cNvPr>
          <p:cNvSpPr txBox="1"/>
          <p:nvPr/>
        </p:nvSpPr>
        <p:spPr>
          <a:xfrm>
            <a:off x="343440" y="2952750"/>
            <a:ext cx="845712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8412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9402"/>
            <a:ext cx="6309122" cy="78938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</a:rPr>
              <a:t>Comparative Method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4800" y="1047750"/>
                <a:ext cx="8382000" cy="409575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en-US" sz="2000" dirty="0"/>
                  <a:t>We already know that, for an equivalent exposure: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𝑚𝑒𝑑𝑖𝑢𝑚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𝑚𝑒𝑑𝑖𝑢𝑚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𝑎𝑖𝑟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𝑎𝑖𝑟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𝑡𝑖𝑠𝑠𝑢𝑒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US" sz="2000" dirty="0"/>
              </a:p>
              <a:p>
                <a:r>
                  <a:rPr lang="en-US" altLang="en-US" sz="2000" dirty="0"/>
                  <a:t>Since we already calculated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air</a:t>
                </a:r>
                <a:r>
                  <a:rPr lang="en-US" altLang="en-US" sz="2000" dirty="0"/>
                  <a:t> for 1 , we can easily solve for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tissue</a:t>
                </a:r>
                <a:r>
                  <a:rPr lang="en-US" altLang="en-US" sz="2000" dirty="0"/>
                  <a:t> and find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𝑡𝑖𝑠𝑠𝑢𝑒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𝑚𝑒𝑑𝑖𝑢𝑚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𝑚𝑒𝑑𝑖𝑢𝑚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𝑎𝑖𝑟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𝑎𝑖𝑟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=34 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 ∗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3.269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en-US" altLang="en-US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sSup>
                                    <m:sSup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2.966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en-US" altLang="en-US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sSup>
                                    <m:sSup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≅37 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𝑡𝑖𝑠𝑠𝑢𝑒</m:t>
                          </m:r>
                        </m:sub>
                      </m:sSub>
                    </m:oMath>
                  </m:oMathPara>
                </a14:m>
                <a:endParaRPr lang="en-US" altLang="en-US" sz="2000" dirty="0"/>
              </a:p>
              <a:p>
                <a:r>
                  <a:rPr lang="en-US" altLang="en-US" sz="2000" dirty="0"/>
                  <a:t>Thus, we generally assume 1 X-unit yields 37 </a:t>
                </a:r>
                <a:r>
                  <a:rPr lang="en-US" altLang="en-US" sz="2000" dirty="0" err="1"/>
                  <a:t>Gy</a:t>
                </a:r>
                <a:r>
                  <a:rPr lang="en-US" altLang="en-US" sz="2000" dirty="0"/>
                  <a:t> in tissue, compared to 34 </a:t>
                </a:r>
                <a:r>
                  <a:rPr lang="en-US" altLang="en-US" sz="2000" dirty="0" err="1"/>
                  <a:t>Gy</a:t>
                </a:r>
                <a:r>
                  <a:rPr lang="en-US" altLang="en-US" sz="2000" dirty="0"/>
                  <a:t> produced in air</a:t>
                </a:r>
              </a:p>
              <a:p>
                <a:r>
                  <a:rPr lang="en-US" altLang="en-US" sz="2000" dirty="0"/>
                  <a:t>Likewise in US Units, 1 R yields 0.96 Rad in tissue, compared to 0.877 Rad in air</a:t>
                </a:r>
                <a:endParaRPr lang="en-US" altLang="en-US" sz="1400" dirty="0"/>
              </a:p>
              <a:p>
                <a:pPr marL="0" indent="0" eaLnBrk="1" hangingPunct="1">
                  <a:buClrTx/>
                  <a:buNone/>
                </a:pPr>
                <a:endParaRPr lang="en-US" altLang="en-US" sz="1600" dirty="0"/>
              </a:p>
              <a:p>
                <a:pPr eaLnBrk="1" hangingPunct="1">
                  <a:buClrTx/>
                  <a:buFont typeface="Wingdings" panose="05000000000000000000" pitchFamily="2" charset="2"/>
                  <a:buChar char="l"/>
                </a:pPr>
                <a:endParaRPr lang="en-US" altLang="en-US" sz="1400" dirty="0"/>
              </a:p>
            </p:txBody>
          </p:sp>
        </mc:Choice>
        <mc:Fallback xmlns="">
          <p:sp>
            <p:nvSpPr>
              <p:cNvPr id="419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47750"/>
                <a:ext cx="8382000" cy="4095750"/>
              </a:xfrm>
              <a:blipFill>
                <a:blip r:embed="rId3"/>
                <a:stretch>
                  <a:fillRect l="-509" t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37546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2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0" y="1047750"/>
                <a:ext cx="9144000" cy="3886200"/>
              </a:xfrm>
            </p:spPr>
            <p:txBody>
              <a:bodyPr anchor="t">
                <a:noAutofit/>
              </a:bodyPr>
              <a:lstStyle/>
              <a:p>
                <a:pPr>
                  <a:defRPr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Consider a 0.3 MeV gamma ray beam with a photon flux of 1000 photons/cm</a:t>
                </a:r>
                <a:r>
                  <a:rPr lang="en-US" sz="2000" baseline="30000" dirty="0">
                    <a:solidFill>
                      <a:schemeClr val="tx1"/>
                    </a:solidFill>
                    <a:latin typeface="+mj-lt"/>
                  </a:rPr>
                  <a:t>2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/s. Environmental conditions are STP.</a:t>
                </a: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Given the absorbed dose rate equation from earlier and the exposure-to-dose ratio for tissue and air, what is the exposure rate at a point in this beam and what is the absorbed dose rate for soft tissue?</a:t>
                </a: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You can look at NIST’s online database, which will tell you that </a:t>
                </a: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2000" dirty="0">
                    <a:solidFill>
                      <a:schemeClr val="tx1"/>
                    </a:solidFill>
                    <a:latin typeface="+mj-lt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000" b="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𝑡𝑖𝑠𝑠𝑢𝑒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𝑘𝑒𝑉</m:t>
                          </m:r>
                        </m:sup>
                      </m:sSub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=3.164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00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300 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𝑘𝑒𝑉</m:t>
                          </m:r>
                        </m:sup>
                      </m:sSub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=2.872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br>
                  <a:rPr lang="en-US" sz="18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1800" dirty="0">
                    <a:solidFill>
                      <a:schemeClr val="tx1"/>
                    </a:solidFill>
                    <a:latin typeface="+mj-lt"/>
                  </a:rPr>
                </a:br>
                <a:br>
                  <a:rPr lang="en-US" sz="1800" dirty="0">
                    <a:solidFill>
                      <a:schemeClr val="tx1"/>
                    </a:solidFill>
                    <a:latin typeface="+mj-lt"/>
                  </a:rPr>
                </a:br>
                <a:endParaRPr lang="en-US" sz="1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584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047750"/>
                <a:ext cx="9144000" cy="3886200"/>
              </a:xfrm>
              <a:blipFill>
                <a:blip r:embed="rId3"/>
                <a:stretch>
                  <a:fillRect l="-667" t="-942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373440"/>
            <a:ext cx="9144000" cy="789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kern="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First Principles Exposure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3F3BA5-C4C1-D911-044F-06554815F717}"/>
                  </a:ext>
                </a:extLst>
              </p:cNvPr>
              <p:cNvSpPr txBox="1"/>
              <p:nvPr/>
            </p:nvSpPr>
            <p:spPr>
              <a:xfrm>
                <a:off x="4038600" y="1632271"/>
                <a:ext cx="1295400" cy="409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𝑒𝑛</m:t>
                              </m:r>
                            </m:sub>
                          </m:sSub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3F3BA5-C4C1-D911-044F-06554815F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1632271"/>
                <a:ext cx="1295400" cy="409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32148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AB02-9E4B-5E55-9A1E-9D46D0D3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38150"/>
            <a:ext cx="8382001" cy="990600"/>
          </a:xfrm>
        </p:spPr>
        <p:txBody>
          <a:bodyPr/>
          <a:lstStyle/>
          <a:p>
            <a:r>
              <a:rPr lang="en-US" sz="4400" kern="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First Principles Exposure Calculation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2674473-6B07-804E-230D-8A525C410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00" y="1475745"/>
                <a:ext cx="8153400" cy="2261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+mn-lt"/>
                    <a:cs typeface="Times New Roman" panose="02020603050405020304" pitchFamily="18" charset="0"/>
                  </a:rPr>
                  <a:t>Exposure is </a:t>
                </a:r>
                <a:r>
                  <a:rPr lang="en-US" altLang="en-US" u="sng" dirty="0">
                    <a:latin typeface="+mn-lt"/>
                    <a:cs typeface="Times New Roman" panose="02020603050405020304" pitchFamily="18" charset="0"/>
                  </a:rPr>
                  <a:t>measured</a:t>
                </a:r>
                <a:r>
                  <a:rPr lang="en-US" altLang="en-US" dirty="0">
                    <a:latin typeface="+mn-lt"/>
                    <a:cs typeface="Times New Roman" panose="02020603050405020304" pitchFamily="18" charset="0"/>
                  </a:rPr>
                  <a:t>, calculation from first principles thus actually requires </a:t>
                </a:r>
                <a:r>
                  <a:rPr lang="en-US" altLang="en-US" u="sng" dirty="0">
                    <a:latin typeface="+mn-lt"/>
                    <a:cs typeface="Times New Roman" panose="02020603050405020304" pitchFamily="18" charset="0"/>
                  </a:rPr>
                  <a:t>calculating absorbed dose first</a:t>
                </a:r>
              </a:p>
              <a:p>
                <a:pPr eaLnBrk="1" hangingPunct="1"/>
                <a:endParaRPr lang="en-US" altLang="en-US" dirty="0">
                  <a:latin typeface="+mn-lt"/>
                  <a:cs typeface="Times New Roman" panose="02020603050405020304" pitchFamily="18" charset="0"/>
                </a:endParaRP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+mn-lt"/>
                    <a:cs typeface="Times New Roman" panose="02020603050405020304" pitchFamily="18" charset="0"/>
                  </a:rPr>
                  <a:t>Using the ratio from earlier: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US" alt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𝑎𝑖𝑟</m:t>
                          </m:r>
                        </m:sub>
                      </m:sSub>
                      <m:r>
                        <a:rPr lang="en-US" alt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alt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𝑎𝑖𝑟</m:t>
                          </m:r>
                        </m:sub>
                      </m:sSub>
                      <m:r>
                        <a:rPr lang="en-US" alt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  <m: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US" altLang="en-US" sz="2000" b="0" i="0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𝑢𝑛𝑖𝑡</m:t>
                              </m:r>
                            </m:num>
                            <m:den>
                              <m: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34 </m:t>
                              </m:r>
                              <m:r>
                                <a:rPr lang="en-US" alt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en-US" dirty="0"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2674473-6B07-804E-230D-8A525C4107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475745"/>
                <a:ext cx="8153400" cy="2261196"/>
              </a:xfrm>
              <a:prstGeom prst="rect">
                <a:avLst/>
              </a:prstGeom>
              <a:blipFill>
                <a:blip r:embed="rId3"/>
                <a:stretch>
                  <a:fillRect l="-972" t="-21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825E2DE-3760-21C4-2F07-8793D415F7CB}"/>
              </a:ext>
            </a:extLst>
          </p:cNvPr>
          <p:cNvSpPr txBox="1"/>
          <p:nvPr/>
        </p:nvSpPr>
        <p:spPr>
          <a:xfrm>
            <a:off x="323850" y="3790950"/>
            <a:ext cx="8496300" cy="1189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032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2DF854-D688-2655-CDCC-BEE4AF00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8150"/>
            <a:ext cx="8382000" cy="990600"/>
          </a:xfrm>
        </p:spPr>
        <p:txBody>
          <a:bodyPr>
            <a:normAutofit/>
          </a:bodyPr>
          <a:lstStyle/>
          <a:p>
            <a:r>
              <a:rPr lang="en-US" sz="4400" kern="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First Principles Exposure Calculation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D8D02A-5C73-1A46-133D-613DE610A838}"/>
                  </a:ext>
                </a:extLst>
              </p:cNvPr>
              <p:cNvSpPr txBox="1"/>
              <p:nvPr/>
            </p:nvSpPr>
            <p:spPr>
              <a:xfrm>
                <a:off x="228600" y="1584813"/>
                <a:ext cx="8686800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𝑝h𝑜𝑡𝑜𝑛𝑠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𝑠𝑒𝑐𝑜𝑛𝑑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𝑀𝑒𝑉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𝑝𝑎𝑟𝑡𝑖𝑐𝑙𝑒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∗1.602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m:rPr>
                          <m:nor/>
                        </m:rPr>
                        <a:rPr lang="en-US" altLang="en-US" sz="1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13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𝑀𝑒𝑉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𝑒𝑛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∗34</m:t>
                      </m:r>
                      <m:f>
                        <m:f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𝐺𝑦</m:t>
                          </m:r>
                        </m:num>
                        <m:den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m:rPr>
                              <m:nor/>
                            </m:rPr>
                            <a:rPr lang="en-US" altLang="en-US" sz="1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𝑢𝑛𝑖𝑡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D8D02A-5C73-1A46-133D-613DE610A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584813"/>
                <a:ext cx="8686800" cy="720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B77BC2A-C3E5-2A1C-261D-12C0498BEC75}"/>
              </a:ext>
            </a:extLst>
          </p:cNvPr>
          <p:cNvSpPr txBox="1"/>
          <p:nvPr/>
        </p:nvSpPr>
        <p:spPr>
          <a:xfrm>
            <a:off x="323850" y="3181350"/>
            <a:ext cx="8496300" cy="1189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50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2DF854-D688-2655-CDCC-BEE4AF00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8150"/>
            <a:ext cx="8382000" cy="990600"/>
          </a:xfrm>
        </p:spPr>
        <p:txBody>
          <a:bodyPr>
            <a:normAutofit/>
          </a:bodyPr>
          <a:lstStyle/>
          <a:p>
            <a:r>
              <a:rPr lang="en-US" sz="4400" kern="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First Principles </a:t>
            </a:r>
            <a:r>
              <a:rPr lang="en-US" sz="4400" u="sng" kern="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Exposure</a:t>
            </a:r>
            <a:r>
              <a:rPr lang="en-US" sz="4400" kern="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 Calculation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D8D02A-5C73-1A46-133D-613DE610A838}"/>
                  </a:ext>
                </a:extLst>
              </p:cNvPr>
              <p:cNvSpPr txBox="1"/>
              <p:nvPr/>
            </p:nvSpPr>
            <p:spPr>
              <a:xfrm>
                <a:off x="228600" y="1504950"/>
                <a:ext cx="8686800" cy="996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𝑝h𝑜𝑡𝑜𝑛𝑠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sSup>
                                        <m:sSupPr>
                                          <m:ctrlPr>
                                            <a:rPr lang="en-US" alt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p>
                                          <m:r>
                                            <a:rPr lang="en-US" alt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𝑠𝑒𝑐𝑜𝑛𝑑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𝑀𝑒𝑉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𝑝h𝑜𝑡𝑜𝑛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∗1.602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m:rPr>
                          <m:nor/>
                        </m:rPr>
                        <a:rPr lang="en-US" altLang="en-US" sz="1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13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𝑀𝑒𝑉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𝑒𝑛</m:t>
                              </m:r>
                            </m:sub>
                            <m:sup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𝑎𝑖𝑟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𝑎𝑖𝑟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∗34</m:t>
                      </m:r>
                      <m:f>
                        <m:f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𝐺𝑦</m:t>
                          </m:r>
                        </m:num>
                        <m:den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m:rPr>
                              <m:nor/>
                            </m:rPr>
                            <a:rPr lang="en-US" altLang="en-US" sz="1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𝑢𝑛𝑖𝑡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D8D02A-5C73-1A46-133D-613DE610A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504950"/>
                <a:ext cx="8686800" cy="996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4A9F8F5-8075-DCC9-38FC-1C13D0FEB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41868"/>
            <a:ext cx="6210300" cy="17154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3CD1D2-55B1-A2F7-9AFC-5613D2480318}"/>
              </a:ext>
            </a:extLst>
          </p:cNvPr>
          <p:cNvSpPr/>
          <p:nvPr/>
        </p:nvSpPr>
        <p:spPr>
          <a:xfrm>
            <a:off x="4038600" y="3943350"/>
            <a:ext cx="1371600" cy="4780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D02A3-2805-0CE3-28A3-BA368A7FB379}"/>
              </a:ext>
            </a:extLst>
          </p:cNvPr>
          <p:cNvSpPr txBox="1"/>
          <p:nvPr/>
        </p:nvSpPr>
        <p:spPr>
          <a:xfrm>
            <a:off x="5867400" y="3943350"/>
            <a:ext cx="1295400" cy="478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891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7D5E62-7234-FF03-3C66-F79B79BE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37168"/>
            <a:ext cx="5524500" cy="4352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27EA43-1ABC-1D10-A092-CB1CDC243AE5}"/>
              </a:ext>
            </a:extLst>
          </p:cNvPr>
          <p:cNvSpPr txBox="1"/>
          <p:nvPr/>
        </p:nvSpPr>
        <p:spPr>
          <a:xfrm>
            <a:off x="457200" y="389903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Measure of how much radioactive material is present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E035A-0697-11C1-2B85-0E2A643AE4D5}"/>
              </a:ext>
            </a:extLst>
          </p:cNvPr>
          <p:cNvSpPr txBox="1"/>
          <p:nvPr/>
        </p:nvSpPr>
        <p:spPr>
          <a:xfrm>
            <a:off x="3200400" y="4890093"/>
            <a:ext cx="6001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^ “Objective” measure of a radiation field, defined as charge produced in air at STP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CFFF8B-9EEB-7F3E-7163-901B7BAB73C4}"/>
                  </a:ext>
                </a:extLst>
              </p:cNvPr>
              <p:cNvSpPr txBox="1"/>
              <p:nvPr/>
            </p:nvSpPr>
            <p:spPr>
              <a:xfrm>
                <a:off x="5209172" y="452386"/>
                <a:ext cx="4191000" cy="839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&lt;- How much energy per unit mass the target (organ or whole-body) absorbed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𝑎𝑏𝑠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CFFF8B-9EEB-7F3E-7163-901B7BAB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172" y="452386"/>
                <a:ext cx="4191000" cy="839782"/>
              </a:xfrm>
              <a:prstGeom prst="rect">
                <a:avLst/>
              </a:prstGeom>
              <a:blipFill>
                <a:blip r:embed="rId4"/>
                <a:stretch>
                  <a:fillRect l="-146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DC871-F7BF-E752-816F-D5772D65F970}"/>
                  </a:ext>
                </a:extLst>
              </p:cNvPr>
              <p:cNvSpPr txBox="1"/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How damaging the </a:t>
                </a:r>
                <a:r>
                  <a:rPr lang="en-US" sz="1100" i="1" u="sng" dirty="0"/>
                  <a:t>type</a:t>
                </a:r>
                <a:r>
                  <a:rPr lang="en-US" sz="1100" dirty="0"/>
                  <a:t> of radiation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&gt;1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DC871-F7BF-E752-816F-D5772D65F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blipFill>
                <a:blip r:embed="rId5"/>
                <a:stretch>
                  <a:fillRect t="-649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D7505B-708A-186F-8577-A5EEEB0D34D2}"/>
                  </a:ext>
                </a:extLst>
              </p:cNvPr>
              <p:cNvSpPr txBox="1"/>
              <p:nvPr/>
            </p:nvSpPr>
            <p:spPr>
              <a:xfrm>
                <a:off x="7086600" y="2419350"/>
                <a:ext cx="2057400" cy="159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Total effective biological damage, based on absorbed dose, radiation type, </a:t>
                </a:r>
                <a:r>
                  <a:rPr lang="en-US" sz="1200" u="sng" dirty="0"/>
                  <a:t>and target organ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=∑(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D7505B-708A-186F-8577-A5EEEB0D3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2419350"/>
                <a:ext cx="2057400" cy="1599797"/>
              </a:xfrm>
              <a:prstGeom prst="rect">
                <a:avLst/>
              </a:prstGeom>
              <a:blipFill>
                <a:blip r:embed="rId6"/>
                <a:stretch>
                  <a:fillRect l="-297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4DC138-4B17-F8B7-4E0E-26D42333107C}"/>
                  </a:ext>
                </a:extLst>
              </p:cNvPr>
              <p:cNvSpPr txBox="1"/>
              <p:nvPr/>
            </p:nvSpPr>
            <p:spPr>
              <a:xfrm>
                <a:off x="4953000" y="4541471"/>
                <a:ext cx="4191000" cy="379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4DC138-4B17-F8B7-4E0E-26D423331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541471"/>
                <a:ext cx="4191000" cy="379271"/>
              </a:xfrm>
              <a:prstGeom prst="rect">
                <a:avLst/>
              </a:prstGeom>
              <a:blipFill>
                <a:blip r:embed="rId7"/>
                <a:stretch>
                  <a:fillRect t="-3226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570539B-0E2E-D42D-0EC0-19191B81AF6B}"/>
              </a:ext>
            </a:extLst>
          </p:cNvPr>
          <p:cNvSpPr/>
          <p:nvPr/>
        </p:nvSpPr>
        <p:spPr>
          <a:xfrm>
            <a:off x="2324100" y="1344846"/>
            <a:ext cx="1295400" cy="938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7C49F5-DDA4-2146-BD5A-72E8036D1A83}"/>
              </a:ext>
            </a:extLst>
          </p:cNvPr>
          <p:cNvSpPr/>
          <p:nvPr/>
        </p:nvSpPr>
        <p:spPr>
          <a:xfrm>
            <a:off x="7167200" y="2239811"/>
            <a:ext cx="1729150" cy="1599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922807-DE78-23C8-6EAD-5B10537BD64D}"/>
              </a:ext>
            </a:extLst>
          </p:cNvPr>
          <p:cNvSpPr/>
          <p:nvPr/>
        </p:nvSpPr>
        <p:spPr>
          <a:xfrm>
            <a:off x="380999" y="3622031"/>
            <a:ext cx="2640555" cy="918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CAF04-A857-D466-9AA2-1E351492CE4A}"/>
              </a:ext>
            </a:extLst>
          </p:cNvPr>
          <p:cNvSpPr/>
          <p:nvPr/>
        </p:nvSpPr>
        <p:spPr>
          <a:xfrm>
            <a:off x="5313383" y="1344846"/>
            <a:ext cx="1853817" cy="3109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3DA2E-B10A-0696-CEC7-B273338A7B15}"/>
              </a:ext>
            </a:extLst>
          </p:cNvPr>
          <p:cNvSpPr/>
          <p:nvPr/>
        </p:nvSpPr>
        <p:spPr>
          <a:xfrm>
            <a:off x="5148714" y="4324350"/>
            <a:ext cx="653550" cy="281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0D52E-44D8-B7C5-5C49-BDBA90FC936C}"/>
              </a:ext>
            </a:extLst>
          </p:cNvPr>
          <p:cNvSpPr/>
          <p:nvPr/>
        </p:nvSpPr>
        <p:spPr>
          <a:xfrm>
            <a:off x="2324099" y="926691"/>
            <a:ext cx="1333501" cy="5020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8E79B4-CF2C-EC0E-CC67-E93AF90D6876}"/>
                  </a:ext>
                </a:extLst>
              </p:cNvPr>
              <p:cNvSpPr txBox="1"/>
              <p:nvPr/>
            </p:nvSpPr>
            <p:spPr>
              <a:xfrm>
                <a:off x="2133600" y="415459"/>
                <a:ext cx="1753889" cy="1343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Kerma</a:t>
                </a:r>
              </a:p>
              <a:p>
                <a:pPr algn="ctr"/>
                <a:r>
                  <a:rPr lang="en-US" sz="1400" b="1" dirty="0"/>
                  <a:t>(</a:t>
                </a:r>
                <a:r>
                  <a:rPr lang="en-US" sz="1400" b="1" dirty="0" err="1"/>
                  <a:t>Gy</a:t>
                </a:r>
                <a:r>
                  <a:rPr lang="en-US" sz="1400" b="1" dirty="0"/>
                  <a:t>)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050" dirty="0"/>
                  <a:t>Kinetic energy of charged particles generated in a medium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𝐾𝐸</m:t>
                          </m:r>
                        </m:num>
                        <m:den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05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8E79B4-CF2C-EC0E-CC67-E93AF90D6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15459"/>
                <a:ext cx="1753889" cy="1343125"/>
              </a:xfrm>
              <a:prstGeom prst="rect">
                <a:avLst/>
              </a:prstGeom>
              <a:blipFill>
                <a:blip r:embed="rId8"/>
                <a:stretch>
                  <a:fillRect t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228EA45-2091-4DE9-FB9F-E0CC3CA5F1DC}"/>
              </a:ext>
            </a:extLst>
          </p:cNvPr>
          <p:cNvSpPr/>
          <p:nvPr/>
        </p:nvSpPr>
        <p:spPr>
          <a:xfrm>
            <a:off x="2819400" y="2114550"/>
            <a:ext cx="684233" cy="3842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E</a:t>
            </a:r>
            <a:r>
              <a:rPr lang="en-US" sz="1400" dirty="0">
                <a:solidFill>
                  <a:schemeClr val="tx1"/>
                </a:solidFill>
              </a:rPr>
              <a:t>e</a:t>
            </a:r>
            <a:r>
              <a:rPr lang="en-US" sz="1400" baseline="30000" dirty="0">
                <a:solidFill>
                  <a:schemeClr val="tx1"/>
                </a:solidFill>
              </a:rPr>
              <a:t>-</a:t>
            </a:r>
            <a:endParaRPr lang="en-US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BD33B9-4369-7173-6208-5BB6BC02FDEC}"/>
              </a:ext>
            </a:extLst>
          </p:cNvPr>
          <p:cNvCxnSpPr/>
          <p:nvPr/>
        </p:nvCxnSpPr>
        <p:spPr>
          <a:xfrm>
            <a:off x="3040646" y="2196019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F4A384-8152-1D18-E60A-6CB4B1C75BF6}"/>
              </a:ext>
            </a:extLst>
          </p:cNvPr>
          <p:cNvCxnSpPr>
            <a:cxnSpLocks/>
          </p:cNvCxnSpPr>
          <p:nvPr/>
        </p:nvCxnSpPr>
        <p:spPr>
          <a:xfrm flipV="1">
            <a:off x="3040646" y="2343150"/>
            <a:ext cx="381000" cy="76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2923E4C-6B58-E835-C770-3D6E74D6CDB2}"/>
              </a:ext>
            </a:extLst>
          </p:cNvPr>
          <p:cNvSpPr/>
          <p:nvPr/>
        </p:nvSpPr>
        <p:spPr>
          <a:xfrm>
            <a:off x="3021554" y="3534486"/>
            <a:ext cx="729729" cy="5334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D4BAF6F-9AEA-3EB7-C1E7-2854E8931D52}"/>
              </a:ext>
            </a:extLst>
          </p:cNvPr>
          <p:cNvSpPr/>
          <p:nvPr/>
        </p:nvSpPr>
        <p:spPr>
          <a:xfrm>
            <a:off x="3063856" y="1740005"/>
            <a:ext cx="159754" cy="348622"/>
          </a:xfrm>
          <a:prstGeom prst="downArrow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77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2922"/>
            <a:ext cx="7505700" cy="85725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200" dirty="0" err="1">
                <a:solidFill>
                  <a:srgbClr val="FF0000"/>
                </a:solidFill>
              </a:rPr>
              <a:t>Kerma</a:t>
            </a:r>
            <a:r>
              <a:rPr lang="en-US" altLang="en-US" sz="3200" dirty="0">
                <a:solidFill>
                  <a:srgbClr val="FF0000"/>
                </a:solidFill>
              </a:rPr>
              <a:t> – </a:t>
            </a:r>
            <a:br>
              <a:rPr lang="en-US" altLang="en-US" sz="3200" dirty="0">
                <a:solidFill>
                  <a:srgbClr val="FF0000"/>
                </a:solidFill>
              </a:rPr>
            </a:br>
            <a:r>
              <a:rPr lang="en-US" altLang="en-US" sz="3200" u="sng" dirty="0">
                <a:solidFill>
                  <a:srgbClr val="FF0000"/>
                </a:solidFill>
              </a:rPr>
              <a:t>K</a:t>
            </a:r>
            <a:r>
              <a:rPr lang="en-US" altLang="en-US" sz="3200" dirty="0">
                <a:solidFill>
                  <a:srgbClr val="FF0000"/>
                </a:solidFill>
              </a:rPr>
              <a:t>inetic </a:t>
            </a:r>
            <a:r>
              <a:rPr lang="en-US" altLang="en-US" sz="3200" u="sng" dirty="0">
                <a:solidFill>
                  <a:srgbClr val="FF0000"/>
                </a:solidFill>
              </a:rPr>
              <a:t>E</a:t>
            </a:r>
            <a:r>
              <a:rPr lang="en-US" altLang="en-US" sz="3200" dirty="0">
                <a:solidFill>
                  <a:srgbClr val="FF0000"/>
                </a:solidFill>
              </a:rPr>
              <a:t>nergy </a:t>
            </a:r>
            <a:r>
              <a:rPr lang="en-US" altLang="en-US" sz="3200" u="sng" dirty="0">
                <a:solidFill>
                  <a:srgbClr val="FF0000"/>
                </a:solidFill>
              </a:rPr>
              <a:t>R</a:t>
            </a:r>
            <a:r>
              <a:rPr lang="en-US" altLang="en-US" sz="3200" dirty="0">
                <a:solidFill>
                  <a:srgbClr val="FF0000"/>
                </a:solidFill>
              </a:rPr>
              <a:t>eleased Per Unit </a:t>
            </a:r>
            <a:r>
              <a:rPr lang="en-US" altLang="en-US" sz="3200" u="sng" dirty="0">
                <a:solidFill>
                  <a:srgbClr val="FF0000"/>
                </a:solidFill>
              </a:rPr>
              <a:t>Ma</a:t>
            </a:r>
            <a:r>
              <a:rPr lang="en-US" altLang="en-US" sz="3200" dirty="0">
                <a:solidFill>
                  <a:srgbClr val="FF0000"/>
                </a:solidFill>
              </a:rPr>
              <a:t>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28600" y="1389222"/>
                <a:ext cx="8915400" cy="3697128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2000" dirty="0"/>
                  <a:t>For </a:t>
                </a:r>
                <a:r>
                  <a:rPr lang="en-US" altLang="en-US" sz="2000" u="sng" dirty="0"/>
                  <a:t>indirectly ionizing radiation</a:t>
                </a:r>
                <a:r>
                  <a:rPr lang="en-US" altLang="en-US" sz="2000" dirty="0"/>
                  <a:t> (x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en-US" sz="2000" dirty="0"/>
                  <a:t> rays, neutrons) the sum of the initial kinetic energies per unit mass of all </a:t>
                </a:r>
                <a:r>
                  <a:rPr lang="en-US" altLang="en-US" sz="2000" u="sng" dirty="0"/>
                  <a:t>charged</a:t>
                </a:r>
                <a:r>
                  <a:rPr lang="en-US" altLang="en-US" sz="2000" dirty="0"/>
                  <a:t> particles produced in a unit mass is called </a:t>
                </a:r>
                <a:r>
                  <a:rPr lang="en-US" altLang="en-US" sz="2000" dirty="0" err="1"/>
                  <a:t>Kerma</a:t>
                </a:r>
                <a:endParaRPr lang="en-US" alt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𝐾𝑒𝑟𝑚𝑎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en-US" sz="2000" dirty="0"/>
              </a:p>
              <a:p>
                <a:r>
                  <a:rPr lang="en-US" altLang="en-US" sz="2000" dirty="0"/>
                  <a:t>First-order measure of energy </a:t>
                </a:r>
                <a:r>
                  <a:rPr lang="en-US" altLang="en-US" sz="2000" u="sng" dirty="0"/>
                  <a:t>transferred</a:t>
                </a:r>
                <a:r>
                  <a:rPr lang="en-US" altLang="en-US" sz="2000" dirty="0"/>
                  <a:t> to medium</a:t>
                </a:r>
                <a:endParaRPr lang="en-US" altLang="en-US" sz="2000" u="sng" dirty="0"/>
              </a:p>
              <a:p>
                <a:pPr lvl="1"/>
                <a:r>
                  <a:rPr lang="en-US" altLang="en-US" sz="1600" dirty="0"/>
                  <a:t>Not necessarily the </a:t>
                </a:r>
                <a:r>
                  <a:rPr lang="en-US" altLang="en-US" sz="1600" u="sng" dirty="0"/>
                  <a:t>absorbed energy</a:t>
                </a:r>
              </a:p>
              <a:p>
                <a:pPr lvl="1"/>
                <a:r>
                  <a:rPr lang="en-US" altLang="en-US" sz="1400" dirty="0"/>
                  <a:t>Secondary gammas may radiate away from the mass M</a:t>
                </a:r>
              </a:p>
              <a:p>
                <a:r>
                  <a:rPr lang="en-US" altLang="en-US" sz="1800" dirty="0"/>
                  <a:t>Uses the same units as absorbed dose, as the units are still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𝐸𝑛𝑒𝑟𝑔𝑦</m:t>
                        </m:r>
                      </m:num>
                      <m:den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𝑀𝑎𝑠𝑠</m:t>
                        </m:r>
                      </m:den>
                    </m:f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512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89222"/>
                <a:ext cx="8915400" cy="3697128"/>
              </a:xfrm>
              <a:blipFill>
                <a:blip r:embed="rId3"/>
                <a:stretch>
                  <a:fillRect l="-616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71209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CEB24C-E4B6-D0EF-4308-09B4146CA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791115"/>
            <a:ext cx="5940607" cy="2352385"/>
          </a:xfrm>
          <a:prstGeom prst="rect">
            <a:avLst/>
          </a:prstGeom>
        </p:spPr>
      </p:pic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66378"/>
            <a:ext cx="6137672" cy="789384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 err="1">
                <a:solidFill>
                  <a:srgbClr val="FF0000"/>
                </a:solidFill>
              </a:rPr>
              <a:t>Kerma</a:t>
            </a:r>
            <a:r>
              <a:rPr lang="en-US" altLang="en-US" sz="3200" dirty="0">
                <a:solidFill>
                  <a:srgbClr val="FF0000"/>
                </a:solidFill>
              </a:rPr>
              <a:t> Example Problem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173236" y="971550"/>
            <a:ext cx="8686800" cy="2286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800" dirty="0"/>
              <a:t>A 10 </a:t>
            </a:r>
            <a:r>
              <a:rPr lang="en-US" sz="1800" dirty="0" err="1"/>
              <a:t>MeV</a:t>
            </a:r>
            <a:r>
              <a:rPr lang="en-US" sz="1800" dirty="0"/>
              <a:t> photon penetrates a 100 g mass.  Pair production gives an e+, e- pair, each of 4.5 </a:t>
            </a:r>
            <a:r>
              <a:rPr lang="en-US" sz="1800" dirty="0" err="1"/>
              <a:t>MeV</a:t>
            </a:r>
            <a:r>
              <a:rPr lang="en-US" sz="1800" dirty="0"/>
              <a:t>.  Their energy is dissipated within the mass via ionization and bremsstrahlung.  </a:t>
            </a:r>
          </a:p>
          <a:p>
            <a:pPr>
              <a:lnSpc>
                <a:spcPct val="90000"/>
              </a:lnSpc>
              <a:defRPr/>
            </a:pPr>
            <a:r>
              <a:rPr lang="en-US" sz="1800" dirty="0"/>
              <a:t>Three Bremsstrahlung photons of 1.6, 1.4, and 2 MeV each are produced, but don’t interact and escape the mass.  </a:t>
            </a:r>
          </a:p>
          <a:p>
            <a:pPr>
              <a:lnSpc>
                <a:spcPct val="90000"/>
              </a:lnSpc>
              <a:defRPr/>
            </a:pPr>
            <a:r>
              <a:rPr lang="en-US" sz="1800" dirty="0"/>
              <a:t>After the e</a:t>
            </a:r>
            <a:r>
              <a:rPr lang="en-US" sz="1800" baseline="30000" dirty="0"/>
              <a:t>+</a:t>
            </a:r>
            <a:r>
              <a:rPr lang="en-US" sz="1800" dirty="0"/>
              <a:t> loses all its kinetic energy, it interacts with an e</a:t>
            </a:r>
            <a:r>
              <a:rPr lang="en-US" sz="1800" baseline="30000" dirty="0"/>
              <a:t>-</a:t>
            </a:r>
            <a:r>
              <a:rPr lang="en-US" sz="1800" dirty="0"/>
              <a:t>, annihilates, and produces two 0.511 MeV photons which also escape without interacting. </a:t>
            </a:r>
          </a:p>
          <a:p>
            <a:pPr>
              <a:lnSpc>
                <a:spcPct val="90000"/>
              </a:lnSpc>
              <a:defRPr/>
            </a:pPr>
            <a:r>
              <a:rPr lang="en-US" sz="1800" dirty="0"/>
              <a:t>What’s the </a:t>
            </a:r>
            <a:r>
              <a:rPr lang="en-US" sz="1800" dirty="0" err="1"/>
              <a:t>kerma</a:t>
            </a:r>
            <a:r>
              <a:rPr lang="en-US" sz="1800" dirty="0"/>
              <a:t> and the absorbed dose?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6FCCF-0CAC-180C-E273-FFCF047252CA}"/>
              </a:ext>
            </a:extLst>
          </p:cNvPr>
          <p:cNvSpPr txBox="1"/>
          <p:nvPr/>
        </p:nvSpPr>
        <p:spPr>
          <a:xfrm>
            <a:off x="1752600" y="457780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</a:t>
            </a:r>
            <a:r>
              <a:rPr lang="en-US" sz="1200" baseline="-25000" dirty="0" err="1"/>
              <a:t>cube</a:t>
            </a:r>
            <a:r>
              <a:rPr lang="en-US" sz="1200" dirty="0"/>
              <a:t> = 100 g</a:t>
            </a:r>
          </a:p>
        </p:txBody>
      </p:sp>
    </p:spTree>
    <p:extLst>
      <p:ext uri="{BB962C8B-B14F-4D97-AF65-F5344CB8AC3E}">
        <p14:creationId xmlns:p14="http://schemas.microsoft.com/office/powerpoint/2010/main" val="336504953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0428" y="171450"/>
            <a:ext cx="6137672" cy="78938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9085"/>
            <a:ext cx="8534400" cy="3712369"/>
          </a:xfrm>
        </p:spPr>
        <p:txBody>
          <a:bodyPr>
            <a:normAutofit/>
          </a:bodyPr>
          <a:lstStyle/>
          <a:p>
            <a:r>
              <a:rPr lang="en-US" altLang="en-US" sz="2800" dirty="0" err="1"/>
              <a:t>Kerma</a:t>
            </a:r>
            <a:r>
              <a:rPr lang="en-US" altLang="en-US" sz="2800" dirty="0"/>
              <a:t> (sum of the initial kinetic energies per unit mass of all charged particles produced by the radiation)</a:t>
            </a:r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r>
              <a:rPr lang="en-US" altLang="en-US" sz="2800" dirty="0"/>
              <a:t>Absorbed dose (energy absorbed per unit mass)</a:t>
            </a:r>
          </a:p>
          <a:p>
            <a:endParaRPr lang="en-US" altLang="en-US" sz="2800" dirty="0"/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endParaRPr lang="en-US" alt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5E0AD3-F1CF-5CC5-786C-BA4159012EB1}"/>
              </a:ext>
            </a:extLst>
          </p:cNvPr>
          <p:cNvSpPr/>
          <p:nvPr/>
        </p:nvSpPr>
        <p:spPr>
          <a:xfrm>
            <a:off x="533400" y="2000250"/>
            <a:ext cx="7772400" cy="1143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62A092-0C47-8EF6-4018-D14B1979BD3C}"/>
              </a:ext>
            </a:extLst>
          </p:cNvPr>
          <p:cNvSpPr/>
          <p:nvPr/>
        </p:nvSpPr>
        <p:spPr>
          <a:xfrm>
            <a:off x="533400" y="3943350"/>
            <a:ext cx="7772400" cy="1143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9107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0428" y="171450"/>
            <a:ext cx="6137672" cy="78938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</a:rPr>
              <a:t>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4800" y="899085"/>
                <a:ext cx="8534400" cy="407296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en-US" sz="3100" dirty="0"/>
                  <a:t>Kerma (sum of the initial kinetic energies per unit mass of all charged particles produced by the radiation)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4.5</m:t>
                              </m:r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𝑀𝑒𝑉</m:t>
                              </m:r>
                            </m:e>
                          </m:d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1.6∗1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−13</m:t>
                                  </m:r>
                                </m:sup>
                              </m:sSup>
                              <m:f>
                                <m:fPr>
                                  <m:type m:val="skw"/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𝑀𝑒𝑉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∗1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num>
                                        <m:den>
                                          <m:r>
                                            <a:rPr 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𝑘𝑔</m:t>
                                          </m:r>
                                        </m:den>
                                      </m:f>
                                    </m:e>
                                  </m:d>
                                </m:num>
                                <m:den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𝐺𝑦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=1.44∗1</m:t>
                      </m:r>
                      <m:sSup>
                        <m:sSup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−11</m:t>
                          </m:r>
                        </m:sup>
                      </m:sSup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𝐺𝑦</m:t>
                      </m:r>
                    </m:oMath>
                  </m:oMathPara>
                </a14:m>
                <a:endParaRPr lang="en-US" sz="26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altLang="en-US" sz="3100" dirty="0"/>
                  <a:t>Absorbed dose (energy absorbed per unit mass)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4.5</m:t>
                                  </m:r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𝑀𝑒𝑉</m:t>
                                  </m:r>
                                </m:e>
                              </m:d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1.6+1.4+2</m:t>
                                  </m:r>
                                </m:e>
                              </m:d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𝑀𝑒𝑉</m:t>
                              </m:r>
                            </m:e>
                          </m:d>
                          <m:r>
                            <a:rPr lang="en-US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1.6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−13</m:t>
                              </m:r>
                            </m:sup>
                          </m:sSup>
                          <m:f>
                            <m:fPr>
                              <m:type m:val="skw"/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𝑀𝑒𝑉</m:t>
                              </m:r>
                            </m:den>
                          </m:f>
                        </m:num>
                        <m:den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∗1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num>
                                        <m:den>
                                          <m:r>
                                            <a:rPr 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𝑘𝑔</m:t>
                                          </m:r>
                                        </m:den>
                                      </m:f>
                                    </m:e>
                                  </m:d>
                                </m:num>
                                <m:den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𝐺𝑦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=6.4</m:t>
                      </m:r>
                      <m:r>
                        <a:rPr lang="en-US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𝐺𝑦</m:t>
                      </m:r>
                    </m:oMath>
                  </m:oMathPara>
                </a14:m>
                <a:endParaRPr lang="en-US" altLang="en-US" sz="2600" dirty="0"/>
              </a:p>
              <a:p>
                <a:pPr marL="0" indent="0">
                  <a:buNone/>
                </a:pPr>
                <a:endParaRPr lang="en-US" altLang="en-US" sz="3200" dirty="0"/>
              </a:p>
              <a:p>
                <a:pPr marL="0" indent="0">
                  <a:buNone/>
                </a:pPr>
                <a:endParaRPr lang="en-US" altLang="en-US" sz="3200" dirty="0"/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endParaRPr lang="en-US" altLang="en-US" sz="2400" dirty="0"/>
              </a:p>
              <a:p>
                <a:endParaRPr lang="en-US" altLang="en-US" sz="1800" dirty="0"/>
              </a:p>
              <a:p>
                <a:pPr eaLnBrk="1" hangingPunct="1">
                  <a:buClrTx/>
                  <a:buFont typeface="Wingdings" panose="05000000000000000000" pitchFamily="2" charset="2"/>
                  <a:buChar char="l"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53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899085"/>
                <a:ext cx="8534400" cy="4072965"/>
              </a:xfrm>
              <a:blipFill>
                <a:blip r:embed="rId3"/>
                <a:stretch>
                  <a:fillRect l="-929" t="-2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60026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95619-30BC-E88B-DCB6-DE59F1DF0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Rem: Biological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6F084-A08B-9D06-225F-776DCA3C8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1 Rem = 1 Rad uniform, whole body gamma irradiation</a:t>
            </a:r>
          </a:p>
          <a:p>
            <a:r>
              <a:rPr lang="en-US" dirty="0"/>
              <a:t>Usually pegged to some negative outcome (typically fatal cancers)</a:t>
            </a:r>
          </a:p>
          <a:p>
            <a:r>
              <a:rPr lang="en-US" dirty="0"/>
              <a:t>Rem can refer to </a:t>
            </a:r>
            <a:r>
              <a:rPr lang="en-US" u="sng" dirty="0"/>
              <a:t>three</a:t>
            </a:r>
            <a:r>
              <a:rPr lang="en-US" dirty="0"/>
              <a:t> quantities:</a:t>
            </a:r>
          </a:p>
          <a:p>
            <a:pPr lvl="1"/>
            <a:r>
              <a:rPr lang="en-US" dirty="0"/>
              <a:t>Equivalent dose </a:t>
            </a:r>
          </a:p>
          <a:p>
            <a:pPr lvl="2"/>
            <a:r>
              <a:rPr lang="en-US" dirty="0"/>
              <a:t>How damaging is the </a:t>
            </a:r>
            <a:r>
              <a:rPr lang="en-US" b="1" dirty="0"/>
              <a:t>type</a:t>
            </a:r>
            <a:r>
              <a:rPr lang="en-US" dirty="0"/>
              <a:t> of radiation?</a:t>
            </a:r>
          </a:p>
          <a:p>
            <a:pPr lvl="3"/>
            <a:r>
              <a:rPr lang="en-US" dirty="0" err="1"/>
              <a:t>Fxn</a:t>
            </a:r>
            <a:r>
              <a:rPr lang="en-US" dirty="0"/>
              <a:t> of Linear Energy Transfer</a:t>
            </a:r>
          </a:p>
          <a:p>
            <a:pPr lvl="1"/>
            <a:r>
              <a:rPr lang="en-US" dirty="0"/>
              <a:t>Effective dose</a:t>
            </a:r>
          </a:p>
          <a:p>
            <a:pPr lvl="2"/>
            <a:r>
              <a:rPr lang="en-US" dirty="0"/>
              <a:t>How radiosensitive is the impacted </a:t>
            </a:r>
            <a:r>
              <a:rPr lang="en-US" b="1" dirty="0"/>
              <a:t>organ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Effective dose equivalent</a:t>
            </a:r>
          </a:p>
          <a:p>
            <a:pPr lvl="2"/>
            <a:r>
              <a:rPr lang="en-US" dirty="0"/>
              <a:t>The sum of all effective doses across all tissues</a:t>
            </a:r>
          </a:p>
          <a:p>
            <a:pPr marL="685800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73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A6FE-2BFB-8D3B-12ED-367A4FCD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D25D3C-F2FE-128C-4923-1E85B42A0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37168"/>
            <a:ext cx="5524500" cy="4352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98075-C95E-F847-EDC0-C4BF6D9E76AC}"/>
              </a:ext>
            </a:extLst>
          </p:cNvPr>
          <p:cNvSpPr txBox="1"/>
          <p:nvPr/>
        </p:nvSpPr>
        <p:spPr>
          <a:xfrm>
            <a:off x="457200" y="389903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Measure of how much radioactive material is present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4DD70-7710-D337-C378-DD1FC8D0D5CD}"/>
              </a:ext>
            </a:extLst>
          </p:cNvPr>
          <p:cNvSpPr txBox="1"/>
          <p:nvPr/>
        </p:nvSpPr>
        <p:spPr>
          <a:xfrm>
            <a:off x="3218948" y="4890093"/>
            <a:ext cx="6001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^ “Objective” measure of radiation produced, independent of target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D4D7D2-B098-C5D7-14FC-651EBCCAE592}"/>
                  </a:ext>
                </a:extLst>
              </p:cNvPr>
              <p:cNvSpPr txBox="1"/>
              <p:nvPr/>
            </p:nvSpPr>
            <p:spPr>
              <a:xfrm>
                <a:off x="5209172" y="452386"/>
                <a:ext cx="4191000" cy="839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&lt;- How much energy per unit mass the target (organ or whole-body) absorbed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CFFF8B-9EEB-7F3E-7163-901B7BAB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172" y="452386"/>
                <a:ext cx="4191000" cy="839782"/>
              </a:xfrm>
              <a:prstGeom prst="rect">
                <a:avLst/>
              </a:prstGeom>
              <a:blipFill>
                <a:blip r:embed="rId4"/>
                <a:stretch>
                  <a:fillRect l="-146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A38D21-52DC-9E97-F440-8EE55DF64C13}"/>
                  </a:ext>
                </a:extLst>
              </p:cNvPr>
              <p:cNvSpPr txBox="1"/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How damaging the </a:t>
                </a:r>
                <a:r>
                  <a:rPr lang="en-US" sz="1100" i="1" u="sng" dirty="0"/>
                  <a:t>type</a:t>
                </a:r>
                <a:r>
                  <a:rPr lang="en-US" sz="1100" dirty="0"/>
                  <a:t> of radiation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&gt;1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A38D21-52DC-9E97-F440-8EE55DF6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276350"/>
                <a:ext cx="1524000" cy="938719"/>
              </a:xfrm>
              <a:prstGeom prst="rect">
                <a:avLst/>
              </a:prstGeom>
              <a:blipFill>
                <a:blip r:embed="rId5"/>
                <a:stretch>
                  <a:fillRect t="-649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31915-2095-EF59-EC43-FBFA3005902D}"/>
                  </a:ext>
                </a:extLst>
              </p:cNvPr>
              <p:cNvSpPr txBox="1"/>
              <p:nvPr/>
            </p:nvSpPr>
            <p:spPr>
              <a:xfrm>
                <a:off x="7086600" y="2419350"/>
                <a:ext cx="2057400" cy="159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Total effective biological damage, based on absorbed dose, radiation type, </a:t>
                </a:r>
                <a:r>
                  <a:rPr lang="en-US" sz="1200" u="sng" dirty="0"/>
                  <a:t>and target organ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=∑(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31915-2095-EF59-EC43-FBFA30059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2419350"/>
                <a:ext cx="2057400" cy="1599797"/>
              </a:xfrm>
              <a:prstGeom prst="rect">
                <a:avLst/>
              </a:prstGeom>
              <a:blipFill>
                <a:blip r:embed="rId6"/>
                <a:stretch>
                  <a:fillRect l="-297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02A7044-CD99-65FE-9C8D-026121A186AB}"/>
              </a:ext>
            </a:extLst>
          </p:cNvPr>
          <p:cNvSpPr txBox="1"/>
          <p:nvPr/>
        </p:nvSpPr>
        <p:spPr>
          <a:xfrm>
            <a:off x="-59055" y="425716"/>
            <a:ext cx="2438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Subscript T indicates specific tissue,</a:t>
            </a:r>
          </a:p>
          <a:p>
            <a:r>
              <a:rPr lang="en-US" sz="1100" dirty="0"/>
              <a:t>Subscript R indicates radiation</a:t>
            </a:r>
          </a:p>
          <a:p>
            <a:r>
              <a:rPr lang="en-US" sz="1100" dirty="0"/>
              <a:t>Subscript Total indicates whole-body</a:t>
            </a:r>
          </a:p>
          <a:p>
            <a:r>
              <a:rPr lang="en-US" sz="1100" dirty="0"/>
              <a:t>Subscript </a:t>
            </a:r>
            <a:r>
              <a:rPr lang="en-US" sz="1100" dirty="0" err="1"/>
              <a:t>i</a:t>
            </a:r>
            <a:r>
              <a:rPr lang="en-US" sz="1100" dirty="0"/>
              <a:t> indicates you can go for whole-body or organ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438C3F-847B-68A2-C2C7-A3C83DEFF4A6}"/>
                  </a:ext>
                </a:extLst>
              </p:cNvPr>
              <p:cNvSpPr txBox="1"/>
              <p:nvPr/>
            </p:nvSpPr>
            <p:spPr>
              <a:xfrm>
                <a:off x="4953000" y="4541471"/>
                <a:ext cx="4038600" cy="367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@ 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𝑆𝑇𝑃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438C3F-847B-68A2-C2C7-A3C83DEFF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541471"/>
                <a:ext cx="4038600" cy="367729"/>
              </a:xfrm>
              <a:prstGeom prst="rect">
                <a:avLst/>
              </a:prstGeom>
              <a:blipFill>
                <a:blip r:embed="rId7"/>
                <a:stretch>
                  <a:fillRect t="-333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395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8527-A27F-DE0F-44DB-43764688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Rem as </a:t>
            </a:r>
            <a:r>
              <a:rPr lang="en-US" u="sng" dirty="0">
                <a:solidFill>
                  <a:srgbClr val="FF0000"/>
                </a:solidFill>
              </a:rPr>
              <a:t>Equivalent</a:t>
            </a:r>
            <a:r>
              <a:rPr lang="en-US" dirty="0">
                <a:solidFill>
                  <a:srgbClr val="FF0000"/>
                </a:solidFill>
              </a:rPr>
              <a:t> Dose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3C137B-6EDD-AC7B-DF35-531E6EF2F6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80681"/>
                <a:ext cx="8229600" cy="1928092"/>
              </a:xfrm>
            </p:spPr>
            <p:txBody>
              <a:bodyPr>
                <a:normAutofit fontScale="32500" lnSpcReduction="20000"/>
              </a:bodyPr>
              <a:lstStyle/>
              <a:p>
                <a:r>
                  <a:rPr lang="en-US" sz="4125" dirty="0"/>
                  <a:t>Equivalent dose converts the energy absorbed into biological damage due to the </a:t>
                </a:r>
                <a:r>
                  <a:rPr lang="en-US" sz="4125" u="sng" dirty="0"/>
                  <a:t>radiation type</a:t>
                </a:r>
              </a:p>
              <a:p>
                <a:r>
                  <a:rPr lang="en-US" sz="4125" dirty="0"/>
                  <a:t>Unit of </a:t>
                </a:r>
                <a:r>
                  <a:rPr lang="en-US" sz="4125" u="sng" dirty="0"/>
                  <a:t>Equivalent Dose</a:t>
                </a:r>
                <a:r>
                  <a:rPr lang="en-US" sz="4125" dirty="0"/>
                  <a:t> (H)</a:t>
                </a:r>
              </a:p>
              <a:p>
                <a:pPr lvl="1"/>
                <a:r>
                  <a:rPr lang="en-US" sz="4125" dirty="0"/>
                  <a:t>Measured for each tissue (H</a:t>
                </a:r>
                <a:r>
                  <a:rPr lang="en-US" sz="4125" baseline="-25000" dirty="0"/>
                  <a:t>i</a:t>
                </a:r>
                <a:r>
                  <a:rPr lang="en-US" sz="4125" dirty="0"/>
                  <a:t>) or whole-body (H)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4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4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4800" dirty="0"/>
                            <m:t>W</m:t>
                          </m:r>
                          <m:r>
                            <m:rPr>
                              <m:nor/>
                            </m:rPr>
                            <a:rPr lang="en-US" sz="4800" baseline="-25000" dirty="0"/>
                            <m:t>T</m:t>
                          </m:r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4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4125" dirty="0"/>
              </a:p>
              <a:p>
                <a:pPr lvl="1"/>
                <a:r>
                  <a:rPr lang="en-US" sz="4125" dirty="0"/>
                  <a:t>The US does not use W</a:t>
                </a:r>
                <a:r>
                  <a:rPr lang="en-US" sz="4125" baseline="-25000" dirty="0"/>
                  <a:t>T</a:t>
                </a:r>
                <a:r>
                  <a:rPr lang="en-US" sz="4125" dirty="0"/>
                  <a:t>, but instead quality factor (Q)</a:t>
                </a:r>
              </a:p>
              <a:p>
                <a:pPr lvl="1"/>
                <a:r>
                  <a:rPr lang="en-US" sz="4125" dirty="0"/>
                  <a:t>Q is a measure of biological damage, correlated to Linear Energy Transfer</a:t>
                </a:r>
              </a:p>
              <a:p>
                <a:pPr lvl="2"/>
                <a:r>
                  <a:rPr lang="en-US" sz="4125" dirty="0"/>
                  <a:t>Why would high-LET radiation be more damaging than low-LET?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3C137B-6EDD-AC7B-DF35-531E6EF2F6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80681"/>
                <a:ext cx="8229600" cy="1928092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5B94B8F-A0A0-81C3-C1DC-CCD80713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3508773"/>
            <a:ext cx="8401050" cy="1599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1A0069-886C-BF90-C975-8BCCB4125AF2}"/>
              </a:ext>
            </a:extLst>
          </p:cNvPr>
          <p:cNvSpPr txBox="1"/>
          <p:nvPr/>
        </p:nvSpPr>
        <p:spPr>
          <a:xfrm>
            <a:off x="369094" y="3562820"/>
            <a:ext cx="230938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/>
              <a:t>10 CFR 20.1004: </a:t>
            </a:r>
          </a:p>
          <a:p>
            <a:r>
              <a:rPr lang="en-US" sz="825" dirty="0"/>
              <a:t>Quality Factors and Absorbed Dose Equivalents</a:t>
            </a:r>
          </a:p>
        </p:txBody>
      </p:sp>
    </p:spTree>
    <p:extLst>
      <p:ext uri="{BB962C8B-B14F-4D97-AF65-F5344CB8AC3E}">
        <p14:creationId xmlns:p14="http://schemas.microsoft.com/office/powerpoint/2010/main" val="1456872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12C89-7E07-A180-E08C-51C0CCD5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Rem as </a:t>
            </a:r>
            <a:r>
              <a:rPr lang="en-US" u="sng" dirty="0">
                <a:solidFill>
                  <a:srgbClr val="FF0000"/>
                </a:solidFill>
              </a:rPr>
              <a:t>Effective</a:t>
            </a:r>
            <a:r>
              <a:rPr lang="en-US" dirty="0">
                <a:solidFill>
                  <a:srgbClr val="FF0000"/>
                </a:solidFill>
              </a:rPr>
              <a:t> Dose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3E4AB-DA0F-7249-B4AE-27577AF1D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1650"/>
            <a:ext cx="5379244" cy="29146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Consider the case of Iodine-131 uptake (1mCi, injected)</a:t>
            </a:r>
          </a:p>
          <a:p>
            <a:pPr lvl="1"/>
            <a:r>
              <a:rPr lang="en-US" dirty="0"/>
              <a:t>I-131 tends to accumulate in the thyroid</a:t>
            </a:r>
          </a:p>
          <a:p>
            <a:pPr lvl="1"/>
            <a:r>
              <a:rPr lang="en-US" dirty="0"/>
              <a:t>Beta Particles travel a few mm at most in tissue</a:t>
            </a:r>
          </a:p>
          <a:p>
            <a:pPr lvl="1"/>
            <a:r>
              <a:rPr lang="en-US" dirty="0"/>
              <a:t>Thus, most energy is deposited in the thyroid </a:t>
            </a:r>
          </a:p>
          <a:p>
            <a:pPr marL="457189" lvl="1" indent="0">
              <a:buNone/>
            </a:pPr>
            <a:endParaRPr lang="en-US" dirty="0"/>
          </a:p>
          <a:p>
            <a:r>
              <a:rPr lang="en-US" dirty="0"/>
              <a:t>Does 777 rads to the thyroid behave like 777</a:t>
            </a:r>
          </a:p>
          <a:p>
            <a:pPr marL="0" indent="0">
              <a:buNone/>
            </a:pPr>
            <a:r>
              <a:rPr lang="en-US" dirty="0"/>
              <a:t>rads to another organ or the bone marrow?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A7351-7032-E1AB-9BE7-17807F7FD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444" y="1814512"/>
            <a:ext cx="3307556" cy="332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03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E50A-2E3F-E02D-AE88-4B5D4487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Rem: Effective Dose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1A4838-DB6E-D15B-C12B-C131FD6AA2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03862"/>
                <a:ext cx="8229600" cy="2914650"/>
              </a:xfrm>
            </p:spPr>
            <p:txBody>
              <a:bodyPr>
                <a:normAutofit/>
              </a:bodyPr>
              <a:lstStyle/>
              <a:p>
                <a:r>
                  <a:rPr lang="en-US" sz="2100" dirty="0"/>
                  <a:t>Relates individual tissue equivalent doses to risk, proportional to whole-body dose</a:t>
                </a:r>
              </a:p>
              <a:p>
                <a:pPr lvl="1"/>
                <a:r>
                  <a:rPr lang="en-US" sz="1700" dirty="0"/>
                  <a:t>Note the order of operations!</a:t>
                </a:r>
              </a:p>
              <a:p>
                <a:r>
                  <a:rPr lang="en-US" sz="2100" dirty="0"/>
                  <a:t>Effective dose is a sum over each tissue (W</a:t>
                </a:r>
                <a:r>
                  <a:rPr lang="en-US" sz="2100" baseline="-25000" dirty="0"/>
                  <a:t>T</a:t>
                </a:r>
                <a:r>
                  <a:rPr lang="en-US" sz="2100" dirty="0"/>
                  <a:t> = 1 for whole-body)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</a:rPr>
                        <m:t>𝐸𝑓𝑓𝑒𝑐𝑡𝑖𝑣𝑒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𝐷𝑜𝑠𝑒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)∗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1A4838-DB6E-D15B-C12B-C131FD6AA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03862"/>
                <a:ext cx="8229600" cy="2914650"/>
              </a:xfrm>
              <a:blipFill>
                <a:blip r:embed="rId2"/>
                <a:stretch>
                  <a:fillRect l="-741" t="-1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ECA854D-C1BE-6B93-655B-9BD22F2CD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531" y="3508773"/>
            <a:ext cx="5850938" cy="1610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D92960-34E7-817A-9E4D-173469CF4FFC}"/>
              </a:ext>
            </a:extLst>
          </p:cNvPr>
          <p:cNvSpPr txBox="1"/>
          <p:nvPr/>
        </p:nvSpPr>
        <p:spPr>
          <a:xfrm>
            <a:off x="176644" y="3933763"/>
            <a:ext cx="1425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US NRC</a:t>
            </a:r>
          </a:p>
          <a:p>
            <a:pPr algn="r"/>
            <a:r>
              <a:rPr lang="en-US" sz="1800" dirty="0"/>
              <a:t>10 CFR 20.1003 -&gt;</a:t>
            </a:r>
          </a:p>
        </p:txBody>
      </p:sp>
    </p:spTree>
    <p:extLst>
      <p:ext uri="{BB962C8B-B14F-4D97-AF65-F5344CB8AC3E}">
        <p14:creationId xmlns:p14="http://schemas.microsoft.com/office/powerpoint/2010/main" val="3098478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4DED-742B-34C7-0BAF-765670A0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Intro to Internal Dosimetry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E16D-C652-095B-D1AC-D5050E41D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 far, we have dealt with radiation that originates from outside the body</a:t>
            </a:r>
          </a:p>
          <a:p>
            <a:r>
              <a:rPr lang="en-US" dirty="0"/>
              <a:t>What happens if you were to eat/inhale a radioactive source?</a:t>
            </a:r>
          </a:p>
          <a:p>
            <a:pPr lvl="1"/>
            <a:r>
              <a:rPr lang="en-US" dirty="0"/>
              <a:t>Contaminated crops/milk</a:t>
            </a:r>
          </a:p>
          <a:p>
            <a:pPr lvl="1"/>
            <a:r>
              <a:rPr lang="en-US" dirty="0"/>
              <a:t>Inhalation of radioactive particles/gases</a:t>
            </a:r>
          </a:p>
        </p:txBody>
      </p:sp>
    </p:spTree>
    <p:extLst>
      <p:ext uri="{BB962C8B-B14F-4D97-AF65-F5344CB8AC3E}">
        <p14:creationId xmlns:p14="http://schemas.microsoft.com/office/powerpoint/2010/main" val="3010227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erson standing in a field&#10;&#10;Description automatically generated">
            <a:extLst>
              <a:ext uri="{FF2B5EF4-FFF2-40B4-BE49-F238E27FC236}">
                <a16:creationId xmlns:a16="http://schemas.microsoft.com/office/drawing/2014/main" id="{53B86391-AA93-716C-5114-4A9691DEE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4" b="5931"/>
          <a:stretch/>
        </p:blipFill>
        <p:spPr>
          <a:xfrm>
            <a:off x="914400" y="590550"/>
            <a:ext cx="7010400" cy="44617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3614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C15E-2F72-3284-C2C0-281525D5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77478"/>
            <a:ext cx="8839200" cy="85725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Uptake of Radiological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66DD4-6F90-1A55-3E93-74A4E8F0E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09750"/>
            <a:ext cx="7620000" cy="291465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The body may uptake inhaled or consumed radiological material</a:t>
            </a:r>
          </a:p>
          <a:p>
            <a:pPr lvl="1"/>
            <a:r>
              <a:rPr lang="en-US" sz="1800" dirty="0"/>
              <a:t>Depending on chemical properties, the body may incorporate this material into tissue</a:t>
            </a:r>
          </a:p>
          <a:p>
            <a:r>
              <a:rPr lang="en-US" sz="2000" dirty="0"/>
              <a:t>For long half-life radionuclides, this may result in being dosed for decades</a:t>
            </a:r>
          </a:p>
          <a:p>
            <a:pPr lvl="1"/>
            <a:r>
              <a:rPr lang="en-US" sz="1800" dirty="0"/>
              <a:t>E.g. </a:t>
            </a:r>
            <a:r>
              <a:rPr lang="en-US" sz="1800" baseline="30000" dirty="0"/>
              <a:t>137</a:t>
            </a:r>
            <a:r>
              <a:rPr lang="en-US" sz="1800" dirty="0"/>
              <a:t>Cs incorporated into bones</a:t>
            </a:r>
          </a:p>
          <a:p>
            <a:r>
              <a:rPr lang="en-US" sz="2000" dirty="0"/>
              <a:t>However, if the body rapidly uses and excretes the material, the radiological half-life may not matter</a:t>
            </a:r>
          </a:p>
          <a:p>
            <a:pPr lvl="1"/>
            <a:r>
              <a:rPr lang="en-US" sz="1800" baseline="30000" dirty="0"/>
              <a:t>3</a:t>
            </a:r>
            <a:r>
              <a:rPr lang="en-US" sz="1800" dirty="0"/>
              <a:t>H has a 12-year half-life, but body concentrations of tritium are halved in 10 days</a:t>
            </a:r>
          </a:p>
          <a:p>
            <a:r>
              <a:rPr lang="en-US" sz="2000" dirty="0"/>
              <a:t>This turnover in material is referred to as </a:t>
            </a:r>
            <a:r>
              <a:rPr lang="en-US" sz="2000" u="sng" dirty="0"/>
              <a:t>Biological Half-Life</a:t>
            </a:r>
          </a:p>
        </p:txBody>
      </p:sp>
    </p:spTree>
    <p:extLst>
      <p:ext uri="{BB962C8B-B14F-4D97-AF65-F5344CB8AC3E}">
        <p14:creationId xmlns:p14="http://schemas.microsoft.com/office/powerpoint/2010/main" val="1012182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22DE-6F29-7A2E-8BF1-D4BEB960E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Internal Dosimetry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DA12-37F9-BD84-1DC3-714A9AF8A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Very complicated relations exist to calculate this from first principles</a:t>
                </a:r>
              </a:p>
              <a:p>
                <a:r>
                  <a:rPr lang="en-US" dirty="0"/>
                  <a:t>Luckily for us, smart people compiled conversion factors (h) for us so we can just use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Bq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Sv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Bq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Where E</a:t>
                </a:r>
                <a:r>
                  <a:rPr lang="en-US" baseline="-25000" dirty="0"/>
                  <a:t>T</a:t>
                </a:r>
                <a:r>
                  <a:rPr lang="en-US" dirty="0"/>
                  <a:t> is the effective dose, A is the </a:t>
                </a:r>
                <a:r>
                  <a:rPr lang="en-US" u="sng" dirty="0" err="1"/>
                  <a:t>intaken</a:t>
                </a:r>
                <a:r>
                  <a:rPr lang="en-US" u="sng" dirty="0"/>
                  <a:t> activity</a:t>
                </a:r>
                <a:r>
                  <a:rPr lang="en-US" dirty="0"/>
                  <a:t>, and h is the dose conversion factor.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means of calculating A will vary, but should be intuitive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DA12-37F9-BD84-1DC3-714A9AF8A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3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463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4026-5371-A44E-F1FC-DE32A0E7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Sample Internal Dosimetry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466F1D-6ADA-6D8E-1A13-533654AAA0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34728"/>
                <a:ext cx="8229600" cy="2914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Consider a worker performing an 8-hour shift in an atmosphere contaminated with </a:t>
                </a:r>
                <a:r>
                  <a:rPr lang="en-US" sz="2800" baseline="30000" dirty="0"/>
                  <a:t>137</a:t>
                </a:r>
                <a:r>
                  <a:rPr lang="en-US" sz="2800" dirty="0"/>
                  <a:t>Cs at a concentration (C)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𝑘𝐵𝑞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Assume a working breathing rate (R) of 1.2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h𝑟</m:t>
                        </m:r>
                      </m:den>
                    </m:f>
                  </m:oMath>
                </a14:m>
                <a:r>
                  <a:rPr lang="en-US" sz="2800" dirty="0"/>
                  <a:t> and a dose conversion factor as given below. What is the dose to the worker by the end of the shift?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466F1D-6ADA-6D8E-1A13-533654AAA0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34728"/>
                <a:ext cx="8229600" cy="2914650"/>
              </a:xfrm>
              <a:blipFill>
                <a:blip r:embed="rId2"/>
                <a:stretch>
                  <a:fillRect l="-1481" t="-1883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8EA00AB3-3B7A-A497-A208-C6E067482D5E}"/>
              </a:ext>
            </a:extLst>
          </p:cNvPr>
          <p:cNvGrpSpPr/>
          <p:nvPr/>
        </p:nvGrpSpPr>
        <p:grpSpPr>
          <a:xfrm>
            <a:off x="942841" y="4324350"/>
            <a:ext cx="7258318" cy="719190"/>
            <a:chOff x="723363" y="4331494"/>
            <a:chExt cx="7697274" cy="75258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A9CB3F-DFB6-978E-9A05-33F89A180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3363" y="4331494"/>
              <a:ext cx="7697274" cy="55252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76BEF9-9BA7-E330-DDAA-84724BCA0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021" y="4884021"/>
              <a:ext cx="7401958" cy="200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12297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5B54-DD8E-48F6-2525-10B960845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Sample Internal Dosimetry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F99D8-0492-588E-5402-8E27A3DDD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𝑔𝑖𝑣𝑒𝑛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=1.2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=2,000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𝐵𝑞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=1.35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𝑆𝑣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𝐵𝑞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=8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h𝑜𝑢𝑟𝑠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F99D8-0492-588E-5402-8E27A3DDD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F0C3148-301E-B6BA-5024-28BCDF9485E2}"/>
              </a:ext>
            </a:extLst>
          </p:cNvPr>
          <p:cNvSpPr/>
          <p:nvPr/>
        </p:nvSpPr>
        <p:spPr>
          <a:xfrm>
            <a:off x="685800" y="2724150"/>
            <a:ext cx="7772400" cy="1962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38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BC242E-2F7C-BF8F-349B-0FD9117FA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𝑖𝑛𝑡𝑢𝑖𝑡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=2,000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𝐵𝑞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∗1.2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∗8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h𝑟𝑠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=19,200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𝐵𝑞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𝐷𝑜𝑠𝑒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=19,200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∗1.35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8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𝑆𝑣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𝟓𝟗𝟐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m:rPr>
                          <m:nor/>
                        </m:rPr>
                        <a:rPr lang="en-US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BC242E-2F7C-BF8F-349B-0FD9117FA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F84DDADE-930B-CB8E-3F35-69E32BEC1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7875"/>
            <a:ext cx="8229600" cy="85725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Sample Internal Dosimetry Calculation</a:t>
            </a:r>
          </a:p>
        </p:txBody>
      </p:sp>
    </p:spTree>
    <p:extLst>
      <p:ext uri="{BB962C8B-B14F-4D97-AF65-F5344CB8AC3E}">
        <p14:creationId xmlns:p14="http://schemas.microsoft.com/office/powerpoint/2010/main" val="15356371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9102-EF01-2002-3CE6-300B49C3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77478"/>
            <a:ext cx="8534400" cy="857250"/>
          </a:xfrm>
        </p:spPr>
        <p:txBody>
          <a:bodyPr>
            <a:noAutofit/>
          </a:bodyPr>
          <a:lstStyle/>
          <a:p>
            <a:r>
              <a:rPr lang="en-US" sz="2800" dirty="0"/>
              <a:t>Some symbols in external dosimetry &amp; typical units: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1A6BC8-9B1E-0588-1E6C-9EFF02F39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71650"/>
                <a:ext cx="8229600" cy="3238500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– flux, particles/(cm</a:t>
                </a:r>
                <a:r>
                  <a:rPr lang="en-US" baseline="30000" dirty="0"/>
                  <a:t>2</a:t>
                </a:r>
                <a:r>
                  <a:rPr lang="en-US" dirty="0"/>
                  <a:t>*s)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- density, g/cm</a:t>
                </a:r>
                <a:r>
                  <a:rPr lang="en-US" baseline="30000" dirty="0"/>
                  <a:t>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</m:sub>
                    </m:sSub>
                  </m:oMath>
                </a14:m>
                <a:r>
                  <a:rPr lang="en-US" b="0" dirty="0"/>
                  <a:t> - “Mass energy-absorption coefficient”,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</m:oMath>
                </a14:m>
                <a:r>
                  <a:rPr lang="en-US" b="0" dirty="0"/>
                  <a:t> (Abs. Dose)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</m:t>
                        </m:r>
                      </m:sub>
                    </m:sSub>
                  </m:oMath>
                </a14:m>
                <a:r>
                  <a:rPr lang="en-US" dirty="0"/>
                  <a:t> - “Mass energy-transfer coefficient”,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Kerma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E – Energy, MeV</a:t>
                </a:r>
              </a:p>
              <a:p>
                <a:r>
                  <a:rPr lang="en-US" dirty="0"/>
                  <a:t>m – mass, g</a:t>
                </a:r>
              </a:p>
              <a:p>
                <a:r>
                  <a:rPr lang="en-US" i="1" dirty="0"/>
                  <a:t>X, D, K</a:t>
                </a:r>
                <a:r>
                  <a:rPr lang="en-US" dirty="0"/>
                  <a:t>: </a:t>
                </a:r>
                <a:r>
                  <a:rPr lang="en-US" dirty="0" err="1"/>
                  <a:t>e</a:t>
                </a:r>
                <a:r>
                  <a:rPr lang="en-US" u="sng" dirty="0" err="1"/>
                  <a:t>X</a:t>
                </a:r>
                <a:r>
                  <a:rPr lang="en-US" dirty="0" err="1"/>
                  <a:t>posure</a:t>
                </a:r>
                <a:r>
                  <a:rPr lang="en-US" dirty="0"/>
                  <a:t>, absorbed </a:t>
                </a:r>
                <a:r>
                  <a:rPr lang="en-US" u="sng" dirty="0"/>
                  <a:t>D</a:t>
                </a:r>
                <a:r>
                  <a:rPr lang="en-US" dirty="0"/>
                  <a:t>ose, </a:t>
                </a:r>
                <a:r>
                  <a:rPr lang="en-US" u="sng" dirty="0" err="1"/>
                  <a:t>K</a:t>
                </a:r>
                <a:r>
                  <a:rPr lang="en-US" dirty="0" err="1"/>
                  <a:t>erma</a:t>
                </a:r>
                <a:r>
                  <a:rPr lang="en-US" dirty="0"/>
                  <a:t>; respectively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1A6BC8-9B1E-0588-1E6C-9EFF02F39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71650"/>
                <a:ext cx="8229600" cy="3238500"/>
              </a:xfrm>
              <a:blipFill>
                <a:blip r:embed="rId3"/>
                <a:stretch>
                  <a:fillRect l="-1037" t="-3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934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BD13A-52BC-E7A0-088E-5952ED98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Symbols in Internal Dosimetry &amp; Typical Units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59FA7-D2EF-7E53-3F66-F631A4478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 – Concentration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𝐵𝑞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 – Respiratory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 – Dose Conversion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𝑆𝑣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𝐵𝑞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59FA7-D2EF-7E53-3F66-F631A4478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2721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5.0"/>
  <p:tag name="EDITION" val="Meetoo"/>
  <p:tag name="PRESGUID" val="e8ddd653-cc65-49fa-8f0a-a05666612612"/>
</p:tagLst>
</file>

<file path=ppt/theme/theme1.xml><?xml version="1.0" encoding="utf-8"?>
<a:theme xmlns:a="http://schemas.openxmlformats.org/drawingml/2006/main" name="16-9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E2E895-2CE0-47F8-8609-D90C4B6A8C5B}">
  <we:reference id="wa200004709" version="1.1.0.2" store="en-US" storeType="OMEX"/>
  <we:alternateReferences>
    <we:reference id="wa200004709" version="1.1.0.2" store="wa20000470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5b2dede-e509-4e41-a688-b4c93d1fdf7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68F3F6E1860B43AFE91F618B850E6E" ma:contentTypeVersion="16" ma:contentTypeDescription="Create a new document." ma:contentTypeScope="" ma:versionID="d769e6f60f23dcf9a507e277e6b041ec">
  <xsd:schema xmlns:xsd="http://www.w3.org/2001/XMLSchema" xmlns:xs="http://www.w3.org/2001/XMLSchema" xmlns:p="http://schemas.microsoft.com/office/2006/metadata/properties" xmlns:ns3="15b2dede-e509-4e41-a688-b4c93d1fdf7c" xmlns:ns4="2497699f-d855-4c28-99c8-3712ad65fb71" targetNamespace="http://schemas.microsoft.com/office/2006/metadata/properties" ma:root="true" ma:fieldsID="b99a6b3685808c9bcbe760a06c622c2a" ns3:_="" ns4:_="">
    <xsd:import namespace="15b2dede-e509-4e41-a688-b4c93d1fdf7c"/>
    <xsd:import namespace="2497699f-d855-4c28-99c8-3712ad65fb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b2dede-e509-4e41-a688-b4c93d1fd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97699f-d855-4c28-99c8-3712ad65fb7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5EF7C7-9241-4FBC-A537-053F899505B0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2497699f-d855-4c28-99c8-3712ad65fb71"/>
    <ds:schemaRef ds:uri="15b2dede-e509-4e41-a688-b4c93d1fdf7c"/>
  </ds:schemaRefs>
</ds:datastoreItem>
</file>

<file path=customXml/itemProps2.xml><?xml version="1.0" encoding="utf-8"?>
<ds:datastoreItem xmlns:ds="http://schemas.openxmlformats.org/officeDocument/2006/customXml" ds:itemID="{E1F9983D-52B3-4B42-AE3D-5B27FBA3AD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b2dede-e509-4e41-a688-b4c93d1fdf7c"/>
    <ds:schemaRef ds:uri="2497699f-d855-4c28-99c8-3712ad65fb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F76296-139A-40C4-9480-303858B2F1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12450</TotalTime>
  <Words>2908</Words>
  <Application>Microsoft Office PowerPoint</Application>
  <PresentationFormat>On-screen Show (16:9)</PresentationFormat>
  <Paragraphs>358</Paragraphs>
  <Slides>47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Arial</vt:lpstr>
      <vt:lpstr>Arial Black</vt:lpstr>
      <vt:lpstr>Calibri</vt:lpstr>
      <vt:lpstr>Cambria Math</vt:lpstr>
      <vt:lpstr>Times New Roman</vt:lpstr>
      <vt:lpstr>Wingdings</vt:lpstr>
      <vt:lpstr>Wingdings 2</vt:lpstr>
      <vt:lpstr>16-9 Cover</vt:lpstr>
      <vt:lpstr>16-9 Light Background</vt:lpstr>
      <vt:lpstr>16-9 White Backgroud</vt:lpstr>
      <vt:lpstr>The Roentgen, the Rad, and the Rem</vt:lpstr>
      <vt:lpstr>Learning Objectives:</vt:lpstr>
      <vt:lpstr>Dosimetry Definition</vt:lpstr>
      <vt:lpstr>Historical Units</vt:lpstr>
      <vt:lpstr>Principle of Initial Radiation Standards</vt:lpstr>
      <vt:lpstr>The Modern Approach</vt:lpstr>
      <vt:lpstr>Dosimetry Concepts and Units</vt:lpstr>
      <vt:lpstr>PowerPoint Presentation</vt:lpstr>
      <vt:lpstr>Absorbed Dose</vt:lpstr>
      <vt:lpstr>PowerPoint Presentation</vt:lpstr>
      <vt:lpstr>Absorbed Dose Units </vt:lpstr>
      <vt:lpstr>Absorbed Dose from Flux</vt:lpstr>
      <vt:lpstr>Consider a 0.3 MeV gamma ray beam with a photon flux of 1000 photons/cm2/s.  Given the absorbed dose rate equation from earlier and (μ_en/ρ)_tissue^300keV=3.164E"-" 2 ((cm^2 ))/g, what is what is the absorbed dose rate for soft tissue?    </vt:lpstr>
      <vt:lpstr>First Principles Absorbed Dose Solution</vt:lpstr>
      <vt:lpstr>Exposure</vt:lpstr>
      <vt:lpstr>PowerPoint Presentation</vt:lpstr>
      <vt:lpstr>Exposure Units</vt:lpstr>
      <vt:lpstr>Measuring Exposure</vt:lpstr>
      <vt:lpstr>Exposure to Air Dose</vt:lpstr>
      <vt:lpstr>Exposure to Air Dose</vt:lpstr>
      <vt:lpstr>Exposure to Material Dose: Comparative Method</vt:lpstr>
      <vt:lpstr>Comparative Method Example</vt:lpstr>
      <vt:lpstr>PowerPoint Presentation</vt:lpstr>
      <vt:lpstr>Comparative Method Solution</vt:lpstr>
      <vt:lpstr>Consider a 0.3 MeV gamma ray beam with a photon flux of 1000 photons/cm2/s. Environmental conditions are STP.  Given the absorbed dose rate equation from earlier and the exposure-to-dose ratio for tissue and air, what is the exposure rate at a point in this beam and what is the absorbed dose rate for soft tissue?  You can look at NIST’s online database, which will tell you that   (μ_en/ρ)_tissue^300keV=3.164E"-" 2 ((cm^2 ))/g; and (μ_en/ρ)_air^(300 keV)=2.872E"-" 02 ((cm^2 ))/g   </vt:lpstr>
      <vt:lpstr>First Principles Exposure Calculation</vt:lpstr>
      <vt:lpstr>First Principles Exposure Calculation</vt:lpstr>
      <vt:lpstr>First Principles Exposure Calculation</vt:lpstr>
      <vt:lpstr>PowerPoint Presentation</vt:lpstr>
      <vt:lpstr>Kerma –  Kinetic Energy Released Per Unit Mass</vt:lpstr>
      <vt:lpstr>Kerma Example Problem</vt:lpstr>
      <vt:lpstr>Answer</vt:lpstr>
      <vt:lpstr>Answer</vt:lpstr>
      <vt:lpstr>The Rem: Biological Effect</vt:lpstr>
      <vt:lpstr>PowerPoint Presentation</vt:lpstr>
      <vt:lpstr>The Rem as Equivalent Dose</vt:lpstr>
      <vt:lpstr>The Rem as Effective Dose</vt:lpstr>
      <vt:lpstr>The Rem: Effective Dose</vt:lpstr>
      <vt:lpstr>Intro to Internal Dosimetry</vt:lpstr>
      <vt:lpstr>PowerPoint Presentation</vt:lpstr>
      <vt:lpstr>Uptake of Radiological Material</vt:lpstr>
      <vt:lpstr>Internal Dosimetry Calculations</vt:lpstr>
      <vt:lpstr>Sample Internal Dosimetry Calculation</vt:lpstr>
      <vt:lpstr>Sample Internal Dosimetry Calculation</vt:lpstr>
      <vt:lpstr>Sample Internal Dosimetry Calculation</vt:lpstr>
      <vt:lpstr>Some symbols in external dosimetry &amp; typical units:</vt:lpstr>
      <vt:lpstr>Symbols in Internal Dosimetry &amp; Typical Units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Landsberger, Sheldon</cp:lastModifiedBy>
  <cp:revision>469</cp:revision>
  <cp:lastPrinted>2011-01-24T02:49:42Z</cp:lastPrinted>
  <dcterms:created xsi:type="dcterms:W3CDTF">2011-06-30T15:04:08Z</dcterms:created>
  <dcterms:modified xsi:type="dcterms:W3CDTF">2024-10-31T02:29:48Z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0x0101005A68F3F6E1860B43AFE91F618B850E6E</vt:lpwstr>
  </property>
</Properties>
</file>