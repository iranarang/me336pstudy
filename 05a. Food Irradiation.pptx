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4" r:id="rId1"/>
  </p:sldMasterIdLst>
  <p:notesMasterIdLst>
    <p:notesMasterId r:id="rId52"/>
  </p:notesMasterIdLst>
  <p:sldIdLst>
    <p:sldId id="256" r:id="rId2"/>
    <p:sldId id="325" r:id="rId3"/>
    <p:sldId id="326" r:id="rId4"/>
    <p:sldId id="327" r:id="rId5"/>
    <p:sldId id="304" r:id="rId6"/>
    <p:sldId id="305" r:id="rId7"/>
    <p:sldId id="306" r:id="rId8"/>
    <p:sldId id="257" r:id="rId9"/>
    <p:sldId id="258" r:id="rId10"/>
    <p:sldId id="289" r:id="rId11"/>
    <p:sldId id="308" r:id="rId12"/>
    <p:sldId id="309" r:id="rId13"/>
    <p:sldId id="310" r:id="rId14"/>
    <p:sldId id="259" r:id="rId15"/>
    <p:sldId id="268" r:id="rId16"/>
    <p:sldId id="315" r:id="rId17"/>
    <p:sldId id="316" r:id="rId18"/>
    <p:sldId id="317" r:id="rId19"/>
    <p:sldId id="318" r:id="rId20"/>
    <p:sldId id="319" r:id="rId21"/>
    <p:sldId id="294" r:id="rId22"/>
    <p:sldId id="293" r:id="rId23"/>
    <p:sldId id="292" r:id="rId24"/>
    <p:sldId id="270" r:id="rId25"/>
    <p:sldId id="290" r:id="rId26"/>
    <p:sldId id="274" r:id="rId27"/>
    <p:sldId id="277" r:id="rId28"/>
    <p:sldId id="262" r:id="rId29"/>
    <p:sldId id="291" r:id="rId30"/>
    <p:sldId id="263" r:id="rId31"/>
    <p:sldId id="313" r:id="rId32"/>
    <p:sldId id="278" r:id="rId33"/>
    <p:sldId id="264" r:id="rId34"/>
    <p:sldId id="295" r:id="rId35"/>
    <p:sldId id="283" r:id="rId36"/>
    <p:sldId id="296" r:id="rId37"/>
    <p:sldId id="286" r:id="rId38"/>
    <p:sldId id="298" r:id="rId39"/>
    <p:sldId id="297" r:id="rId40"/>
    <p:sldId id="288" r:id="rId41"/>
    <p:sldId id="299" r:id="rId42"/>
    <p:sldId id="307" r:id="rId43"/>
    <p:sldId id="323" r:id="rId44"/>
    <p:sldId id="324" r:id="rId45"/>
    <p:sldId id="311" r:id="rId46"/>
    <p:sldId id="312" r:id="rId47"/>
    <p:sldId id="314" r:id="rId48"/>
    <p:sldId id="320" r:id="rId49"/>
    <p:sldId id="321" r:id="rId50"/>
    <p:sldId id="301"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660066"/>
    <a:srgbClr val="F8CD14"/>
    <a:srgbClr val="A50021"/>
    <a:srgbClr val="FFCC66"/>
    <a:srgbClr val="006600"/>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91" autoAdjust="0"/>
    <p:restoredTop sz="94624" autoAdjust="0"/>
  </p:normalViewPr>
  <p:slideViewPr>
    <p:cSldViewPr>
      <p:cViewPr>
        <p:scale>
          <a:sx n="75" d="100"/>
          <a:sy n="75" d="100"/>
        </p:scale>
        <p:origin x="72" y="366"/>
      </p:cViewPr>
      <p:guideLst>
        <p:guide orient="horz" pos="2160"/>
        <p:guide pos="2880"/>
      </p:guideLst>
    </p:cSldViewPr>
  </p:slideViewPr>
  <p:outlineViewPr>
    <p:cViewPr>
      <p:scale>
        <a:sx n="33" d="100"/>
        <a:sy n="33" d="100"/>
      </p:scale>
      <p:origin x="0" y="1554"/>
    </p:cViewPr>
  </p:outlineViewPr>
  <p:notesTextViewPr>
    <p:cViewPr>
      <p:scale>
        <a:sx n="100" d="100"/>
        <a:sy n="100" d="100"/>
      </p:scale>
      <p:origin x="0" y="0"/>
    </p:cViewPr>
  </p:notesTextViewPr>
  <p:sorterViewPr>
    <p:cViewPr>
      <p:scale>
        <a:sx n="66" d="100"/>
        <a:sy n="66" d="100"/>
      </p:scale>
      <p:origin x="0" y="96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7577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578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578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7578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BCA48992-BB55-497E-9F5E-7E27FABC0B8C}" type="slidenum">
              <a:rPr lang="en-US"/>
              <a:pPr>
                <a:defRPr/>
              </a:pPr>
              <a:t>‹#›</a:t>
            </a:fld>
            <a:endParaRPr lang="en-US"/>
          </a:p>
        </p:txBody>
      </p:sp>
    </p:spTree>
    <p:extLst>
      <p:ext uri="{BB962C8B-B14F-4D97-AF65-F5344CB8AC3E}">
        <p14:creationId xmlns:p14="http://schemas.microsoft.com/office/powerpoint/2010/main" val="38737525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8AC6AC08-3CA8-49A9-BAEA-0A755F68C2CF}" type="slidenum">
              <a:rPr lang="en-US" smtClean="0"/>
              <a:pPr/>
              <a:t>1</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3F4FAFA-E986-4374-99CB-949A9EC7C176}" type="slidenum">
              <a:rPr lang="en-US" smtClean="0"/>
              <a:pPr/>
              <a:t>8</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B0CDA16D-9460-479F-B8CA-9B6E5936E88E}" type="slidenum">
              <a:rPr lang="en-US" smtClean="0"/>
              <a:pPr/>
              <a:t>9</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B0635DA1-9ACF-4119-B61E-C4415B56F0D9}" type="slidenum">
              <a:rPr lang="en-US" smtClean="0"/>
              <a:pPr/>
              <a:t>14</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029A514-2EFC-4CE9-91BB-9412819FB7D6}" type="slidenum">
              <a:rPr lang="en-US" smtClean="0"/>
              <a:pPr/>
              <a:t>15</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ADC7967A-E33A-4909-A55A-43311D35848A}" type="slidenum">
              <a:rPr lang="en-US" smtClean="0"/>
              <a:pPr/>
              <a:t>24</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1B2E6B03-E1B1-4188-9904-07FC8EF89E59}" type="slidenum">
              <a:rPr lang="en-US" smtClean="0"/>
              <a:pPr/>
              <a:t>26</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D06FE53B-A610-439C-831A-8C09157329CE}" type="slidenum">
              <a:rPr lang="en-US" smtClean="0"/>
              <a:pPr/>
              <a:t>27</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CF3A2117-7F07-4F90-9DF7-A35B9E2D2384}" type="slidenum">
              <a:rPr lang="en-US" smtClean="0"/>
              <a:pPr/>
              <a:t>28</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1798D173-F6FB-43D2-92FC-6CA9542C7EB0}" type="slidenum">
              <a:rPr lang="en-US" smtClean="0"/>
              <a:pPr/>
              <a:t>30</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7F961B9-6553-41AE-830A-94DA9BF5EE39}" type="slidenum">
              <a:rPr lang="en-US" smtClean="0"/>
              <a:pPr/>
              <a:t>32</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8D8AB3B9-3419-4B8C-BE93-2BBA177D0998}" type="slidenum">
              <a:rPr lang="en-US" smtClean="0"/>
              <a:pPr/>
              <a:t>33</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04C5A32-93D8-4B2E-A12D-16272FFE4CF8}" type="slidenum">
              <a:rPr lang="en-US" smtClean="0"/>
              <a:pPr/>
              <a:t>35</a:t>
            </a:fld>
            <a:endParaRPr lang="en-US"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FBD5D65-4F97-48B6-95A2-4ADAD24FA890}" type="slidenum">
              <a:rPr lang="en-US" smtClean="0"/>
              <a:pPr/>
              <a:t>37</a:t>
            </a:fld>
            <a:endParaRPr lang="en-US"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952908C-115A-4F51-9FEA-1BB26DACAB99}" type="slidenum">
              <a:rPr lang="en-US" smtClean="0"/>
              <a:pPr/>
              <a:t>40</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78757CB-9D93-487A-96C2-9FEE9F99CFDF}" type="datetimeFigureOut">
              <a:rPr lang="en-US"/>
              <a:pPr>
                <a:defRPr/>
              </a:pPr>
              <a:t>6/13/2017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3DFFB-407F-4FF0-9E28-880B1FE5FFD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0178705-7FB6-4620-AC3A-FA08D993663E}" type="datetimeFigureOut">
              <a:rPr lang="en-US"/>
              <a:pPr>
                <a:defRPr/>
              </a:pPr>
              <a:t>6/13/2017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6055793-0151-408C-B9E3-79A58D17189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86E5637A-4E66-474B-A585-D1B27867A16E}" type="datetimeFigureOut">
              <a:rPr lang="en-US"/>
              <a:pPr>
                <a:defRPr/>
              </a:pPr>
              <a:t>6/13/2017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298BDF2-6672-499B-8712-31482109BE3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A067580-CFC0-4A6B-8C8F-5BE682A3A555}" type="datetimeFigureOut">
              <a:rPr lang="en-US"/>
              <a:pPr>
                <a:defRPr/>
              </a:pPr>
              <a:t>6/13/2017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1BF3B22-9BED-44D9-AE5B-D36BF9C5969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080392B1-50D5-4D75-8C0E-47B05FF7CB58}" type="datetimeFigureOut">
              <a:rPr lang="en-US"/>
              <a:pPr>
                <a:defRPr/>
              </a:pPr>
              <a:t>6/13/2017</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4662D5A-E8BA-4111-98A3-7A78B48E5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6EA4934-FF80-4D8D-8834-EBECE3671EF4}" type="datetimeFigureOut">
              <a:rPr lang="en-US"/>
              <a:pPr>
                <a:defRPr/>
              </a:pPr>
              <a:t>6/13/2017</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CCEAC77-FE70-4348-8CBE-5D350EE7809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DFEA42-EC24-442E-876B-9DFA9883B2D2}" type="datetimeFigureOut">
              <a:rPr lang="en-US"/>
              <a:pPr>
                <a:defRPr/>
              </a:pPr>
              <a:t>6/13/2017</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94A7486-361F-4839-BB87-C85297F660D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1DD666F-C7BF-45F3-AFFD-E82520CDCCB1}" type="datetimeFigureOut">
              <a:rPr lang="en-US"/>
              <a:pPr>
                <a:defRPr/>
              </a:pPr>
              <a:t>6/13/2017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868209A-5666-421D-B424-0E5EA6E4BCC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8F58A01-31C1-42ED-B3B1-864172B4E9D4}" type="datetimeFigureOut">
              <a:rPr lang="en-US"/>
              <a:pPr>
                <a:defRPr/>
              </a:pPr>
              <a:t>6/13/2017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137B278-3E4B-4FA3-A2BD-C5EDD052930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CF4D9D1-3B9A-46B6-BB3E-A6E02858BA4E}" type="datetimeFigureOut">
              <a:rPr lang="en-US"/>
              <a:pPr>
                <a:defRPr/>
              </a:pPr>
              <a:t>6/13/2017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FE3C39E-DB16-47C9-A085-3029B11F15F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799335F-50F8-461C-93F6-D5B6670EBF22}" type="datetimeFigureOut">
              <a:rPr lang="en-US"/>
              <a:pPr>
                <a:defRPr/>
              </a:pPr>
              <a:t>6/13/2017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4ACC07-BB2C-4D33-8EDA-819DDF8A13F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304800"/>
            <a:ext cx="7848600" cy="579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fld id="{595B9468-0C03-4F5B-B14A-61B499C21365}" type="datetimeFigureOut">
              <a:rPr lang="en-US"/>
              <a:pPr>
                <a:defRPr/>
              </a:pPr>
              <a:t>6/13/2017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itchFamily="18" charset="0"/>
              </a:defRPr>
            </a:lvl1pPr>
          </a:lstStyle>
          <a:p>
            <a:pPr>
              <a:defRPr/>
            </a:pPr>
            <a:fld id="{FE1B20B5-78FC-4943-9E76-C9832344F8C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5" r:id="rId1"/>
    <p:sldLayoutId id="2147483814" r:id="rId2"/>
    <p:sldLayoutId id="2147483813" r:id="rId3"/>
    <p:sldLayoutId id="2147483812" r:id="rId4"/>
    <p:sldLayoutId id="2147483811" r:id="rId5"/>
    <p:sldLayoutId id="2147483810" r:id="rId6"/>
    <p:sldLayoutId id="2147483809" r:id="rId7"/>
    <p:sldLayoutId id="2147483808" r:id="rId8"/>
    <p:sldLayoutId id="2147483807" r:id="rId9"/>
    <p:sldLayoutId id="2147483806" r:id="rId10"/>
    <p:sldLayoutId id="2147483805" r:id="rId11"/>
    <p:sldLayoutId id="214748381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7"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3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hyperlink" Target="http://www.thenaturalhairtutor.com/wp-content/uploads/2011/10/pros-vs-cons.jpg"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hyperlink" Target="http://www.cdc.gov/ncidod/dbmd/diseaseinfo/foodirradiation.htm" TargetMode="External"/><Relationship Id="rId2" Type="http://schemas.openxmlformats.org/officeDocument/2006/relationships/hyperlink" Target="http://www.youtube.com/watch?v=S5q1XkG0Rk4" TargetMode="External"/><Relationship Id="rId1" Type="http://schemas.openxmlformats.org/officeDocument/2006/relationships/slideLayout" Target="../slideLayouts/slideLayout7.xml"/><Relationship Id="rId6" Type="http://schemas.openxmlformats.org/officeDocument/2006/relationships/hyperlink" Target="http://www.wholefoodsmarket.com/products/irradiation.php" TargetMode="External"/><Relationship Id="rId5" Type="http://schemas.openxmlformats.org/officeDocument/2006/relationships/hyperlink" Target="http://www.mnbeef.org/foodirradiation.aspx" TargetMode="External"/><Relationship Id="rId4" Type="http://schemas.openxmlformats.org/officeDocument/2006/relationships/hyperlink" Target="http://www.fipa.us/q&amp;a.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685800" y="381000"/>
            <a:ext cx="7772400" cy="1143000"/>
          </a:xfrm>
        </p:spPr>
        <p:txBody>
          <a:bodyPr rtlCol="0">
            <a:normAutofit fontScale="90000"/>
          </a:bodyPr>
          <a:lstStyle/>
          <a:p>
            <a:pPr eaLnBrk="1" fontAlgn="auto" hangingPunct="1">
              <a:spcAft>
                <a:spcPts val="0"/>
              </a:spcAft>
              <a:defRPr/>
            </a:pPr>
            <a:r>
              <a:rPr lang="en-US" b="1" dirty="0" smtClean="0">
                <a:latin typeface="Tahoma" pitchFamily="34" charset="0"/>
              </a:rPr>
              <a:t>FOOD IRRADIATION PROCESSING</a:t>
            </a:r>
            <a:endParaRPr lang="en-US" b="1" dirty="0" smtClean="0"/>
          </a:p>
        </p:txBody>
      </p:sp>
      <p:pic>
        <p:nvPicPr>
          <p:cNvPr id="6149" name="Picture 5" descr="nukefood"/>
          <p:cNvPicPr>
            <a:picLocks noChangeAspect="1" noChangeArrowheads="1"/>
          </p:cNvPicPr>
          <p:nvPr/>
        </p:nvPicPr>
        <p:blipFill>
          <a:blip r:embed="rId3" cstate="print"/>
          <a:srcRect/>
          <a:stretch>
            <a:fillRect/>
          </a:stretch>
        </p:blipFill>
        <p:spPr bwMode="auto">
          <a:xfrm>
            <a:off x="381000" y="4343400"/>
            <a:ext cx="3084513" cy="2336800"/>
          </a:xfrm>
          <a:prstGeom prst="rect">
            <a:avLst/>
          </a:prstGeom>
          <a:noFill/>
          <a:ln w="9525">
            <a:noFill/>
            <a:miter lim="800000"/>
            <a:headEnd/>
            <a:tailEnd/>
          </a:ln>
        </p:spPr>
      </p:pic>
      <p:pic>
        <p:nvPicPr>
          <p:cNvPr id="5" name="Picture 4" descr="sirloin_scenario.png"/>
          <p:cNvPicPr>
            <a:picLocks noChangeAspect="1"/>
          </p:cNvPicPr>
          <p:nvPr/>
        </p:nvPicPr>
        <p:blipFill>
          <a:blip r:embed="rId4" cstate="print"/>
          <a:srcRect/>
          <a:stretch>
            <a:fillRect/>
          </a:stretch>
        </p:blipFill>
        <p:spPr bwMode="auto">
          <a:xfrm>
            <a:off x="5105400" y="4495800"/>
            <a:ext cx="3649663" cy="2105025"/>
          </a:xfrm>
          <a:prstGeom prst="rect">
            <a:avLst/>
          </a:prstGeom>
          <a:noFill/>
          <a:ln w="9525">
            <a:noFill/>
            <a:miter lim="800000"/>
            <a:headEnd/>
            <a:tailEnd/>
          </a:ln>
        </p:spPr>
      </p:pic>
      <p:pic>
        <p:nvPicPr>
          <p:cNvPr id="6" name="Picture 5" descr="image002.jpg"/>
          <p:cNvPicPr>
            <a:picLocks noChangeAspect="1"/>
          </p:cNvPicPr>
          <p:nvPr/>
        </p:nvPicPr>
        <p:blipFill>
          <a:blip r:embed="rId5" cstate="print"/>
          <a:srcRect/>
          <a:stretch>
            <a:fillRect/>
          </a:stretch>
        </p:blipFill>
        <p:spPr bwMode="auto">
          <a:xfrm>
            <a:off x="3048000" y="1600200"/>
            <a:ext cx="2667000" cy="2667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149"/>
                                        </p:tgtEl>
                                        <p:attrNameLst>
                                          <p:attrName>style.visibility</p:attrName>
                                        </p:attrNameLst>
                                      </p:cBhvr>
                                      <p:to>
                                        <p:strVal val="visible"/>
                                      </p:to>
                                    </p:set>
                                    <p:anim calcmode="lin" valueType="num">
                                      <p:cBhvr additive="base">
                                        <p:cTn id="19" dur="500" fill="hold"/>
                                        <p:tgtEl>
                                          <p:spTgt spid="6149"/>
                                        </p:tgtEl>
                                        <p:attrNameLst>
                                          <p:attrName>ppt_x</p:attrName>
                                        </p:attrNameLst>
                                      </p:cBhvr>
                                      <p:tavLst>
                                        <p:tav tm="0">
                                          <p:val>
                                            <p:strVal val="#ppt_x"/>
                                          </p:val>
                                        </p:tav>
                                        <p:tav tm="100000">
                                          <p:val>
                                            <p:strVal val="#ppt_x"/>
                                          </p:val>
                                        </p:tav>
                                      </p:tavLst>
                                    </p:anim>
                                    <p:anim calcmode="lin" valueType="num">
                                      <p:cBhvr additive="base">
                                        <p:cTn id="20"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Tahoma" pitchFamily="34" charset="0"/>
              </a:rPr>
              <a:t>What is Food Irradiation?</a:t>
            </a:r>
            <a:endParaRPr lang="en-US" dirty="0"/>
          </a:p>
        </p:txBody>
      </p:sp>
      <p:sp>
        <p:nvSpPr>
          <p:cNvPr id="5" name="Content Placeholder 4"/>
          <p:cNvSpPr>
            <a:spLocks noGrp="1"/>
          </p:cNvSpPr>
          <p:nvPr>
            <p:ph sz="half" idx="1"/>
          </p:nvPr>
        </p:nvSpPr>
        <p:spPr>
          <a:xfrm>
            <a:off x="0" y="1600200"/>
            <a:ext cx="4495800" cy="4525963"/>
          </a:xfrm>
        </p:spPr>
        <p:txBody>
          <a:bodyPr/>
          <a:lstStyle/>
          <a:p>
            <a:pPr>
              <a:buNone/>
            </a:pPr>
            <a:r>
              <a:rPr lang="en-US" dirty="0" smtClean="0">
                <a:latin typeface="Tahoma" pitchFamily="34" charset="0"/>
                <a:ea typeface="Tahoma" pitchFamily="34" charset="0"/>
                <a:cs typeface="Tahoma" pitchFamily="34" charset="0"/>
              </a:rPr>
              <a:t>   </a:t>
            </a:r>
            <a:r>
              <a:rPr lang="en-US" sz="3200" dirty="0" smtClean="0">
                <a:latin typeface="Tahoma" pitchFamily="34" charset="0"/>
                <a:ea typeface="Tahoma" pitchFamily="34" charset="0"/>
                <a:cs typeface="Tahoma" pitchFamily="34" charset="0"/>
              </a:rPr>
              <a:t>Food irradiation is the process of exposing food to ionizing radiation to destroy </a:t>
            </a:r>
          </a:p>
          <a:p>
            <a:pPr>
              <a:buNone/>
            </a:pPr>
            <a:r>
              <a:rPr lang="en-US" sz="3200" dirty="0" smtClean="0">
                <a:latin typeface="Tahoma" pitchFamily="34" charset="0"/>
                <a:ea typeface="Tahoma" pitchFamily="34" charset="0"/>
                <a:cs typeface="Tahoma" pitchFamily="34" charset="0"/>
              </a:rPr>
              <a:t>   microorganisms, bacteria, viruses, or insects that might be present in the food. </a:t>
            </a:r>
          </a:p>
          <a:p>
            <a:endParaRPr lang="en-US" dirty="0">
              <a:latin typeface="Tahoma" pitchFamily="34" charset="0"/>
              <a:ea typeface="Tahoma" pitchFamily="34" charset="0"/>
              <a:cs typeface="Tahoma" pitchFamily="34" charset="0"/>
            </a:endParaRPr>
          </a:p>
        </p:txBody>
      </p:sp>
      <p:pic>
        <p:nvPicPr>
          <p:cNvPr id="81922" name="Picture 2" descr="C:\Users\Sheldon\Pictures\faq01_ionization.jpg"/>
          <p:cNvPicPr>
            <a:picLocks noGrp="1" noChangeAspect="1" noChangeArrowheads="1"/>
          </p:cNvPicPr>
          <p:nvPr>
            <p:ph sz="half" idx="2"/>
          </p:nvPr>
        </p:nvPicPr>
        <p:blipFill>
          <a:blip r:embed="rId2" cstate="print"/>
          <a:srcRect/>
          <a:stretch>
            <a:fillRect/>
          </a:stretch>
        </p:blipFill>
        <p:spPr bwMode="auto">
          <a:xfrm>
            <a:off x="4546600" y="1600200"/>
            <a:ext cx="4445000" cy="32004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ahoma" pitchFamily="34" charset="0"/>
              </a:rPr>
              <a:t>What is Food Irradiation?</a:t>
            </a:r>
            <a:endParaRPr lang="en-US" dirty="0"/>
          </a:p>
        </p:txBody>
      </p:sp>
      <p:sp>
        <p:nvSpPr>
          <p:cNvPr id="3" name="Content Placeholder 2"/>
          <p:cNvSpPr>
            <a:spLocks noGrp="1"/>
          </p:cNvSpPr>
          <p:nvPr>
            <p:ph sz="half" idx="1"/>
          </p:nvPr>
        </p:nvSpPr>
        <p:spPr>
          <a:xfrm>
            <a:off x="304800" y="1600200"/>
            <a:ext cx="4267200" cy="4525963"/>
          </a:xfrm>
        </p:spPr>
        <p:txBody>
          <a:bodyPr/>
          <a:lstStyle/>
          <a:p>
            <a:pPr>
              <a:buNone/>
            </a:pPr>
            <a:r>
              <a:rPr lang="en-US" dirty="0" smtClean="0">
                <a:latin typeface="Tahoma" pitchFamily="34" charset="0"/>
                <a:ea typeface="Tahoma" pitchFamily="34" charset="0"/>
                <a:cs typeface="Tahoma" pitchFamily="34" charset="0"/>
              </a:rPr>
              <a:t>	</a:t>
            </a:r>
            <a:r>
              <a:rPr lang="en-US" sz="3200" dirty="0" smtClean="0">
                <a:latin typeface="Tahoma" pitchFamily="34" charset="0"/>
                <a:ea typeface="Tahoma" pitchFamily="34" charset="0"/>
                <a:cs typeface="Tahoma" pitchFamily="34" charset="0"/>
              </a:rPr>
              <a:t>Further applications include sprout inhibition, delay of ripening, increase of juice yield, and improvement of re-hydration. </a:t>
            </a:r>
          </a:p>
          <a:p>
            <a:pPr>
              <a:buNone/>
            </a:pPr>
            <a:r>
              <a:rPr lang="en-US" sz="3200" dirty="0" smtClean="0">
                <a:latin typeface="Tahoma" pitchFamily="34" charset="0"/>
                <a:ea typeface="Tahoma" pitchFamily="34" charset="0"/>
                <a:cs typeface="Tahoma" pitchFamily="34" charset="0"/>
              </a:rPr>
              <a:t>	</a:t>
            </a:r>
            <a:endParaRPr lang="en-US" sz="3200" dirty="0"/>
          </a:p>
        </p:txBody>
      </p:sp>
      <p:pic>
        <p:nvPicPr>
          <p:cNvPr id="1026" name="Picture 2" descr="C:\Users\RSB-LAP\Desktop\potat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3186" y="2438400"/>
            <a:ext cx="4118680" cy="28194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sz="half" idx="2"/>
          </p:nvPr>
        </p:nvSpPr>
        <p:spPr>
          <a:xfrm>
            <a:off x="4648200" y="1295400"/>
            <a:ext cx="4343400" cy="4830763"/>
          </a:xfrm>
        </p:spPr>
        <p:txBody>
          <a:bodyPr/>
          <a:lstStyle/>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ahoma" pitchFamily="34" charset="0"/>
              </a:rPr>
              <a:t>What is Food Irradiation?</a:t>
            </a:r>
            <a:endParaRPr lang="en-US" dirty="0"/>
          </a:p>
        </p:txBody>
      </p:sp>
      <p:sp>
        <p:nvSpPr>
          <p:cNvPr id="3" name="Content Placeholder 2"/>
          <p:cNvSpPr>
            <a:spLocks noGrp="1"/>
          </p:cNvSpPr>
          <p:nvPr>
            <p:ph sz="half" idx="1"/>
          </p:nvPr>
        </p:nvSpPr>
        <p:spPr/>
        <p:txBody>
          <a:bodyPr/>
          <a:lstStyle/>
          <a:p>
            <a:pPr>
              <a:buNone/>
            </a:pPr>
            <a:r>
              <a:rPr lang="en-US" sz="3200" dirty="0" smtClean="0">
                <a:latin typeface="Tahoma" pitchFamily="34" charset="0"/>
                <a:ea typeface="Tahoma" pitchFamily="34" charset="0"/>
                <a:cs typeface="Tahoma" pitchFamily="34" charset="0"/>
              </a:rPr>
              <a:t>Irradiated food </a:t>
            </a:r>
          </a:p>
          <a:p>
            <a:pPr>
              <a:buNone/>
            </a:pPr>
            <a:r>
              <a:rPr lang="en-US" sz="3200" dirty="0" smtClean="0">
                <a:latin typeface="Tahoma" pitchFamily="34" charset="0"/>
                <a:ea typeface="Tahoma" pitchFamily="34" charset="0"/>
                <a:cs typeface="Tahoma" pitchFamily="34" charset="0"/>
              </a:rPr>
              <a:t>does not become</a:t>
            </a:r>
          </a:p>
          <a:p>
            <a:pPr>
              <a:buNone/>
            </a:pPr>
            <a:r>
              <a:rPr lang="en-US" sz="3200" dirty="0" smtClean="0">
                <a:latin typeface="Tahoma" pitchFamily="34" charset="0"/>
                <a:ea typeface="Tahoma" pitchFamily="34" charset="0"/>
                <a:cs typeface="Tahoma" pitchFamily="34" charset="0"/>
              </a:rPr>
              <a:t>radioactive, </a:t>
            </a:r>
          </a:p>
          <a:p>
            <a:pPr>
              <a:buNone/>
            </a:pPr>
            <a:r>
              <a:rPr lang="en-US" sz="3200" dirty="0" smtClean="0">
                <a:latin typeface="Tahoma" pitchFamily="34" charset="0"/>
                <a:ea typeface="Tahoma" pitchFamily="34" charset="0"/>
                <a:cs typeface="Tahoma" pitchFamily="34" charset="0"/>
              </a:rPr>
              <a:t>but in some cases</a:t>
            </a:r>
          </a:p>
          <a:p>
            <a:pPr>
              <a:buNone/>
            </a:pPr>
            <a:r>
              <a:rPr lang="en-US" sz="3200" dirty="0" smtClean="0">
                <a:latin typeface="Tahoma" pitchFamily="34" charset="0"/>
                <a:ea typeface="Tahoma" pitchFamily="34" charset="0"/>
                <a:cs typeface="Tahoma" pitchFamily="34" charset="0"/>
              </a:rPr>
              <a:t> there may be subtle  </a:t>
            </a:r>
          </a:p>
          <a:p>
            <a:pPr>
              <a:buNone/>
            </a:pPr>
            <a:r>
              <a:rPr lang="en-US" sz="3200" dirty="0" smtClean="0">
                <a:latin typeface="Tahoma" pitchFamily="34" charset="0"/>
                <a:ea typeface="Tahoma" pitchFamily="34" charset="0"/>
                <a:cs typeface="Tahoma" pitchFamily="34" charset="0"/>
              </a:rPr>
              <a:t>chemical changes.</a:t>
            </a:r>
          </a:p>
          <a:p>
            <a:endParaRPr lang="en-US" sz="3200" dirty="0">
              <a:latin typeface="Tahoma" pitchFamily="34" charset="0"/>
              <a:ea typeface="Tahoma" pitchFamily="34" charset="0"/>
              <a:cs typeface="Tahoma" pitchFamily="34" charset="0"/>
            </a:endParaRPr>
          </a:p>
        </p:txBody>
      </p:sp>
      <p:pic>
        <p:nvPicPr>
          <p:cNvPr id="82946" name="Picture 2" descr="C:\Users\Sheldon\Pictures\radiation chemical changes.gif"/>
          <p:cNvPicPr>
            <a:picLocks noGrp="1" noChangeAspect="1" noChangeArrowheads="1"/>
          </p:cNvPicPr>
          <p:nvPr>
            <p:ph sz="half" idx="2"/>
          </p:nvPr>
        </p:nvPicPr>
        <p:blipFill>
          <a:blip r:embed="rId2" cstate="print"/>
          <a:srcRect/>
          <a:stretch>
            <a:fillRect/>
          </a:stretch>
        </p:blipFill>
        <p:spPr bwMode="auto">
          <a:xfrm>
            <a:off x="4648200" y="1905000"/>
            <a:ext cx="3783949" cy="21336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b="1" smtClean="0">
                <a:latin typeface="Tahoma" pitchFamily="34" charset="0"/>
              </a:rPr>
              <a:t>Irradiation</a:t>
            </a:r>
            <a:r>
              <a:rPr lang="en-US" b="1" smtClean="0"/>
              <a:t> </a:t>
            </a:r>
          </a:p>
        </p:txBody>
      </p:sp>
      <p:sp>
        <p:nvSpPr>
          <p:cNvPr id="5123" name="Content Placeholder 2"/>
          <p:cNvSpPr>
            <a:spLocks noGrp="1"/>
          </p:cNvSpPr>
          <p:nvPr>
            <p:ph idx="1"/>
          </p:nvPr>
        </p:nvSpPr>
        <p:spPr>
          <a:xfrm>
            <a:off x="0" y="1371600"/>
            <a:ext cx="9144000" cy="5257800"/>
          </a:xfrm>
        </p:spPr>
        <p:txBody>
          <a:bodyPr/>
          <a:lstStyle/>
          <a:p>
            <a:r>
              <a:rPr lang="en-US" smtClean="0">
                <a:latin typeface="Tahoma" pitchFamily="34" charset="0"/>
              </a:rPr>
              <a:t>Irradiation is a more general term of the exposure of materials to radiation to achieve a technical goal (in this context "ionizing radiation" is implied). </a:t>
            </a:r>
          </a:p>
          <a:p>
            <a:endParaRPr lang="en-US" smtClean="0">
              <a:latin typeface="Tahoma" pitchFamily="34" charset="0"/>
            </a:endParaRPr>
          </a:p>
          <a:p>
            <a:r>
              <a:rPr lang="en-US" smtClean="0">
                <a:latin typeface="Tahoma" pitchFamily="34" charset="0"/>
              </a:rPr>
              <a:t>This process  is also used on non-food items, such as medical devices, plastics, tubes for gas pipelines, hoses for floor heating, shrink-foils for food packaging, automobile parts, wires and cables (isolation), tires, and even gemstones.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b="1" smtClean="0">
                <a:latin typeface="Tahoma" pitchFamily="34" charset="0"/>
              </a:rPr>
              <a:t>Food Irradiation Process</a:t>
            </a:r>
          </a:p>
        </p:txBody>
      </p:sp>
      <p:sp>
        <p:nvSpPr>
          <p:cNvPr id="6147" name="Content Placeholder 2"/>
          <p:cNvSpPr>
            <a:spLocks noGrp="1"/>
          </p:cNvSpPr>
          <p:nvPr>
            <p:ph idx="1"/>
          </p:nvPr>
        </p:nvSpPr>
        <p:spPr>
          <a:xfrm>
            <a:off x="0" y="1600200"/>
            <a:ext cx="4953000" cy="5257800"/>
          </a:xfrm>
        </p:spPr>
        <p:txBody>
          <a:bodyPr/>
          <a:lstStyle/>
          <a:p>
            <a:r>
              <a:rPr lang="en-US" smtClean="0">
                <a:latin typeface="Tahoma" pitchFamily="34" charset="0"/>
              </a:rPr>
              <a:t>Food irradiation acts by damaging the target organism's DNA beyond its ability to repair.  </a:t>
            </a:r>
          </a:p>
          <a:p>
            <a:r>
              <a:rPr lang="en-US" smtClean="0">
                <a:latin typeface="Tahoma" pitchFamily="34" charset="0"/>
              </a:rPr>
              <a:t>Microorganisms can no longer proliferate and continue their malignant or pathogenic activities.</a:t>
            </a:r>
          </a:p>
        </p:txBody>
      </p:sp>
      <p:pic>
        <p:nvPicPr>
          <p:cNvPr id="6148" name="Picture 2" descr="http://schools-wikipedia.org/images/788/78870.gif"/>
          <p:cNvPicPr>
            <a:picLocks noChangeAspect="1" noChangeArrowheads="1"/>
          </p:cNvPicPr>
          <p:nvPr/>
        </p:nvPicPr>
        <p:blipFill>
          <a:blip r:embed="rId2" cstate="print"/>
          <a:srcRect/>
          <a:stretch>
            <a:fillRect/>
          </a:stretch>
        </p:blipFill>
        <p:spPr bwMode="auto">
          <a:xfrm>
            <a:off x="5105400" y="1676400"/>
            <a:ext cx="3714750" cy="424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b="1" smtClean="0">
                <a:latin typeface="Tahoma" pitchFamily="34" charset="0"/>
              </a:rPr>
              <a:t>Food Irradiation Process</a:t>
            </a:r>
          </a:p>
        </p:txBody>
      </p:sp>
      <p:sp>
        <p:nvSpPr>
          <p:cNvPr id="7171" name="Content Placeholder 2"/>
          <p:cNvSpPr>
            <a:spLocks noGrp="1"/>
          </p:cNvSpPr>
          <p:nvPr>
            <p:ph idx="1"/>
          </p:nvPr>
        </p:nvSpPr>
        <p:spPr>
          <a:xfrm>
            <a:off x="0" y="1600200"/>
            <a:ext cx="5791200" cy="5257800"/>
          </a:xfrm>
        </p:spPr>
        <p:txBody>
          <a:bodyPr/>
          <a:lstStyle/>
          <a:p>
            <a:r>
              <a:rPr lang="en-US" smtClean="0">
                <a:latin typeface="Tahoma" pitchFamily="34" charset="0"/>
              </a:rPr>
              <a:t>Food irradiation prevents the following:  </a:t>
            </a:r>
          </a:p>
          <a:p>
            <a:pPr lvl="1"/>
            <a:r>
              <a:rPr lang="en-US" smtClean="0">
                <a:latin typeface="Tahoma" pitchFamily="34" charset="0"/>
              </a:rPr>
              <a:t>Spoilage-causing microorganism infections  </a:t>
            </a:r>
          </a:p>
          <a:p>
            <a:pPr lvl="1"/>
            <a:r>
              <a:rPr lang="en-US" smtClean="0">
                <a:latin typeface="Tahoma" pitchFamily="34" charset="0"/>
              </a:rPr>
              <a:t>Insect survival within the food products  </a:t>
            </a:r>
          </a:p>
          <a:p>
            <a:pPr lvl="1"/>
            <a:r>
              <a:rPr lang="en-US" smtClean="0">
                <a:latin typeface="Tahoma" pitchFamily="34" charset="0"/>
              </a:rPr>
              <a:t>The natural ripening process that plants undergo </a:t>
            </a:r>
          </a:p>
          <a:p>
            <a:pPr lvl="1"/>
            <a:endParaRPr lang="en-US" smtClean="0">
              <a:latin typeface="Tahoma" pitchFamily="34" charset="0"/>
            </a:endParaRPr>
          </a:p>
        </p:txBody>
      </p:sp>
      <p:pic>
        <p:nvPicPr>
          <p:cNvPr id="7172" name="Picture 2" descr="http://img.ehowcdn.com/article-new/ehow/images/a04/qt/v9/microorganisms-cause-food-poisoning-800x800.jpg"/>
          <p:cNvPicPr>
            <a:picLocks noChangeAspect="1" noChangeArrowheads="1"/>
          </p:cNvPicPr>
          <p:nvPr/>
        </p:nvPicPr>
        <p:blipFill>
          <a:blip r:embed="rId2" cstate="print"/>
          <a:srcRect/>
          <a:stretch>
            <a:fillRect/>
          </a:stretch>
        </p:blipFill>
        <p:spPr bwMode="auto">
          <a:xfrm>
            <a:off x="6727825" y="1524000"/>
            <a:ext cx="2263775" cy="2209800"/>
          </a:xfrm>
          <a:prstGeom prst="rect">
            <a:avLst/>
          </a:prstGeom>
          <a:noFill/>
          <a:ln w="9525">
            <a:noFill/>
            <a:miter lim="800000"/>
            <a:headEnd/>
            <a:tailEnd/>
          </a:ln>
        </p:spPr>
      </p:pic>
      <p:pic>
        <p:nvPicPr>
          <p:cNvPr id="7173" name="Picture 4" descr="http://f00.inventorspot.com/images/digger-wasp-rice-crackers.img_assist_custom.jpg"/>
          <p:cNvPicPr>
            <a:picLocks noChangeAspect="1" noChangeArrowheads="1"/>
          </p:cNvPicPr>
          <p:nvPr/>
        </p:nvPicPr>
        <p:blipFill>
          <a:blip r:embed="rId3" cstate="print"/>
          <a:srcRect/>
          <a:stretch>
            <a:fillRect/>
          </a:stretch>
        </p:blipFill>
        <p:spPr bwMode="auto">
          <a:xfrm>
            <a:off x="6705600" y="3886200"/>
            <a:ext cx="2287588" cy="2867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b="1" smtClean="0">
                <a:latin typeface="Tahoma" pitchFamily="34" charset="0"/>
              </a:rPr>
              <a:t>Preventable Losses</a:t>
            </a:r>
          </a:p>
        </p:txBody>
      </p:sp>
      <p:sp>
        <p:nvSpPr>
          <p:cNvPr id="7171" name="Rectangle 3"/>
          <p:cNvSpPr>
            <a:spLocks noGrp="1" noChangeArrowheads="1"/>
          </p:cNvSpPr>
          <p:nvPr>
            <p:ph idx="1"/>
          </p:nvPr>
        </p:nvSpPr>
        <p:spPr>
          <a:xfrm>
            <a:off x="0" y="1600200"/>
            <a:ext cx="5105400" cy="4525963"/>
          </a:xfrm>
        </p:spPr>
        <p:txBody>
          <a:bodyPr/>
          <a:lstStyle/>
          <a:p>
            <a:pPr eaLnBrk="1" hangingPunct="1"/>
            <a:r>
              <a:rPr lang="en-US" sz="2400" dirty="0" smtClean="0">
                <a:latin typeface="Tahoma" pitchFamily="34" charset="0"/>
              </a:rPr>
              <a:t>1/4 of the world's food production is lost after harvesting</a:t>
            </a:r>
          </a:p>
          <a:p>
            <a:pPr eaLnBrk="1" hangingPunct="1">
              <a:buFont typeface="Symbol" pitchFamily="18" charset="2"/>
              <a:buChar char="·"/>
            </a:pPr>
            <a:r>
              <a:rPr lang="en-US" sz="2400" dirty="0" smtClean="0">
                <a:latin typeface="Tahoma" pitchFamily="34" charset="0"/>
              </a:rPr>
              <a:t>Losses occur where food is grown, during distribution, storage, processing, marketing, and in the home</a:t>
            </a:r>
          </a:p>
          <a:p>
            <a:pPr eaLnBrk="1" hangingPunct="1">
              <a:buFont typeface="Symbol" pitchFamily="18" charset="2"/>
              <a:buChar char="·"/>
            </a:pPr>
            <a:r>
              <a:rPr lang="en-US" sz="2400" dirty="0" smtClean="0">
                <a:latin typeface="Tahoma" pitchFamily="34" charset="0"/>
              </a:rPr>
              <a:t>Losses are especially important in developing countries where transportation and storage systems are not modern, humidity and temperatures are high, and the need for food is the greatest</a:t>
            </a:r>
          </a:p>
        </p:txBody>
      </p:sp>
      <p:pic>
        <p:nvPicPr>
          <p:cNvPr id="7178" name="Picture 10" descr="http://www.waterencyclopedia.com/images/wsci_04_img0540.jpg"/>
          <p:cNvPicPr>
            <a:picLocks noChangeAspect="1" noChangeArrowheads="1"/>
          </p:cNvPicPr>
          <p:nvPr/>
        </p:nvPicPr>
        <p:blipFill>
          <a:blip r:embed="rId3" cstate="print"/>
          <a:srcRect/>
          <a:stretch>
            <a:fillRect/>
          </a:stretch>
        </p:blipFill>
        <p:spPr bwMode="auto">
          <a:xfrm>
            <a:off x="5181600" y="4419600"/>
            <a:ext cx="3916363" cy="2362200"/>
          </a:xfrm>
          <a:prstGeom prst="rect">
            <a:avLst/>
          </a:prstGeom>
          <a:noFill/>
          <a:ln w="9525">
            <a:noFill/>
            <a:miter lim="800000"/>
            <a:headEnd/>
            <a:tailEnd/>
          </a:ln>
        </p:spPr>
      </p:pic>
      <p:pic>
        <p:nvPicPr>
          <p:cNvPr id="7180" name="Picture 12" descr="http://www.ces.ncsu.edu/depts/ent/notes/Urban/storm/images/refrigerator.jpg"/>
          <p:cNvPicPr>
            <a:picLocks noChangeAspect="1" noChangeArrowheads="1"/>
          </p:cNvPicPr>
          <p:nvPr/>
        </p:nvPicPr>
        <p:blipFill>
          <a:blip r:embed="rId4" cstate="print"/>
          <a:srcRect/>
          <a:stretch>
            <a:fillRect/>
          </a:stretch>
        </p:blipFill>
        <p:spPr bwMode="auto">
          <a:xfrm>
            <a:off x="5715000" y="1749425"/>
            <a:ext cx="3382963" cy="25368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180"/>
                                        </p:tgtEl>
                                        <p:attrNameLst>
                                          <p:attrName>style.visibility</p:attrName>
                                        </p:attrNameLst>
                                      </p:cBhvr>
                                      <p:to>
                                        <p:strVal val="visible"/>
                                      </p:to>
                                    </p:set>
                                    <p:anim calcmode="lin" valueType="num">
                                      <p:cBhvr additive="base">
                                        <p:cTn id="19" dur="500" fill="hold"/>
                                        <p:tgtEl>
                                          <p:spTgt spid="7180"/>
                                        </p:tgtEl>
                                        <p:attrNameLst>
                                          <p:attrName>ppt_x</p:attrName>
                                        </p:attrNameLst>
                                      </p:cBhvr>
                                      <p:tavLst>
                                        <p:tav tm="0">
                                          <p:val>
                                            <p:strVal val="#ppt_x"/>
                                          </p:val>
                                        </p:tav>
                                        <p:tav tm="100000">
                                          <p:val>
                                            <p:strVal val="#ppt_x"/>
                                          </p:val>
                                        </p:tav>
                                      </p:tavLst>
                                    </p:anim>
                                    <p:anim calcmode="lin" valueType="num">
                                      <p:cBhvr additive="base">
                                        <p:cTn id="20" dur="500" fill="hold"/>
                                        <p:tgtEl>
                                          <p:spTgt spid="718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71">
                                            <p:txEl>
                                              <p:pRg st="2" end="2"/>
                                            </p:txEl>
                                          </p:spTgt>
                                        </p:tgtEl>
                                        <p:attrNameLst>
                                          <p:attrName>style.visibility</p:attrName>
                                        </p:attrNameLst>
                                      </p:cBhvr>
                                      <p:to>
                                        <p:strVal val="visible"/>
                                      </p:to>
                                    </p:set>
                                    <p:anim calcmode="lin" valueType="num">
                                      <p:cBhvr additive="base">
                                        <p:cTn id="25"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7178"/>
                                        </p:tgtEl>
                                        <p:attrNameLst>
                                          <p:attrName>style.visibility</p:attrName>
                                        </p:attrNameLst>
                                      </p:cBhvr>
                                      <p:to>
                                        <p:strVal val="visible"/>
                                      </p:to>
                                    </p:set>
                                    <p:anim calcmode="lin" valueType="num">
                                      <p:cBhvr additive="base">
                                        <p:cTn id="31" dur="500" fill="hold"/>
                                        <p:tgtEl>
                                          <p:spTgt spid="7178"/>
                                        </p:tgtEl>
                                        <p:attrNameLst>
                                          <p:attrName>ppt_x</p:attrName>
                                        </p:attrNameLst>
                                      </p:cBhvr>
                                      <p:tavLst>
                                        <p:tav tm="0">
                                          <p:val>
                                            <p:strVal val="#ppt_x"/>
                                          </p:val>
                                        </p:tav>
                                        <p:tav tm="100000">
                                          <p:val>
                                            <p:strVal val="#ppt_x"/>
                                          </p:val>
                                        </p:tav>
                                      </p:tavLst>
                                    </p:anim>
                                    <p:anim calcmode="lin" valueType="num">
                                      <p:cBhvr additive="base">
                                        <p:cTn id="32"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6200"/>
            <a:ext cx="8229600" cy="1143000"/>
          </a:xfrm>
        </p:spPr>
        <p:txBody>
          <a:bodyPr/>
          <a:lstStyle/>
          <a:p>
            <a:r>
              <a:rPr lang="en-US" b="1" smtClean="0">
                <a:latin typeface="Tahoma" pitchFamily="34" charset="0"/>
              </a:rPr>
              <a:t>Preventable Losses</a:t>
            </a:r>
            <a:endParaRPr lang="en-US" smtClean="0">
              <a:latin typeface="Tahoma" pitchFamily="34" charset="0"/>
            </a:endParaRPr>
          </a:p>
        </p:txBody>
      </p:sp>
      <p:sp>
        <p:nvSpPr>
          <p:cNvPr id="8195" name="Rectangle 3"/>
          <p:cNvSpPr>
            <a:spLocks noGrp="1" noChangeArrowheads="1"/>
          </p:cNvSpPr>
          <p:nvPr>
            <p:ph idx="1"/>
          </p:nvPr>
        </p:nvSpPr>
        <p:spPr>
          <a:xfrm>
            <a:off x="0" y="1066800"/>
            <a:ext cx="9144000" cy="4754563"/>
          </a:xfrm>
        </p:spPr>
        <p:txBody>
          <a:bodyPr/>
          <a:lstStyle/>
          <a:p>
            <a:pPr eaLnBrk="1" hangingPunct="1">
              <a:buFont typeface="Symbol" pitchFamily="18" charset="2"/>
              <a:buChar char="·"/>
            </a:pPr>
            <a:r>
              <a:rPr lang="en-US" smtClean="0">
                <a:latin typeface="Tahoma" pitchFamily="34" charset="0"/>
              </a:rPr>
              <a:t>Easiest way to increase availability of food is to reduce losses</a:t>
            </a:r>
          </a:p>
          <a:p>
            <a:pPr eaLnBrk="1" hangingPunct="1">
              <a:buFont typeface="Symbol" pitchFamily="18" charset="2"/>
              <a:buChar char="·"/>
            </a:pPr>
            <a:r>
              <a:rPr lang="en-US" smtClean="0">
                <a:latin typeface="Tahoma" pitchFamily="34" charset="0"/>
              </a:rPr>
              <a:t>i.e. it is more cost effective to increase supply by 10 to 20% by reducing losses than it is to improve yield of crops by a few percent</a:t>
            </a:r>
          </a:p>
          <a:p>
            <a:pPr lvl="1" eaLnBrk="1" hangingPunct="1">
              <a:buFont typeface="Symbol" pitchFamily="18" charset="2"/>
              <a:buNone/>
            </a:pPr>
            <a:endParaRPr lang="en-US" sz="3200" smtClean="0">
              <a:latin typeface="Tahoma" pitchFamily="34" charset="0"/>
            </a:endParaRPr>
          </a:p>
        </p:txBody>
      </p:sp>
      <p:pic>
        <p:nvPicPr>
          <p:cNvPr id="3" name="Picture 2" descr="corndraught.jpg"/>
          <p:cNvPicPr>
            <a:picLocks noChangeAspect="1"/>
          </p:cNvPicPr>
          <p:nvPr/>
        </p:nvPicPr>
        <p:blipFill>
          <a:blip r:embed="rId3" cstate="print"/>
          <a:srcRect/>
          <a:stretch>
            <a:fillRect/>
          </a:stretch>
        </p:blipFill>
        <p:spPr bwMode="auto">
          <a:xfrm>
            <a:off x="1524000" y="3886200"/>
            <a:ext cx="5867400" cy="2908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026"/>
          <p:cNvSpPr txBox="1">
            <a:spLocks noChangeArrowheads="1"/>
          </p:cNvSpPr>
          <p:nvPr/>
        </p:nvSpPr>
        <p:spPr bwMode="auto">
          <a:xfrm>
            <a:off x="533400" y="2225675"/>
            <a:ext cx="8153400" cy="3292475"/>
          </a:xfrm>
          <a:prstGeom prst="rect">
            <a:avLst/>
          </a:prstGeom>
          <a:noFill/>
          <a:ln w="9525">
            <a:noFill/>
            <a:miter lim="800000"/>
            <a:headEnd/>
            <a:tailEnd/>
          </a:ln>
        </p:spPr>
        <p:txBody>
          <a:bodyPr>
            <a:spAutoFit/>
          </a:bodyPr>
          <a:lstStyle/>
          <a:p>
            <a:pPr marL="114300" lvl="1">
              <a:buFont typeface="Symbol" pitchFamily="18" charset="2"/>
              <a:buNone/>
            </a:pPr>
            <a:r>
              <a:rPr lang="en-US" sz="3200">
                <a:latin typeface="Tahoma" pitchFamily="34" charset="0"/>
              </a:rPr>
              <a:t>“Further reduction of post harvest food losses in developing countries should be undertaken as a matter of priority with a view to reaching at  least 50% reduction by 1985”</a:t>
            </a:r>
          </a:p>
          <a:p>
            <a:pPr algn="just">
              <a:spcBef>
                <a:spcPct val="50000"/>
              </a:spcBef>
            </a:pPr>
            <a:endParaRPr lang="en-US" sz="3200" b="1">
              <a:latin typeface="Tahoma" pitchFamily="34" charset="0"/>
            </a:endParaRPr>
          </a:p>
        </p:txBody>
      </p:sp>
      <p:sp>
        <p:nvSpPr>
          <p:cNvPr id="10243" name="Rectangle 2"/>
          <p:cNvSpPr>
            <a:spLocks noChangeArrowheads="1"/>
          </p:cNvSpPr>
          <p:nvPr/>
        </p:nvSpPr>
        <p:spPr bwMode="auto">
          <a:xfrm>
            <a:off x="609600" y="381000"/>
            <a:ext cx="8153400" cy="1570038"/>
          </a:xfrm>
          <a:prstGeom prst="rect">
            <a:avLst/>
          </a:prstGeom>
          <a:noFill/>
          <a:ln w="9525">
            <a:noFill/>
            <a:miter lim="800000"/>
            <a:headEnd/>
            <a:tailEnd/>
          </a:ln>
        </p:spPr>
        <p:txBody>
          <a:bodyPr>
            <a:spAutoFit/>
          </a:bodyPr>
          <a:lstStyle/>
          <a:p>
            <a:r>
              <a:rPr lang="en-US" sz="3200">
                <a:latin typeface="Tahoma" pitchFamily="34" charset="0"/>
              </a:rPr>
              <a:t>In 1975 the 7th special session of the UN general assembly, adopted a resolution stating: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b="1" smtClean="0">
                <a:latin typeface="Tahoma" pitchFamily="34" charset="0"/>
              </a:rPr>
              <a:t>Government Involvement</a:t>
            </a:r>
          </a:p>
        </p:txBody>
      </p:sp>
      <p:sp>
        <p:nvSpPr>
          <p:cNvPr id="11267" name="Content Placeholder 2"/>
          <p:cNvSpPr>
            <a:spLocks noGrp="1"/>
          </p:cNvSpPr>
          <p:nvPr>
            <p:ph idx="1"/>
          </p:nvPr>
        </p:nvSpPr>
        <p:spPr>
          <a:xfrm>
            <a:off x="0" y="1447800"/>
            <a:ext cx="5867400" cy="5410200"/>
          </a:xfrm>
        </p:spPr>
        <p:txBody>
          <a:bodyPr/>
          <a:lstStyle/>
          <a:p>
            <a:r>
              <a:rPr lang="en-US" smtClean="0"/>
              <a:t> </a:t>
            </a:r>
            <a:r>
              <a:rPr lang="en-US" smtClean="0">
                <a:latin typeface="Tahoma" pitchFamily="34" charset="0"/>
              </a:rPr>
              <a:t>The United States Department of Agriculture (USDA) has approved the use of low-level irradiation as an alternative treatment to pesticides for fruits and vegetables that are considered hosts to a number of insect pests, including fruit flies and seed weevils.</a:t>
            </a:r>
          </a:p>
        </p:txBody>
      </p:sp>
      <p:pic>
        <p:nvPicPr>
          <p:cNvPr id="11268" name="Picture 2" descr="http://t3.gstatic.com/images?q=tbn:ANd9GcTP4HaOxDVU0C0hxT-kN0Vs0vRKAlvj6__74PKE1_7Aa1EkDnWe_g"/>
          <p:cNvPicPr>
            <a:picLocks noChangeAspect="1" noChangeArrowheads="1"/>
          </p:cNvPicPr>
          <p:nvPr/>
        </p:nvPicPr>
        <p:blipFill>
          <a:blip r:embed="rId2" cstate="print"/>
          <a:srcRect/>
          <a:stretch>
            <a:fillRect/>
          </a:stretch>
        </p:blipFill>
        <p:spPr bwMode="auto">
          <a:xfrm>
            <a:off x="5834063" y="2362200"/>
            <a:ext cx="3157537" cy="2762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b="1" smtClean="0">
                <a:latin typeface="Tahoma" pitchFamily="34" charset="0"/>
              </a:rPr>
              <a:t>Government Involvement</a:t>
            </a:r>
            <a:endParaRPr lang="en-US" smtClean="0">
              <a:latin typeface="Tahoma" pitchFamily="34" charset="0"/>
            </a:endParaRPr>
          </a:p>
        </p:txBody>
      </p:sp>
      <p:sp>
        <p:nvSpPr>
          <p:cNvPr id="12291" name="Content Placeholder 2"/>
          <p:cNvSpPr>
            <a:spLocks noGrp="1"/>
          </p:cNvSpPr>
          <p:nvPr>
            <p:ph idx="1"/>
          </p:nvPr>
        </p:nvSpPr>
        <p:spPr>
          <a:xfrm>
            <a:off x="0" y="1600200"/>
            <a:ext cx="9144000" cy="2362200"/>
          </a:xfrm>
        </p:spPr>
        <p:txBody>
          <a:bodyPr/>
          <a:lstStyle/>
          <a:p>
            <a:r>
              <a:rPr lang="en-US" smtClean="0">
                <a:latin typeface="Tahoma" pitchFamily="34" charset="0"/>
              </a:rPr>
              <a:t>Food and Drug Administration (FDA) has cleared among a number of other applications the treatment of hamburger patties to eliminate the residual risk of a contamination by a virulent E. coli.</a:t>
            </a:r>
          </a:p>
        </p:txBody>
      </p:sp>
      <p:pic>
        <p:nvPicPr>
          <p:cNvPr id="12292" name="Picture 2" descr="http://www.mudsworld.co.uk/gallery/albums/userpics/10001/fda-logo.jpg"/>
          <p:cNvPicPr>
            <a:picLocks noChangeAspect="1" noChangeArrowheads="1"/>
          </p:cNvPicPr>
          <p:nvPr/>
        </p:nvPicPr>
        <p:blipFill>
          <a:blip r:embed="rId2" cstate="print"/>
          <a:srcRect/>
          <a:stretch>
            <a:fillRect/>
          </a:stretch>
        </p:blipFill>
        <p:spPr bwMode="auto">
          <a:xfrm>
            <a:off x="2514600" y="4114800"/>
            <a:ext cx="4648200" cy="2584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76200"/>
            <a:ext cx="8229600" cy="1143000"/>
          </a:xfrm>
        </p:spPr>
        <p:txBody>
          <a:bodyPr/>
          <a:lstStyle/>
          <a:p>
            <a:r>
              <a:rPr lang="en-US" b="1" smtClean="0">
                <a:latin typeface="Tahoma" pitchFamily="34" charset="0"/>
              </a:rPr>
              <a:t>Government Involvement</a:t>
            </a:r>
            <a:endParaRPr lang="en-US" smtClean="0">
              <a:latin typeface="Tahoma" pitchFamily="34" charset="0"/>
            </a:endParaRPr>
          </a:p>
        </p:txBody>
      </p:sp>
      <p:sp>
        <p:nvSpPr>
          <p:cNvPr id="13315" name="Content Placeholder 2"/>
          <p:cNvSpPr>
            <a:spLocks noGrp="1"/>
          </p:cNvSpPr>
          <p:nvPr>
            <p:ph idx="1"/>
          </p:nvPr>
        </p:nvSpPr>
        <p:spPr>
          <a:xfrm>
            <a:off x="152400" y="1066800"/>
            <a:ext cx="6477000" cy="5791200"/>
          </a:xfrm>
        </p:spPr>
        <p:txBody>
          <a:bodyPr/>
          <a:lstStyle/>
          <a:p>
            <a:r>
              <a:rPr lang="en-US" smtClean="0">
                <a:latin typeface="Tahoma" pitchFamily="34" charset="0"/>
              </a:rPr>
              <a:t>The United Nations Food and Agricultural Organization (FAO) has passed a motion to commit member states to implement irradiation technology for their national phytosanitary programs. </a:t>
            </a:r>
          </a:p>
          <a:p>
            <a:r>
              <a:rPr lang="en-US" smtClean="0">
                <a:latin typeface="Tahoma" pitchFamily="34" charset="0"/>
              </a:rPr>
              <a:t>The General assembly of the International Atomic Energy Agency (IAEA) has urged wider use of the irradiation technology</a:t>
            </a:r>
            <a:r>
              <a:rPr lang="en-US" smtClean="0"/>
              <a:t>.</a:t>
            </a:r>
          </a:p>
        </p:txBody>
      </p:sp>
      <p:pic>
        <p:nvPicPr>
          <p:cNvPr id="13316" name="Picture 2" descr="http://t3.gstatic.com/images?q=tbn:ANd9GcSI4D_TUNZa3QjBiiSOYJkn-T1hQThLBpFY10tu28HOB2N6hTIJeI78v8HV"/>
          <p:cNvPicPr>
            <a:picLocks noChangeAspect="1" noChangeArrowheads="1"/>
          </p:cNvPicPr>
          <p:nvPr/>
        </p:nvPicPr>
        <p:blipFill>
          <a:blip r:embed="rId2" cstate="print"/>
          <a:srcRect/>
          <a:stretch>
            <a:fillRect/>
          </a:stretch>
        </p:blipFill>
        <p:spPr bwMode="auto">
          <a:xfrm>
            <a:off x="6400800" y="1295400"/>
            <a:ext cx="2447925" cy="2447925"/>
          </a:xfrm>
          <a:prstGeom prst="rect">
            <a:avLst/>
          </a:prstGeom>
          <a:noFill/>
          <a:ln w="9525">
            <a:noFill/>
            <a:miter lim="800000"/>
            <a:headEnd/>
            <a:tailEnd/>
          </a:ln>
        </p:spPr>
      </p:pic>
      <p:pic>
        <p:nvPicPr>
          <p:cNvPr id="13317" name="Picture 4" descr="http://t2.gstatic.com/images?q=tbn:ANd9GcS3O_Ja1CfbFASYE3ipZS9fo5WTtcAMWPKlGITIaOXMlSaiyHuYjA"/>
          <p:cNvPicPr>
            <a:picLocks noChangeAspect="1" noChangeArrowheads="1"/>
          </p:cNvPicPr>
          <p:nvPr/>
        </p:nvPicPr>
        <p:blipFill>
          <a:blip r:embed="rId3" cstate="print"/>
          <a:srcRect/>
          <a:stretch>
            <a:fillRect/>
          </a:stretch>
        </p:blipFill>
        <p:spPr bwMode="auto">
          <a:xfrm>
            <a:off x="6629400" y="4343400"/>
            <a:ext cx="2371725" cy="1892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76200"/>
            <a:ext cx="8763000" cy="914400"/>
          </a:xfrm>
        </p:spPr>
        <p:txBody>
          <a:bodyPr/>
          <a:lstStyle/>
          <a:p>
            <a:pPr eaLnBrk="1" hangingPunct="1">
              <a:buFont typeface="Symbol" pitchFamily="18" charset="2"/>
              <a:buNone/>
            </a:pPr>
            <a:r>
              <a:rPr lang="en-US" b="1" smtClean="0">
                <a:latin typeface="Tahoma" pitchFamily="34" charset="0"/>
              </a:rPr>
              <a:t>NEED FOR NEW TECHNOLOGY</a:t>
            </a:r>
            <a:endParaRPr lang="en-US" b="1" smtClean="0"/>
          </a:p>
        </p:txBody>
      </p:sp>
      <p:sp>
        <p:nvSpPr>
          <p:cNvPr id="10243" name="Rectangle 3"/>
          <p:cNvSpPr>
            <a:spLocks noGrp="1" noChangeArrowheads="1"/>
          </p:cNvSpPr>
          <p:nvPr>
            <p:ph idx="1"/>
          </p:nvPr>
        </p:nvSpPr>
        <p:spPr>
          <a:xfrm>
            <a:off x="0" y="762000"/>
            <a:ext cx="4876800" cy="6019800"/>
          </a:xfrm>
        </p:spPr>
        <p:txBody>
          <a:bodyPr/>
          <a:lstStyle/>
          <a:p>
            <a:pPr eaLnBrk="1" hangingPunct="1">
              <a:buFont typeface="Symbol" pitchFamily="18" charset="2"/>
              <a:buChar char="·"/>
            </a:pPr>
            <a:r>
              <a:rPr lang="en-US" sz="2400" smtClean="0">
                <a:latin typeface="Tahoma" pitchFamily="34" charset="0"/>
              </a:rPr>
              <a:t>Despite methods of food preservation such as drying, canning, freezing and fermentation, huge losses still occur</a:t>
            </a:r>
          </a:p>
          <a:p>
            <a:pPr eaLnBrk="1" hangingPunct="1">
              <a:buFont typeface="Symbol" pitchFamily="18" charset="2"/>
              <a:buChar char="·"/>
            </a:pPr>
            <a:r>
              <a:rPr lang="en-US" sz="2400" smtClean="0">
                <a:latin typeface="Tahoma" pitchFamily="34" charset="0"/>
              </a:rPr>
              <a:t>Food irradiation is a physical means of food treatment comparable to processing food by heating or freezing it</a:t>
            </a:r>
          </a:p>
          <a:p>
            <a:pPr eaLnBrk="1" hangingPunct="1">
              <a:buFont typeface="Symbol" pitchFamily="18" charset="2"/>
              <a:buChar char="·"/>
            </a:pPr>
            <a:r>
              <a:rPr lang="en-US" sz="2400" smtClean="0">
                <a:latin typeface="Tahoma" pitchFamily="34" charset="0"/>
              </a:rPr>
              <a:t>The process involves food either prepackaged or in bulk form subjected to </a:t>
            </a:r>
            <a:r>
              <a:rPr lang="en-US" sz="2400" smtClean="0">
                <a:latin typeface="Tahoma" pitchFamily="34" charset="0"/>
                <a:sym typeface="Symbol" pitchFamily="18" charset="2"/>
              </a:rPr>
              <a:t></a:t>
            </a:r>
            <a:r>
              <a:rPr lang="en-US" sz="2400" smtClean="0">
                <a:latin typeface="Tahoma" pitchFamily="34" charset="0"/>
              </a:rPr>
              <a:t>-rays, x-rays or electrons</a:t>
            </a:r>
          </a:p>
        </p:txBody>
      </p:sp>
      <p:pic>
        <p:nvPicPr>
          <p:cNvPr id="10245" name="Picture 5" descr="http://www.ashcocan.com/canned%20food.jpg"/>
          <p:cNvPicPr>
            <a:picLocks noChangeAspect="1" noChangeArrowheads="1"/>
          </p:cNvPicPr>
          <p:nvPr/>
        </p:nvPicPr>
        <p:blipFill>
          <a:blip r:embed="rId3" cstate="print"/>
          <a:srcRect/>
          <a:stretch>
            <a:fillRect/>
          </a:stretch>
        </p:blipFill>
        <p:spPr bwMode="auto">
          <a:xfrm>
            <a:off x="5105400" y="739775"/>
            <a:ext cx="3590925" cy="2232025"/>
          </a:xfrm>
          <a:prstGeom prst="rect">
            <a:avLst/>
          </a:prstGeom>
          <a:noFill/>
          <a:ln w="9525">
            <a:noFill/>
            <a:miter lim="800000"/>
            <a:headEnd/>
            <a:tailEnd/>
          </a:ln>
        </p:spPr>
      </p:pic>
      <p:pic>
        <p:nvPicPr>
          <p:cNvPr id="10247" name="Picture 7" descr="http://www.chem.duke.edu/~jds/cruise_chem/nuclear/pics/fruit.gif"/>
          <p:cNvPicPr>
            <a:picLocks noChangeAspect="1" noChangeArrowheads="1"/>
          </p:cNvPicPr>
          <p:nvPr/>
        </p:nvPicPr>
        <p:blipFill>
          <a:blip r:embed="rId4" cstate="print"/>
          <a:srcRect/>
          <a:stretch>
            <a:fillRect/>
          </a:stretch>
        </p:blipFill>
        <p:spPr bwMode="auto">
          <a:xfrm>
            <a:off x="4953000" y="3086100"/>
            <a:ext cx="3686175" cy="1714500"/>
          </a:xfrm>
          <a:prstGeom prst="rect">
            <a:avLst/>
          </a:prstGeom>
          <a:noFill/>
          <a:ln w="9525">
            <a:noFill/>
            <a:miter lim="800000"/>
            <a:headEnd/>
            <a:tailEnd/>
          </a:ln>
        </p:spPr>
      </p:pic>
      <p:pic>
        <p:nvPicPr>
          <p:cNvPr id="10249" name="Picture 9" descr="http://www.cjly.net/deconstructingdinner/img/nestlechocobars.gif"/>
          <p:cNvPicPr>
            <a:picLocks noChangeAspect="1" noChangeArrowheads="1"/>
          </p:cNvPicPr>
          <p:nvPr/>
        </p:nvPicPr>
        <p:blipFill>
          <a:blip r:embed="rId5" cstate="print"/>
          <a:srcRect/>
          <a:stretch>
            <a:fillRect/>
          </a:stretch>
        </p:blipFill>
        <p:spPr bwMode="auto">
          <a:xfrm>
            <a:off x="5105400" y="4953000"/>
            <a:ext cx="3124200" cy="1606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5"/>
                                        </p:tgtEl>
                                        <p:attrNameLst>
                                          <p:attrName>style.visibility</p:attrName>
                                        </p:attrNameLst>
                                      </p:cBhvr>
                                      <p:to>
                                        <p:strVal val="visible"/>
                                      </p:to>
                                    </p:set>
                                    <p:anim calcmode="lin" valueType="num">
                                      <p:cBhvr additive="base">
                                        <p:cTn id="13" dur="500" fill="hold"/>
                                        <p:tgtEl>
                                          <p:spTgt spid="10245"/>
                                        </p:tgtEl>
                                        <p:attrNameLst>
                                          <p:attrName>ppt_x</p:attrName>
                                        </p:attrNameLst>
                                      </p:cBhvr>
                                      <p:tavLst>
                                        <p:tav tm="0">
                                          <p:val>
                                            <p:strVal val="#ppt_x"/>
                                          </p:val>
                                        </p:tav>
                                        <p:tav tm="100000">
                                          <p:val>
                                            <p:strVal val="#ppt_x"/>
                                          </p:val>
                                        </p:tav>
                                      </p:tavLst>
                                    </p:anim>
                                    <p:anim calcmode="lin" valueType="num">
                                      <p:cBhvr additive="base">
                                        <p:cTn id="14"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 calcmode="lin" valueType="num">
                                      <p:cBhvr additive="base">
                                        <p:cTn id="19"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247"/>
                                        </p:tgtEl>
                                        <p:attrNameLst>
                                          <p:attrName>style.visibility</p:attrName>
                                        </p:attrNameLst>
                                      </p:cBhvr>
                                      <p:to>
                                        <p:strVal val="visible"/>
                                      </p:to>
                                    </p:set>
                                    <p:anim calcmode="lin" valueType="num">
                                      <p:cBhvr additive="base">
                                        <p:cTn id="25" dur="500" fill="hold"/>
                                        <p:tgtEl>
                                          <p:spTgt spid="10247"/>
                                        </p:tgtEl>
                                        <p:attrNameLst>
                                          <p:attrName>ppt_x</p:attrName>
                                        </p:attrNameLst>
                                      </p:cBhvr>
                                      <p:tavLst>
                                        <p:tav tm="0">
                                          <p:val>
                                            <p:strVal val="#ppt_x"/>
                                          </p:val>
                                        </p:tav>
                                        <p:tav tm="100000">
                                          <p:val>
                                            <p:strVal val="#ppt_x"/>
                                          </p:val>
                                        </p:tav>
                                      </p:tavLst>
                                    </p:anim>
                                    <p:anim calcmode="lin" valueType="num">
                                      <p:cBhvr additive="base">
                                        <p:cTn id="26" dur="500" fill="hold"/>
                                        <p:tgtEl>
                                          <p:spTgt spid="1024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243">
                                            <p:txEl>
                                              <p:pRg st="2" end="2"/>
                                            </p:txEl>
                                          </p:spTgt>
                                        </p:tgtEl>
                                        <p:attrNameLst>
                                          <p:attrName>style.visibility</p:attrName>
                                        </p:attrNameLst>
                                      </p:cBhvr>
                                      <p:to>
                                        <p:strVal val="visible"/>
                                      </p:to>
                                    </p:set>
                                    <p:anim calcmode="lin" valueType="num">
                                      <p:cBhvr additive="base">
                                        <p:cTn id="31"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249"/>
                                        </p:tgtEl>
                                        <p:attrNameLst>
                                          <p:attrName>style.visibility</p:attrName>
                                        </p:attrNameLst>
                                      </p:cBhvr>
                                      <p:to>
                                        <p:strVal val="visible"/>
                                      </p:to>
                                    </p:set>
                                    <p:anim calcmode="lin" valueType="num">
                                      <p:cBhvr additive="base">
                                        <p:cTn id="37" dur="500" fill="hold"/>
                                        <p:tgtEl>
                                          <p:spTgt spid="10249"/>
                                        </p:tgtEl>
                                        <p:attrNameLst>
                                          <p:attrName>ppt_x</p:attrName>
                                        </p:attrNameLst>
                                      </p:cBhvr>
                                      <p:tavLst>
                                        <p:tav tm="0">
                                          <p:val>
                                            <p:strVal val="#ppt_x"/>
                                          </p:val>
                                        </p:tav>
                                        <p:tav tm="100000">
                                          <p:val>
                                            <p:strVal val="#ppt_x"/>
                                          </p:val>
                                        </p:tav>
                                      </p:tavLst>
                                    </p:anim>
                                    <p:anim calcmode="lin" valueType="num">
                                      <p:cBhvr additive="base">
                                        <p:cTn id="38" dur="500" fill="hold"/>
                                        <p:tgtEl>
                                          <p:spTgt spid="102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30175" y="228600"/>
            <a:ext cx="5432425" cy="6324600"/>
          </a:xfrm>
        </p:spPr>
        <p:txBody>
          <a:bodyPr/>
          <a:lstStyle/>
          <a:p>
            <a:pPr eaLnBrk="1" hangingPunct="1">
              <a:buFont typeface="Symbol" pitchFamily="18" charset="2"/>
              <a:buChar char="·"/>
            </a:pPr>
            <a:r>
              <a:rPr lang="en-US" sz="2800" smtClean="0">
                <a:latin typeface="Tahoma" pitchFamily="34" charset="0"/>
              </a:rPr>
              <a:t>The most common and approved source for </a:t>
            </a:r>
            <a:r>
              <a:rPr lang="en-US" sz="2800" smtClean="0">
                <a:latin typeface="Tahoma" pitchFamily="34" charset="0"/>
                <a:sym typeface="Symbol" pitchFamily="18" charset="2"/>
              </a:rPr>
              <a:t></a:t>
            </a:r>
            <a:r>
              <a:rPr lang="en-US" sz="2800" smtClean="0">
                <a:latin typeface="Tahoma" pitchFamily="34" charset="0"/>
              </a:rPr>
              <a:t>-rays in food processing are </a:t>
            </a:r>
            <a:r>
              <a:rPr lang="en-US" sz="2800" baseline="30000" smtClean="0">
                <a:latin typeface="Tahoma" pitchFamily="34" charset="0"/>
              </a:rPr>
              <a:t>60</a:t>
            </a:r>
            <a:r>
              <a:rPr lang="en-US" sz="2800" smtClean="0">
                <a:latin typeface="Tahoma" pitchFamily="34" charset="0"/>
              </a:rPr>
              <a:t>Co and </a:t>
            </a:r>
            <a:r>
              <a:rPr lang="en-US" sz="2800" baseline="30000" smtClean="0">
                <a:latin typeface="Tahoma" pitchFamily="34" charset="0"/>
              </a:rPr>
              <a:t>137</a:t>
            </a:r>
            <a:r>
              <a:rPr lang="en-US" sz="2800" smtClean="0">
                <a:latin typeface="Tahoma" pitchFamily="34" charset="0"/>
              </a:rPr>
              <a:t>Cs with no inducement of radioactivity</a:t>
            </a:r>
          </a:p>
          <a:p>
            <a:pPr eaLnBrk="1" hangingPunct="1">
              <a:buFont typeface="Symbol" pitchFamily="18" charset="2"/>
              <a:buChar char="·"/>
            </a:pPr>
            <a:r>
              <a:rPr lang="en-US" sz="2800" smtClean="0">
                <a:latin typeface="Tahoma" pitchFamily="34" charset="0"/>
              </a:rPr>
              <a:t>Food processing by irradiation is not a ‘miracle’ technique capable of solving all problems</a:t>
            </a:r>
          </a:p>
          <a:p>
            <a:pPr eaLnBrk="1" hangingPunct="1">
              <a:buFont typeface="Symbol" pitchFamily="18" charset="2"/>
              <a:buChar char="·"/>
            </a:pPr>
            <a:r>
              <a:rPr lang="en-US" sz="2800" smtClean="0">
                <a:latin typeface="Tahoma" pitchFamily="34" charset="0"/>
              </a:rPr>
              <a:t>It can solve specific problems of food losses and compliment other established technologies such as refrigeration</a:t>
            </a:r>
          </a:p>
        </p:txBody>
      </p:sp>
      <p:pic>
        <p:nvPicPr>
          <p:cNvPr id="19462" name="Picture 6" descr="http://www.uncrate.com/men/images/2006/05/lg-lcd-tv-refrigerator.jpg"/>
          <p:cNvPicPr>
            <a:picLocks noChangeAspect="1" noChangeArrowheads="1"/>
          </p:cNvPicPr>
          <p:nvPr/>
        </p:nvPicPr>
        <p:blipFill>
          <a:blip r:embed="rId3" cstate="print"/>
          <a:srcRect/>
          <a:stretch>
            <a:fillRect/>
          </a:stretch>
        </p:blipFill>
        <p:spPr bwMode="auto">
          <a:xfrm>
            <a:off x="5562600" y="742950"/>
            <a:ext cx="3324225" cy="5810250"/>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9462"/>
                                        </p:tgtEl>
                                        <p:attrNameLst>
                                          <p:attrName>style.visibility</p:attrName>
                                        </p:attrNameLst>
                                      </p:cBhvr>
                                      <p:to>
                                        <p:strVal val="visible"/>
                                      </p:to>
                                    </p:set>
                                    <p:anim calcmode="lin" valueType="num">
                                      <p:cBhvr additive="base">
                                        <p:cTn id="25" dur="500" fill="hold"/>
                                        <p:tgtEl>
                                          <p:spTgt spid="19462"/>
                                        </p:tgtEl>
                                        <p:attrNameLst>
                                          <p:attrName>ppt_x</p:attrName>
                                        </p:attrNameLst>
                                      </p:cBhvr>
                                      <p:tavLst>
                                        <p:tav tm="0">
                                          <p:val>
                                            <p:strVal val="#ppt_x"/>
                                          </p:val>
                                        </p:tav>
                                        <p:tav tm="100000">
                                          <p:val>
                                            <p:strVal val="#ppt_x"/>
                                          </p:val>
                                        </p:tav>
                                      </p:tavLst>
                                    </p:anim>
                                    <p:anim calcmode="lin" valueType="num">
                                      <p:cBhvr additive="base">
                                        <p:cTn id="26"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0"/>
            <a:ext cx="8229600" cy="1143000"/>
          </a:xfrm>
        </p:spPr>
        <p:txBody>
          <a:bodyPr/>
          <a:lstStyle/>
          <a:p>
            <a:r>
              <a:rPr lang="en-US" b="1" smtClean="0">
                <a:latin typeface="Tahoma" pitchFamily="34" charset="0"/>
              </a:rPr>
              <a:t>Electron Irradiation</a:t>
            </a:r>
          </a:p>
        </p:txBody>
      </p:sp>
      <p:sp>
        <p:nvSpPr>
          <p:cNvPr id="16387" name="Content Placeholder 2"/>
          <p:cNvSpPr>
            <a:spLocks noGrp="1"/>
          </p:cNvSpPr>
          <p:nvPr>
            <p:ph idx="1"/>
          </p:nvPr>
        </p:nvSpPr>
        <p:spPr>
          <a:xfrm>
            <a:off x="0" y="990600"/>
            <a:ext cx="6172200" cy="5135563"/>
          </a:xfrm>
        </p:spPr>
        <p:txBody>
          <a:bodyPr/>
          <a:lstStyle/>
          <a:p>
            <a:r>
              <a:rPr lang="en-US" dirty="0" smtClean="0">
                <a:latin typeface="Tahoma" pitchFamily="34" charset="0"/>
              </a:rPr>
              <a:t>Electron irradiation uses electrons accelerated in an electric field to a velocity close to the speed of light. </a:t>
            </a:r>
          </a:p>
          <a:p>
            <a:r>
              <a:rPr lang="en-US" dirty="0" smtClean="0">
                <a:latin typeface="Tahoma" pitchFamily="34" charset="0"/>
              </a:rPr>
              <a:t>Electrons impinge on a target like tungsten, to produce bremsstrahlung radiation.</a:t>
            </a:r>
            <a:endParaRPr lang="en-US" dirty="0" smtClean="0"/>
          </a:p>
        </p:txBody>
      </p:sp>
      <p:pic>
        <p:nvPicPr>
          <p:cNvPr id="16388" name="Picture 2" descr="http://ehs.virginia.edu/ehs/ehs.rs/rs.images/sem.coutesy.iowa.state.jpg"/>
          <p:cNvPicPr>
            <a:picLocks noChangeAspect="1" noChangeArrowheads="1"/>
          </p:cNvPicPr>
          <p:nvPr/>
        </p:nvPicPr>
        <p:blipFill>
          <a:blip r:embed="rId2" cstate="print"/>
          <a:srcRect/>
          <a:stretch>
            <a:fillRect/>
          </a:stretch>
        </p:blipFill>
        <p:spPr bwMode="auto">
          <a:xfrm>
            <a:off x="6210300" y="1371600"/>
            <a:ext cx="2868613"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74638"/>
            <a:ext cx="8229600" cy="868362"/>
          </a:xfrm>
        </p:spPr>
        <p:txBody>
          <a:bodyPr/>
          <a:lstStyle/>
          <a:p>
            <a:r>
              <a:rPr lang="en-US" b="1" smtClean="0">
                <a:latin typeface="Tahoma" pitchFamily="34" charset="0"/>
              </a:rPr>
              <a:t>Gamma Irradiation</a:t>
            </a:r>
            <a:endParaRPr lang="en-US" smtClean="0">
              <a:latin typeface="Tahoma" pitchFamily="34" charset="0"/>
            </a:endParaRPr>
          </a:p>
        </p:txBody>
      </p:sp>
      <p:sp>
        <p:nvSpPr>
          <p:cNvPr id="17411" name="Content Placeholder 2"/>
          <p:cNvSpPr>
            <a:spLocks noGrp="1"/>
          </p:cNvSpPr>
          <p:nvPr>
            <p:ph idx="1"/>
          </p:nvPr>
        </p:nvSpPr>
        <p:spPr>
          <a:xfrm>
            <a:off x="0" y="1143000"/>
            <a:ext cx="9144000" cy="4525963"/>
          </a:xfrm>
        </p:spPr>
        <p:txBody>
          <a:bodyPr/>
          <a:lstStyle/>
          <a:p>
            <a:r>
              <a:rPr lang="en-US" smtClean="0">
                <a:latin typeface="Tahoma" pitchFamily="34" charset="0"/>
              </a:rPr>
              <a:t>Gamma radiation is radiation of photons in the gamma part of the electromagnetic spectrum.  </a:t>
            </a:r>
          </a:p>
          <a:p>
            <a:r>
              <a:rPr lang="en-US" smtClean="0">
                <a:latin typeface="Tahoma" pitchFamily="34" charset="0"/>
              </a:rPr>
              <a:t>The radiation is obtained through the use of radioisotopes, generally cobalt-60 or</a:t>
            </a:r>
          </a:p>
          <a:p>
            <a:pPr>
              <a:buFont typeface="Arial" charset="0"/>
              <a:buNone/>
            </a:pPr>
            <a:r>
              <a:rPr lang="en-US" smtClean="0">
                <a:latin typeface="Tahoma" pitchFamily="34" charset="0"/>
              </a:rPr>
              <a:t>   cesium-137. </a:t>
            </a:r>
          </a:p>
          <a:p>
            <a:r>
              <a:rPr lang="en-US" smtClean="0">
                <a:latin typeface="Tahoma" pitchFamily="34" charset="0"/>
              </a:rPr>
              <a:t>Food irradiation using cobalt-60 is the preferred method by most processors, because the deeper penetration enables administering treatment to entire industrial pallets or totes, reducing the need for material handling.</a:t>
            </a:r>
          </a:p>
          <a:p>
            <a:endParaRPr lang="en-US" smtClean="0">
              <a:latin typeface="Tahom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www.gammapak.com/en/images/isinlama_tesisi2_large.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0"/>
            <a:ext cx="8229600" cy="1143000"/>
          </a:xfrm>
        </p:spPr>
        <p:txBody>
          <a:bodyPr/>
          <a:lstStyle/>
          <a:p>
            <a:r>
              <a:rPr lang="en-US" b="1" smtClean="0">
                <a:latin typeface="Tahoma" pitchFamily="34" charset="0"/>
              </a:rPr>
              <a:t>X-Ray Irradiation</a:t>
            </a:r>
            <a:endParaRPr lang="en-US" smtClean="0">
              <a:latin typeface="Tahoma" pitchFamily="34" charset="0"/>
            </a:endParaRPr>
          </a:p>
        </p:txBody>
      </p:sp>
      <p:sp>
        <p:nvSpPr>
          <p:cNvPr id="19459" name="Content Placeholder 2"/>
          <p:cNvSpPr>
            <a:spLocks noGrp="1"/>
          </p:cNvSpPr>
          <p:nvPr>
            <p:ph idx="1"/>
          </p:nvPr>
        </p:nvSpPr>
        <p:spPr>
          <a:xfrm>
            <a:off x="0" y="1066800"/>
            <a:ext cx="9144000" cy="5791200"/>
          </a:xfrm>
        </p:spPr>
        <p:txBody>
          <a:bodyPr/>
          <a:lstStyle/>
          <a:p>
            <a:r>
              <a:rPr lang="en-US" smtClean="0">
                <a:latin typeface="Tahoma" pitchFamily="34" charset="0"/>
              </a:rPr>
              <a:t>Similar to gamma radiation, X-rays are photon radiation of a wide energy spectrum and an alternative to isotope based irradiation systems. </a:t>
            </a:r>
          </a:p>
          <a:p>
            <a:r>
              <a:rPr lang="en-US" smtClean="0">
                <a:latin typeface="Tahoma" pitchFamily="34" charset="0"/>
              </a:rPr>
              <a:t> X-rays are generated by colliding accelerated electrons with a dense material (target) such as tantalum or tungsten in a process known as bremsstrahlung-conversion.   </a:t>
            </a:r>
          </a:p>
          <a:p>
            <a:r>
              <a:rPr lang="en-US" smtClean="0">
                <a:latin typeface="Tahoma" pitchFamily="34" charset="0"/>
              </a:rPr>
              <a:t>X-ray irradiators are scalable and have deep penetration comparable to Co-60, with the added benefit that the electronic source stops radiating when switched off.</a:t>
            </a:r>
          </a:p>
          <a:p>
            <a:endParaRPr lang="en-US" smtClean="0">
              <a:latin typeface="Tahoma"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sirad.pd.infn.it/sirad/WEB/X-ray/Figure1_Photograph_X-ray_Irradiation_Facility.gif"/>
          <p:cNvPicPr>
            <a:picLocks noChangeAspect="1" noChangeArrowheads="1"/>
          </p:cNvPicPr>
          <p:nvPr/>
        </p:nvPicPr>
        <p:blipFill>
          <a:blip r:embed="rId2" cstate="print"/>
          <a:srcRect/>
          <a:stretch>
            <a:fillRect/>
          </a:stretch>
        </p:blipFill>
        <p:spPr bwMode="auto">
          <a:xfrm>
            <a:off x="0" y="0"/>
            <a:ext cx="9136063"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blue pool"/>
          <p:cNvPicPr>
            <a:picLocks noChangeAspect="1" noChangeArrowheads="1"/>
          </p:cNvPicPr>
          <p:nvPr/>
        </p:nvPicPr>
        <p:blipFill>
          <a:blip r:embed="rId2" cstate="print"/>
          <a:srcRect/>
          <a:stretch>
            <a:fillRect/>
          </a:stretch>
        </p:blipFill>
        <p:spPr bwMode="auto">
          <a:xfrm>
            <a:off x="2644775" y="0"/>
            <a:ext cx="6499225" cy="6858000"/>
          </a:xfrm>
          <a:prstGeom prst="rect">
            <a:avLst/>
          </a:prstGeom>
          <a:noFill/>
          <a:ln w="9525">
            <a:noFill/>
            <a:miter lim="800000"/>
            <a:headEnd/>
            <a:tailEnd/>
          </a:ln>
        </p:spPr>
      </p:pic>
      <p:sp>
        <p:nvSpPr>
          <p:cNvPr id="21507" name="Text Box 3"/>
          <p:cNvSpPr txBox="1">
            <a:spLocks noChangeArrowheads="1"/>
          </p:cNvSpPr>
          <p:nvPr/>
        </p:nvSpPr>
        <p:spPr bwMode="auto">
          <a:xfrm>
            <a:off x="381000" y="2362200"/>
            <a:ext cx="1981200" cy="1066800"/>
          </a:xfrm>
          <a:prstGeom prst="rect">
            <a:avLst/>
          </a:prstGeom>
          <a:noFill/>
          <a:ln w="9525">
            <a:noFill/>
            <a:miter lim="800000"/>
            <a:headEnd/>
            <a:tailEnd/>
          </a:ln>
        </p:spPr>
        <p:txBody>
          <a:bodyPr>
            <a:spAutoFit/>
          </a:bodyPr>
          <a:lstStyle/>
          <a:p>
            <a:pPr>
              <a:spcBef>
                <a:spcPct val="50000"/>
              </a:spcBef>
            </a:pPr>
            <a:r>
              <a:rPr lang="en-US" sz="3200" b="1" baseline="30000">
                <a:solidFill>
                  <a:srgbClr val="A50021"/>
                </a:solidFill>
                <a:latin typeface="Tahoma" pitchFamily="34" charset="0"/>
              </a:rPr>
              <a:t>60</a:t>
            </a:r>
            <a:r>
              <a:rPr lang="en-US" sz="3200" b="1">
                <a:solidFill>
                  <a:srgbClr val="A50021"/>
                </a:solidFill>
                <a:latin typeface="Tahoma" pitchFamily="34" charset="0"/>
              </a:rPr>
              <a:t>Co Pencils</a:t>
            </a:r>
            <a:endParaRPr lang="en-US" sz="3200" b="1" baseline="30000">
              <a:solidFill>
                <a:srgbClr val="A50021"/>
              </a:solidFill>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blinds(horizontal)">
                                      <p:cBhvr>
                                        <p:cTn id="7"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descr="food loading"/>
          <p:cNvPicPr>
            <a:picLocks noGrp="1" noChangeAspect="1" noChangeArrowheads="1"/>
          </p:cNvPicPr>
          <p:nvPr>
            <p:ph/>
          </p:nvPr>
        </p:nvPicPr>
        <p:blipFill>
          <a:blip r:embed="rId2" cstate="print"/>
          <a:srcRect/>
          <a:stretch>
            <a:fillRect/>
          </a:stretch>
        </p:blipFill>
        <p:spPr>
          <a:xfrm>
            <a:off x="0" y="0"/>
            <a:ext cx="9144000" cy="5675313"/>
          </a:xfrm>
        </p:spPr>
      </p:pic>
      <p:sp>
        <p:nvSpPr>
          <p:cNvPr id="22531" name="Text Box 5"/>
          <p:cNvSpPr txBox="1">
            <a:spLocks noChangeArrowheads="1"/>
          </p:cNvSpPr>
          <p:nvPr/>
        </p:nvSpPr>
        <p:spPr bwMode="auto">
          <a:xfrm>
            <a:off x="609600" y="5973763"/>
            <a:ext cx="7543800" cy="579437"/>
          </a:xfrm>
          <a:prstGeom prst="rect">
            <a:avLst/>
          </a:prstGeom>
          <a:noFill/>
          <a:ln w="9525">
            <a:noFill/>
            <a:miter lim="800000"/>
            <a:headEnd/>
            <a:tailEnd/>
          </a:ln>
        </p:spPr>
        <p:txBody>
          <a:bodyPr>
            <a:spAutoFit/>
          </a:bodyPr>
          <a:lstStyle/>
          <a:p>
            <a:pPr algn="ctr">
              <a:spcBef>
                <a:spcPct val="50000"/>
              </a:spcBef>
            </a:pPr>
            <a:r>
              <a:rPr lang="en-US" sz="3200" b="1">
                <a:solidFill>
                  <a:srgbClr val="660066"/>
                </a:solidFill>
                <a:latin typeface="Tahoma" pitchFamily="34" charset="0"/>
              </a:rPr>
              <a:t>Food Loading</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5" descr="food irradiation processing"/>
          <p:cNvPicPr>
            <a:picLocks noGrp="1" noChangeAspect="1" noChangeArrowheads="1"/>
          </p:cNvPicPr>
          <p:nvPr>
            <p:ph idx="1"/>
          </p:nvPr>
        </p:nvPicPr>
        <p:blipFill>
          <a:blip r:embed="rId2" cstate="print"/>
          <a:srcRect/>
          <a:stretch>
            <a:fillRect/>
          </a:stretch>
        </p:blipFill>
        <p:spPr>
          <a:xfrm>
            <a:off x="0" y="0"/>
            <a:ext cx="9144000" cy="5867400"/>
          </a:xfrm>
        </p:spPr>
      </p:pic>
      <p:sp>
        <p:nvSpPr>
          <p:cNvPr id="23555" name="Text Box 6"/>
          <p:cNvSpPr txBox="1">
            <a:spLocks noChangeArrowheads="1"/>
          </p:cNvSpPr>
          <p:nvPr/>
        </p:nvSpPr>
        <p:spPr bwMode="auto">
          <a:xfrm>
            <a:off x="1524000" y="6126163"/>
            <a:ext cx="6096000" cy="579437"/>
          </a:xfrm>
          <a:prstGeom prst="rect">
            <a:avLst/>
          </a:prstGeom>
          <a:noFill/>
          <a:ln w="9525">
            <a:noFill/>
            <a:miter lim="800000"/>
            <a:headEnd/>
            <a:tailEnd/>
          </a:ln>
        </p:spPr>
        <p:txBody>
          <a:bodyPr>
            <a:spAutoFit/>
          </a:bodyPr>
          <a:lstStyle/>
          <a:p>
            <a:pPr algn="ctr">
              <a:spcBef>
                <a:spcPct val="50000"/>
              </a:spcBef>
            </a:pPr>
            <a:r>
              <a:rPr lang="en-US" sz="3200" b="1">
                <a:latin typeface="Tahoma" pitchFamily="34" charset="0"/>
              </a:rPr>
              <a:t>Food Transporter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09600" y="152400"/>
            <a:ext cx="7772400" cy="1600200"/>
          </a:xfrm>
        </p:spPr>
        <p:txBody>
          <a:bodyPr/>
          <a:lstStyle/>
          <a:p>
            <a:pPr eaLnBrk="1" hangingPunct="1">
              <a:buFont typeface="Symbol" pitchFamily="18" charset="2"/>
              <a:buNone/>
            </a:pPr>
            <a:r>
              <a:rPr lang="en-US" b="1" smtClean="0">
                <a:latin typeface="Tahoma" pitchFamily="34" charset="0"/>
              </a:rPr>
              <a:t>HOW FOOD IRRADIATION PROCESSING WORKS</a:t>
            </a:r>
            <a:endParaRPr lang="en-US" b="1" smtClean="0"/>
          </a:p>
        </p:txBody>
      </p:sp>
      <p:sp>
        <p:nvSpPr>
          <p:cNvPr id="21507" name="Rectangle 3"/>
          <p:cNvSpPr>
            <a:spLocks noGrp="1" noChangeArrowheads="1"/>
          </p:cNvSpPr>
          <p:nvPr>
            <p:ph idx="1"/>
          </p:nvPr>
        </p:nvSpPr>
        <p:spPr>
          <a:xfrm>
            <a:off x="381000" y="1676400"/>
            <a:ext cx="8229600" cy="3429000"/>
          </a:xfrm>
        </p:spPr>
        <p:txBody>
          <a:bodyPr/>
          <a:lstStyle/>
          <a:p>
            <a:pPr eaLnBrk="1" hangingPunct="1">
              <a:buFont typeface="Symbol" pitchFamily="18" charset="2"/>
              <a:buChar char="·"/>
            </a:pPr>
            <a:r>
              <a:rPr lang="en-US" smtClean="0">
                <a:latin typeface="Tahoma" pitchFamily="34" charset="0"/>
              </a:rPr>
              <a:t>Biological effects of radiation result from its ability to induce chemical changes in living tissues</a:t>
            </a:r>
          </a:p>
        </p:txBody>
      </p:sp>
      <p:pic>
        <p:nvPicPr>
          <p:cNvPr id="5" name="Picture 4" descr="fig4.jpg"/>
          <p:cNvPicPr>
            <a:picLocks noChangeAspect="1"/>
          </p:cNvPicPr>
          <p:nvPr/>
        </p:nvPicPr>
        <p:blipFill>
          <a:blip r:embed="rId3" cstate="print"/>
          <a:srcRect/>
          <a:stretch>
            <a:fillRect/>
          </a:stretch>
        </p:blipFill>
        <p:spPr bwMode="auto">
          <a:xfrm>
            <a:off x="3276600" y="2819400"/>
            <a:ext cx="5354638" cy="3886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7"/>
          <p:cNvSpPr>
            <a:spLocks noGrp="1"/>
          </p:cNvSpPr>
          <p:nvPr>
            <p:ph type="title"/>
          </p:nvPr>
        </p:nvSpPr>
        <p:spPr/>
        <p:txBody>
          <a:bodyPr/>
          <a:lstStyle/>
          <a:p>
            <a:r>
              <a:rPr lang="en-US" sz="2800" b="1" dirty="0" smtClean="0">
                <a:latin typeface="Tahoma" pitchFamily="34" charset="0"/>
              </a:rPr>
              <a:t/>
            </a:r>
            <a:br>
              <a:rPr lang="en-US" sz="2800" b="1" dirty="0" smtClean="0">
                <a:latin typeface="Tahoma" pitchFamily="34" charset="0"/>
              </a:rPr>
            </a:br>
            <a:r>
              <a:rPr lang="en-US" sz="2800" b="1" dirty="0" smtClean="0">
                <a:latin typeface="Tahoma" pitchFamily="34" charset="0"/>
              </a:rPr>
              <a:t/>
            </a:r>
            <a:br>
              <a:rPr lang="en-US" sz="2800" b="1" dirty="0" smtClean="0">
                <a:latin typeface="Tahoma" pitchFamily="34" charset="0"/>
              </a:rPr>
            </a:br>
            <a:r>
              <a:rPr lang="en-US" sz="3200" b="1" dirty="0" smtClean="0">
                <a:latin typeface="Tahoma" pitchFamily="34" charset="0"/>
              </a:rPr>
              <a:t>Two Basic Processes Occur When Ionizing Radiation Interacts</a:t>
            </a:r>
            <a:br>
              <a:rPr lang="en-US" sz="3200" b="1" dirty="0" smtClean="0">
                <a:latin typeface="Tahoma" pitchFamily="34" charset="0"/>
              </a:rPr>
            </a:br>
            <a:endParaRPr lang="en-US" sz="3200" dirty="0" smtClean="0"/>
          </a:p>
        </p:txBody>
      </p:sp>
      <p:sp>
        <p:nvSpPr>
          <p:cNvPr id="95235" name="Rectangle 1027"/>
          <p:cNvSpPr>
            <a:spLocks noGrp="1" noChangeArrowheads="1"/>
          </p:cNvSpPr>
          <p:nvPr>
            <p:ph sz="half" idx="1"/>
          </p:nvPr>
        </p:nvSpPr>
        <p:spPr>
          <a:xfrm>
            <a:off x="0" y="1524000"/>
            <a:ext cx="4648200" cy="5105400"/>
          </a:xfrm>
        </p:spPr>
        <p:txBody>
          <a:bodyPr/>
          <a:lstStyle/>
          <a:p>
            <a:pPr marL="514350" indent="-514350" eaLnBrk="1" hangingPunct="1">
              <a:buClr>
                <a:schemeClr val="accent2"/>
              </a:buClr>
              <a:buFont typeface="Arial" charset="0"/>
              <a:buAutoNum type="arabicPeriod"/>
              <a:defRPr/>
            </a:pPr>
            <a:r>
              <a:rPr lang="en-US" dirty="0">
                <a:latin typeface="Tahoma" pitchFamily="34" charset="0"/>
              </a:rPr>
              <a:t>P</a:t>
            </a:r>
            <a:r>
              <a:rPr lang="en-US" dirty="0" smtClean="0">
                <a:latin typeface="Tahoma" pitchFamily="34" charset="0"/>
              </a:rPr>
              <a:t>rimary process causes formation of ions, excited molecules, or molecular fragments </a:t>
            </a:r>
          </a:p>
          <a:p>
            <a:pPr marL="514350" indent="-514350" eaLnBrk="1" hangingPunct="1">
              <a:buClr>
                <a:schemeClr val="accent2"/>
              </a:buClr>
              <a:buFont typeface="Arial" charset="0"/>
              <a:buAutoNum type="arabicPeriod"/>
              <a:defRPr/>
            </a:pPr>
            <a:r>
              <a:rPr lang="en-US" dirty="0">
                <a:latin typeface="Tahoma" pitchFamily="34" charset="0"/>
              </a:rPr>
              <a:t>S</a:t>
            </a:r>
            <a:r>
              <a:rPr lang="en-US" dirty="0" smtClean="0">
                <a:latin typeface="Tahoma" pitchFamily="34" charset="0"/>
              </a:rPr>
              <a:t>econdary process involves interaction of the products of the primary process resulting in the formation of compounds different from those initially present</a:t>
            </a:r>
          </a:p>
          <a:p>
            <a:pPr eaLnBrk="1" hangingPunct="1">
              <a:defRPr/>
            </a:pPr>
            <a:endParaRPr lang="en-US" dirty="0" smtClean="0"/>
          </a:p>
        </p:txBody>
      </p:sp>
      <p:pic>
        <p:nvPicPr>
          <p:cNvPr id="14340" name="Picture 5"/>
          <p:cNvPicPr>
            <a:picLocks noChangeAspect="1" noChangeArrowheads="1"/>
          </p:cNvPicPr>
          <p:nvPr/>
        </p:nvPicPr>
        <p:blipFill>
          <a:blip r:embed="rId2" cstate="print"/>
          <a:srcRect/>
          <a:stretch>
            <a:fillRect/>
          </a:stretch>
        </p:blipFill>
        <p:spPr bwMode="auto">
          <a:xfrm>
            <a:off x="4953000" y="1524000"/>
            <a:ext cx="3455988" cy="2536825"/>
          </a:xfrm>
          <a:prstGeom prst="rect">
            <a:avLst/>
          </a:prstGeom>
          <a:noFill/>
          <a:ln w="9525">
            <a:noFill/>
            <a:miter lim="800000"/>
            <a:headEnd/>
            <a:tailEnd/>
          </a:ln>
        </p:spPr>
      </p:pic>
      <p:pic>
        <p:nvPicPr>
          <p:cNvPr id="14341" name="Picture 7"/>
          <p:cNvPicPr>
            <a:picLocks noGrp="1" noChangeAspect="1" noChangeArrowheads="1"/>
          </p:cNvPicPr>
          <p:nvPr>
            <p:ph sz="half" idx="2"/>
          </p:nvPr>
        </p:nvPicPr>
        <p:blipFill>
          <a:blip r:embed="rId3" cstate="print"/>
          <a:srcRect/>
          <a:stretch>
            <a:fillRect/>
          </a:stretch>
        </p:blipFill>
        <p:spPr>
          <a:xfrm>
            <a:off x="4953000" y="4343400"/>
            <a:ext cx="3581400" cy="2065338"/>
          </a:xfr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 calcmode="lin" valueType="num">
                                      <p:cBhvr additive="base">
                                        <p:cTn id="7" dur="500" fill="hold"/>
                                        <p:tgtEl>
                                          <p:spTgt spid="952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340"/>
                                        </p:tgtEl>
                                        <p:attrNameLst>
                                          <p:attrName>style.visibility</p:attrName>
                                        </p:attrNameLst>
                                      </p:cBhvr>
                                      <p:to>
                                        <p:strVal val="visible"/>
                                      </p:to>
                                    </p:set>
                                    <p:anim calcmode="lin" valueType="num">
                                      <p:cBhvr additive="base">
                                        <p:cTn id="13" dur="500" fill="hold"/>
                                        <p:tgtEl>
                                          <p:spTgt spid="14340"/>
                                        </p:tgtEl>
                                        <p:attrNameLst>
                                          <p:attrName>ppt_x</p:attrName>
                                        </p:attrNameLst>
                                      </p:cBhvr>
                                      <p:tavLst>
                                        <p:tav tm="0">
                                          <p:val>
                                            <p:strVal val="#ppt_x"/>
                                          </p:val>
                                        </p:tav>
                                        <p:tav tm="100000">
                                          <p:val>
                                            <p:strVal val="#ppt_x"/>
                                          </p:val>
                                        </p:tav>
                                      </p:tavLst>
                                    </p:anim>
                                    <p:anim calcmode="lin" valueType="num">
                                      <p:cBhvr additive="base">
                                        <p:cTn id="14"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5235">
                                            <p:txEl>
                                              <p:pRg st="1" end="1"/>
                                            </p:txEl>
                                          </p:spTgt>
                                        </p:tgtEl>
                                        <p:attrNameLst>
                                          <p:attrName>style.visibility</p:attrName>
                                        </p:attrNameLst>
                                      </p:cBhvr>
                                      <p:to>
                                        <p:strVal val="visible"/>
                                      </p:to>
                                    </p:set>
                                    <p:anim calcmode="lin" valueType="num">
                                      <p:cBhvr additive="base">
                                        <p:cTn id="19" dur="500" fill="hold"/>
                                        <p:tgtEl>
                                          <p:spTgt spid="9523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2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341"/>
                                        </p:tgtEl>
                                        <p:attrNameLst>
                                          <p:attrName>style.visibility</p:attrName>
                                        </p:attrNameLst>
                                      </p:cBhvr>
                                      <p:to>
                                        <p:strVal val="visible"/>
                                      </p:to>
                                    </p:set>
                                    <p:anim calcmode="lin" valueType="num">
                                      <p:cBhvr additive="base">
                                        <p:cTn id="25" dur="500" fill="hold"/>
                                        <p:tgtEl>
                                          <p:spTgt spid="14341"/>
                                        </p:tgtEl>
                                        <p:attrNameLst>
                                          <p:attrName>ppt_x</p:attrName>
                                        </p:attrNameLst>
                                      </p:cBhvr>
                                      <p:tavLst>
                                        <p:tav tm="0">
                                          <p:val>
                                            <p:strVal val="#ppt_x"/>
                                          </p:val>
                                        </p:tav>
                                        <p:tav tm="100000">
                                          <p:val>
                                            <p:strVal val="#ppt_x"/>
                                          </p:val>
                                        </p:tav>
                                      </p:tavLst>
                                    </p:anim>
                                    <p:anim calcmode="lin" valueType="num">
                                      <p:cBhvr additive="base">
                                        <p:cTn id="26"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228600" y="228600"/>
            <a:ext cx="5105400" cy="6477000"/>
          </a:xfrm>
        </p:spPr>
        <p:txBody>
          <a:bodyPr/>
          <a:lstStyle/>
          <a:p>
            <a:pPr eaLnBrk="1" hangingPunct="1">
              <a:buFont typeface="Symbol" pitchFamily="18" charset="2"/>
              <a:buChar char="·"/>
            </a:pPr>
            <a:r>
              <a:rPr lang="en-US" sz="2800" smtClean="0">
                <a:latin typeface="Tahoma" pitchFamily="34" charset="0"/>
              </a:rPr>
              <a:t>Biological effects of radiation in a living organism are associated with the impairment of metabolic processes responsible for cell division</a:t>
            </a:r>
          </a:p>
          <a:p>
            <a:pPr eaLnBrk="1" hangingPunct="1">
              <a:buFont typeface="Symbol" pitchFamily="18" charset="2"/>
              <a:buChar char="·"/>
            </a:pPr>
            <a:r>
              <a:rPr lang="en-US" sz="2800" smtClean="0">
                <a:latin typeface="Tahoma" pitchFamily="34" charset="0"/>
              </a:rPr>
              <a:t>At low doses, living organisms can recover from radiation injury</a:t>
            </a:r>
          </a:p>
          <a:p>
            <a:pPr eaLnBrk="1" hangingPunct="1">
              <a:buFont typeface="Symbol" pitchFamily="18" charset="2"/>
              <a:buChar char="·"/>
            </a:pPr>
            <a:r>
              <a:rPr lang="en-US" sz="2800" smtClean="0">
                <a:latin typeface="Tahoma" pitchFamily="34" charset="0"/>
              </a:rPr>
              <a:t>Unique advantage of ionizing radiation to kill microorganisms lies in its strong penetrating power</a:t>
            </a:r>
          </a:p>
        </p:txBody>
      </p:sp>
      <p:pic>
        <p:nvPicPr>
          <p:cNvPr id="26632" name="Picture 8" descr="http://medicineworld.org/images/blogs/1-2007/programmed-cell-death-441.jpg"/>
          <p:cNvPicPr>
            <a:picLocks noChangeAspect="1" noChangeArrowheads="1"/>
          </p:cNvPicPr>
          <p:nvPr/>
        </p:nvPicPr>
        <p:blipFill>
          <a:blip r:embed="rId3" cstate="print"/>
          <a:srcRect/>
          <a:stretch>
            <a:fillRect/>
          </a:stretch>
        </p:blipFill>
        <p:spPr bwMode="auto">
          <a:xfrm>
            <a:off x="5943600" y="3810000"/>
            <a:ext cx="2128838" cy="2895600"/>
          </a:xfrm>
          <a:prstGeom prst="rect">
            <a:avLst/>
          </a:prstGeom>
          <a:noFill/>
          <a:ln w="9525">
            <a:noFill/>
            <a:miter lim="800000"/>
            <a:headEnd/>
            <a:tailEnd/>
          </a:ln>
        </p:spPr>
      </p:pic>
      <p:pic>
        <p:nvPicPr>
          <p:cNvPr id="26634" name="Picture 10" descr="http://www.fda.gov/cdrh/figure2c.jpeg"/>
          <p:cNvPicPr>
            <a:picLocks noChangeAspect="1" noChangeArrowheads="1"/>
          </p:cNvPicPr>
          <p:nvPr/>
        </p:nvPicPr>
        <p:blipFill>
          <a:blip r:embed="rId4" cstate="print"/>
          <a:srcRect/>
          <a:stretch>
            <a:fillRect/>
          </a:stretch>
        </p:blipFill>
        <p:spPr bwMode="auto">
          <a:xfrm>
            <a:off x="5715000" y="228600"/>
            <a:ext cx="2670175" cy="3505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6634"/>
                                        </p:tgtEl>
                                        <p:attrNameLst>
                                          <p:attrName>style.visibility</p:attrName>
                                        </p:attrNameLst>
                                      </p:cBhvr>
                                      <p:to>
                                        <p:strVal val="visible"/>
                                      </p:to>
                                    </p:set>
                                    <p:anim calcmode="lin" valueType="num">
                                      <p:cBhvr additive="base">
                                        <p:cTn id="19" dur="500" fill="hold"/>
                                        <p:tgtEl>
                                          <p:spTgt spid="26634"/>
                                        </p:tgtEl>
                                        <p:attrNameLst>
                                          <p:attrName>ppt_x</p:attrName>
                                        </p:attrNameLst>
                                      </p:cBhvr>
                                      <p:tavLst>
                                        <p:tav tm="0">
                                          <p:val>
                                            <p:strVal val="#ppt_x"/>
                                          </p:val>
                                        </p:tav>
                                        <p:tav tm="100000">
                                          <p:val>
                                            <p:strVal val="#ppt_x"/>
                                          </p:val>
                                        </p:tav>
                                      </p:tavLst>
                                    </p:anim>
                                    <p:anim calcmode="lin" valueType="num">
                                      <p:cBhvr additive="base">
                                        <p:cTn id="20" dur="500" fill="hold"/>
                                        <p:tgtEl>
                                          <p:spTgt spid="2663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627">
                                            <p:txEl>
                                              <p:pRg st="2" end="2"/>
                                            </p:txEl>
                                          </p:spTgt>
                                        </p:tgtEl>
                                        <p:attrNameLst>
                                          <p:attrName>style.visibility</p:attrName>
                                        </p:attrNameLst>
                                      </p:cBhvr>
                                      <p:to>
                                        <p:strVal val="visible"/>
                                      </p:to>
                                    </p:set>
                                    <p:anim calcmode="lin" valueType="num">
                                      <p:cBhvr additive="base">
                                        <p:cTn id="25"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6632"/>
                                        </p:tgtEl>
                                        <p:attrNameLst>
                                          <p:attrName>style.visibility</p:attrName>
                                        </p:attrNameLst>
                                      </p:cBhvr>
                                      <p:to>
                                        <p:strVal val="visible"/>
                                      </p:to>
                                    </p:set>
                                    <p:anim calcmode="lin" valueType="num">
                                      <p:cBhvr additive="base">
                                        <p:cTn id="31" dur="500" fill="hold"/>
                                        <p:tgtEl>
                                          <p:spTgt spid="26632"/>
                                        </p:tgtEl>
                                        <p:attrNameLst>
                                          <p:attrName>ppt_x</p:attrName>
                                        </p:attrNameLst>
                                      </p:cBhvr>
                                      <p:tavLst>
                                        <p:tav tm="0">
                                          <p:val>
                                            <p:strVal val="#ppt_x"/>
                                          </p:val>
                                        </p:tav>
                                        <p:tav tm="100000">
                                          <p:val>
                                            <p:strVal val="#ppt_x"/>
                                          </p:val>
                                        </p:tav>
                                      </p:tavLst>
                                    </p:anim>
                                    <p:anim calcmode="lin" valueType="num">
                                      <p:cBhvr additive="base">
                                        <p:cTn id="32" dur="500" fill="hold"/>
                                        <p:tgtEl>
                                          <p:spTgt spid="266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228600" y="152400"/>
            <a:ext cx="5181600" cy="6438900"/>
          </a:xfrm>
        </p:spPr>
        <p:txBody>
          <a:bodyPr/>
          <a:lstStyle/>
          <a:p>
            <a:pPr eaLnBrk="1" hangingPunct="1">
              <a:buFont typeface="Symbol" pitchFamily="18" charset="2"/>
              <a:buChar char="·"/>
            </a:pPr>
            <a:r>
              <a:rPr lang="en-US" smtClean="0">
                <a:latin typeface="Tahoma" pitchFamily="34" charset="0"/>
              </a:rPr>
              <a:t>Material to be treated can be exposed to radiation in its final packaging thus avoiding a potential risk of contamination</a:t>
            </a:r>
          </a:p>
          <a:p>
            <a:pPr eaLnBrk="1" hangingPunct="1">
              <a:buFont typeface="Symbol" pitchFamily="18" charset="2"/>
              <a:buChar char="·"/>
            </a:pPr>
            <a:r>
              <a:rPr lang="en-US" smtClean="0">
                <a:latin typeface="Tahoma" pitchFamily="34" charset="0"/>
              </a:rPr>
              <a:t>Ionizing radiation has been successfully used in sterilization of disposable medical and pharmaceutical products</a:t>
            </a:r>
          </a:p>
        </p:txBody>
      </p:sp>
      <p:pic>
        <p:nvPicPr>
          <p:cNvPr id="29702" name="Picture 6" descr="http://www.rltind.com/Topcraft%20medical.jpg"/>
          <p:cNvPicPr>
            <a:picLocks noChangeAspect="1" noChangeArrowheads="1"/>
          </p:cNvPicPr>
          <p:nvPr/>
        </p:nvPicPr>
        <p:blipFill>
          <a:blip r:embed="rId3" cstate="print"/>
          <a:srcRect/>
          <a:stretch>
            <a:fillRect/>
          </a:stretch>
        </p:blipFill>
        <p:spPr bwMode="auto">
          <a:xfrm>
            <a:off x="5478463" y="304800"/>
            <a:ext cx="3459162" cy="5600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9702"/>
                                        </p:tgtEl>
                                        <p:attrNameLst>
                                          <p:attrName>style.visibility</p:attrName>
                                        </p:attrNameLst>
                                      </p:cBhvr>
                                      <p:to>
                                        <p:strVal val="visible"/>
                                      </p:to>
                                    </p:set>
                                    <p:anim calcmode="lin" valueType="num">
                                      <p:cBhvr additive="base">
                                        <p:cTn id="19" dur="500" fill="hold"/>
                                        <p:tgtEl>
                                          <p:spTgt spid="29702"/>
                                        </p:tgtEl>
                                        <p:attrNameLst>
                                          <p:attrName>ppt_x</p:attrName>
                                        </p:attrNameLst>
                                      </p:cBhvr>
                                      <p:tavLst>
                                        <p:tav tm="0">
                                          <p:val>
                                            <p:strVal val="#ppt_x"/>
                                          </p:val>
                                        </p:tav>
                                        <p:tav tm="100000">
                                          <p:val>
                                            <p:strVal val="#ppt_x"/>
                                          </p:val>
                                        </p:tav>
                                      </p:tavLst>
                                    </p:anim>
                                    <p:anim calcmode="lin" valueType="num">
                                      <p:cBhvr additive="base">
                                        <p:cTn id="20"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7772400" cy="1143000"/>
          </a:xfrm>
        </p:spPr>
        <p:txBody>
          <a:bodyPr rtlCol="0">
            <a:normAutofit fontScale="90000"/>
          </a:bodyPr>
          <a:lstStyle/>
          <a:p>
            <a:pPr eaLnBrk="1" fontAlgn="auto" hangingPunct="1">
              <a:spcAft>
                <a:spcPts val="0"/>
              </a:spcAft>
              <a:defRPr/>
            </a:pPr>
            <a:r>
              <a:rPr lang="en-US" b="1" dirty="0" smtClean="0">
                <a:solidFill>
                  <a:srgbClr val="800080"/>
                </a:solidFill>
                <a:latin typeface="Tahoma" pitchFamily="34" charset="0"/>
              </a:rPr>
              <a:t>SAFETY OF FOOD IRRADIATION</a:t>
            </a:r>
            <a:endParaRPr lang="en-US" b="1" dirty="0" smtClean="0">
              <a:solidFill>
                <a:srgbClr val="800080"/>
              </a:solidFill>
            </a:endParaRPr>
          </a:p>
        </p:txBody>
      </p:sp>
      <p:sp>
        <p:nvSpPr>
          <p:cNvPr id="13315" name="Rectangle 3"/>
          <p:cNvSpPr>
            <a:spLocks noGrp="1" noChangeArrowheads="1"/>
          </p:cNvSpPr>
          <p:nvPr>
            <p:ph idx="1"/>
          </p:nvPr>
        </p:nvSpPr>
        <p:spPr>
          <a:xfrm>
            <a:off x="457200" y="1600200"/>
            <a:ext cx="8229600" cy="3733800"/>
          </a:xfrm>
        </p:spPr>
        <p:txBody>
          <a:bodyPr/>
          <a:lstStyle/>
          <a:p>
            <a:pPr eaLnBrk="1" hangingPunct="1"/>
            <a:r>
              <a:rPr lang="en-US" smtClean="0">
                <a:latin typeface="Tahoma" pitchFamily="34" charset="0"/>
              </a:rPr>
              <a:t>Numerous studies began in the US in the late 1940's to prove the wholesomeness of food treated by ionization</a:t>
            </a:r>
          </a:p>
          <a:p>
            <a:pPr eaLnBrk="1" hangingPunct="1"/>
            <a:r>
              <a:rPr lang="en-US" smtClean="0">
                <a:latin typeface="Tahoma" pitchFamily="34" charset="0"/>
              </a:rPr>
              <a:t>Sophisticated animal feeding studies of the treated food have been carried out</a:t>
            </a:r>
          </a:p>
          <a:p>
            <a:pPr algn="just" eaLnBrk="1" hangingPunct="1"/>
            <a:endParaRPr lang="en-US" smtClean="0">
              <a:latin typeface="Tahoma" pitchFamily="34" charset="0"/>
            </a:endParaRPr>
          </a:p>
        </p:txBody>
      </p:sp>
      <p:pic>
        <p:nvPicPr>
          <p:cNvPr id="13317" name="Picture 5" descr="http://www.determan.net/Russ/Galleries/Jethro/Eating.jpg"/>
          <p:cNvPicPr>
            <a:picLocks noChangeAspect="1" noChangeArrowheads="1"/>
          </p:cNvPicPr>
          <p:nvPr/>
        </p:nvPicPr>
        <p:blipFill>
          <a:blip r:embed="rId3" cstate="print"/>
          <a:srcRect/>
          <a:stretch>
            <a:fillRect/>
          </a:stretch>
        </p:blipFill>
        <p:spPr bwMode="auto">
          <a:xfrm>
            <a:off x="4800600" y="4648200"/>
            <a:ext cx="2743200" cy="2057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317"/>
                                        </p:tgtEl>
                                        <p:attrNameLst>
                                          <p:attrName>style.visibility</p:attrName>
                                        </p:attrNameLst>
                                      </p:cBhvr>
                                      <p:to>
                                        <p:strVal val="visible"/>
                                      </p:to>
                                    </p:set>
                                    <p:anim calcmode="lin" valueType="num">
                                      <p:cBhvr additive="base">
                                        <p:cTn id="19" dur="500" fill="hold"/>
                                        <p:tgtEl>
                                          <p:spTgt spid="13317"/>
                                        </p:tgtEl>
                                        <p:attrNameLst>
                                          <p:attrName>ppt_x</p:attrName>
                                        </p:attrNameLst>
                                      </p:cBhvr>
                                      <p:tavLst>
                                        <p:tav tm="0">
                                          <p:val>
                                            <p:strVal val="#ppt_x"/>
                                          </p:val>
                                        </p:tav>
                                        <p:tav tm="100000">
                                          <p:val>
                                            <p:strVal val="#ppt_x"/>
                                          </p:val>
                                        </p:tav>
                                      </p:tavLst>
                                    </p:anim>
                                    <p:anim calcmode="lin" valueType="num">
                                      <p:cBhvr additive="base">
                                        <p:cTn id="20" dur="500" fill="hold"/>
                                        <p:tgtEl>
                                          <p:spTgt spid="13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685800" y="228600"/>
            <a:ext cx="7772400" cy="4114800"/>
          </a:xfrm>
        </p:spPr>
        <p:txBody>
          <a:bodyPr/>
          <a:lstStyle/>
          <a:p>
            <a:pPr eaLnBrk="1" hangingPunct="1"/>
            <a:r>
              <a:rPr lang="en-US" smtClean="0">
                <a:latin typeface="Tahoma" pitchFamily="34" charset="0"/>
              </a:rPr>
              <a:t>It has not been possible to find any evidence that food treated with ionizing radiation has any adverse effect on the consumer</a:t>
            </a:r>
          </a:p>
          <a:p>
            <a:pPr eaLnBrk="1" hangingPunct="1"/>
            <a:r>
              <a:rPr lang="en-US" smtClean="0">
                <a:latin typeface="Tahoma" pitchFamily="34" charset="0"/>
              </a:rPr>
              <a:t>Special shielding is needed for strong sources in irradiation facilities </a:t>
            </a:r>
            <a:br>
              <a:rPr lang="en-US" smtClean="0">
                <a:latin typeface="Tahoma" pitchFamily="34" charset="0"/>
              </a:rPr>
            </a:br>
            <a:endParaRPr lang="en-US" smtClean="0">
              <a:latin typeface="Tahoma" pitchFamily="34" charset="0"/>
            </a:endParaRPr>
          </a:p>
        </p:txBody>
      </p:sp>
      <p:pic>
        <p:nvPicPr>
          <p:cNvPr id="96261" name="Picture 5" descr="http://groups.northwestern.edu/gcf/images/20031011-retreat/20031011_GCF-Retreat02.jpg"/>
          <p:cNvPicPr>
            <a:picLocks noChangeAspect="1" noChangeArrowheads="1"/>
          </p:cNvPicPr>
          <p:nvPr/>
        </p:nvPicPr>
        <p:blipFill>
          <a:blip r:embed="rId2" cstate="print"/>
          <a:srcRect/>
          <a:stretch>
            <a:fillRect/>
          </a:stretch>
        </p:blipFill>
        <p:spPr bwMode="auto">
          <a:xfrm>
            <a:off x="609600" y="3810000"/>
            <a:ext cx="3581400" cy="2420938"/>
          </a:xfrm>
          <a:prstGeom prst="rect">
            <a:avLst/>
          </a:prstGeom>
          <a:noFill/>
          <a:ln w="9525">
            <a:noFill/>
            <a:miter lim="800000"/>
            <a:headEnd/>
            <a:tailEnd/>
          </a:ln>
        </p:spPr>
      </p:pic>
      <p:pic>
        <p:nvPicPr>
          <p:cNvPr id="96263" name="Picture 7" descr="http://www.sandia.gov/media/NewsRel/NR2001/images/jpg/GIFChamber.jpg"/>
          <p:cNvPicPr>
            <a:picLocks noChangeAspect="1" noChangeArrowheads="1"/>
          </p:cNvPicPr>
          <p:nvPr/>
        </p:nvPicPr>
        <p:blipFill>
          <a:blip r:embed="rId3" cstate="print"/>
          <a:srcRect/>
          <a:stretch>
            <a:fillRect/>
          </a:stretch>
        </p:blipFill>
        <p:spPr bwMode="auto">
          <a:xfrm>
            <a:off x="4495800" y="4419600"/>
            <a:ext cx="3276600" cy="2222500"/>
          </a:xfrm>
          <a:prstGeom prst="rect">
            <a:avLst/>
          </a:prstGeom>
          <a:noFill/>
          <a:ln w="9525">
            <a:noFill/>
            <a:miter lim="800000"/>
            <a:headEnd/>
            <a:tailEnd/>
          </a:ln>
        </p:spPr>
      </p:pic>
      <p:pic>
        <p:nvPicPr>
          <p:cNvPr id="5" name="Picture 4" descr="3-Lead-Bricks.jpg"/>
          <p:cNvPicPr>
            <a:picLocks noChangeAspect="1"/>
          </p:cNvPicPr>
          <p:nvPr/>
        </p:nvPicPr>
        <p:blipFill>
          <a:blip r:embed="rId4" cstate="print"/>
          <a:srcRect/>
          <a:stretch>
            <a:fillRect/>
          </a:stretch>
        </p:blipFill>
        <p:spPr bwMode="auto">
          <a:xfrm>
            <a:off x="6858000" y="2895600"/>
            <a:ext cx="2057400" cy="14335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6261"/>
                                        </p:tgtEl>
                                        <p:attrNameLst>
                                          <p:attrName>style.visibility</p:attrName>
                                        </p:attrNameLst>
                                      </p:cBhvr>
                                      <p:to>
                                        <p:strVal val="visible"/>
                                      </p:to>
                                    </p:set>
                                    <p:anim calcmode="lin" valueType="num">
                                      <p:cBhvr additive="base">
                                        <p:cTn id="13" dur="500" fill="hold"/>
                                        <p:tgtEl>
                                          <p:spTgt spid="96261"/>
                                        </p:tgtEl>
                                        <p:attrNameLst>
                                          <p:attrName>ppt_x</p:attrName>
                                        </p:attrNameLst>
                                      </p:cBhvr>
                                      <p:tavLst>
                                        <p:tav tm="0">
                                          <p:val>
                                            <p:strVal val="#ppt_x"/>
                                          </p:val>
                                        </p:tav>
                                        <p:tav tm="100000">
                                          <p:val>
                                            <p:strVal val="#ppt_x"/>
                                          </p:val>
                                        </p:tav>
                                      </p:tavLst>
                                    </p:anim>
                                    <p:anim calcmode="lin" valueType="num">
                                      <p:cBhvr additive="base">
                                        <p:cTn id="14" dur="500" fill="hold"/>
                                        <p:tgtEl>
                                          <p:spTgt spid="9626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6259">
                                            <p:txEl>
                                              <p:pRg st="1" end="1"/>
                                            </p:txEl>
                                          </p:spTgt>
                                        </p:tgtEl>
                                        <p:attrNameLst>
                                          <p:attrName>style.visibility</p:attrName>
                                        </p:attrNameLst>
                                      </p:cBhvr>
                                      <p:to>
                                        <p:strVal val="visible"/>
                                      </p:to>
                                    </p:set>
                                    <p:anim calcmode="lin" valueType="num">
                                      <p:cBhvr additive="base">
                                        <p:cTn id="19"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6263"/>
                                        </p:tgtEl>
                                        <p:attrNameLst>
                                          <p:attrName>style.visibility</p:attrName>
                                        </p:attrNameLst>
                                      </p:cBhvr>
                                      <p:to>
                                        <p:strVal val="visible"/>
                                      </p:to>
                                    </p:set>
                                    <p:anim calcmode="lin" valueType="num">
                                      <p:cBhvr additive="base">
                                        <p:cTn id="31" dur="500" fill="hold"/>
                                        <p:tgtEl>
                                          <p:spTgt spid="96263"/>
                                        </p:tgtEl>
                                        <p:attrNameLst>
                                          <p:attrName>ppt_x</p:attrName>
                                        </p:attrNameLst>
                                      </p:cBhvr>
                                      <p:tavLst>
                                        <p:tav tm="0">
                                          <p:val>
                                            <p:strVal val="#ppt_x"/>
                                          </p:val>
                                        </p:tav>
                                        <p:tav tm="100000">
                                          <p:val>
                                            <p:strVal val="#ppt_x"/>
                                          </p:val>
                                        </p:tav>
                                      </p:tavLst>
                                    </p:anim>
                                    <p:anim calcmode="lin" valueType="num">
                                      <p:cBhvr additive="base">
                                        <p:cTn id="32" dur="500" fill="hold"/>
                                        <p:tgtEl>
                                          <p:spTgt spid="962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533400"/>
            <a:ext cx="7772400" cy="1143000"/>
          </a:xfrm>
        </p:spPr>
        <p:txBody>
          <a:bodyPr rtlCol="0">
            <a:normAutofit fontScale="90000"/>
          </a:bodyPr>
          <a:lstStyle/>
          <a:p>
            <a:pPr eaLnBrk="1" fontAlgn="auto" hangingPunct="1">
              <a:spcAft>
                <a:spcPts val="0"/>
              </a:spcAft>
              <a:buFont typeface="Symbol" pitchFamily="18" charset="2"/>
              <a:buNone/>
              <a:defRPr/>
            </a:pPr>
            <a:r>
              <a:rPr lang="en-US" b="1" dirty="0" smtClean="0">
                <a:solidFill>
                  <a:srgbClr val="660066"/>
                </a:solidFill>
                <a:latin typeface="Tahoma" pitchFamily="34" charset="0"/>
              </a:rPr>
              <a:t>PRACTICAL USES OF IRRADIATION</a:t>
            </a:r>
            <a:endParaRPr lang="en-US" b="1" dirty="0" smtClean="0">
              <a:solidFill>
                <a:srgbClr val="660066"/>
              </a:solidFill>
            </a:endParaRPr>
          </a:p>
        </p:txBody>
      </p:sp>
      <p:sp>
        <p:nvSpPr>
          <p:cNvPr id="14339" name="Rectangle 3"/>
          <p:cNvSpPr>
            <a:spLocks noGrp="1" noChangeArrowheads="1"/>
          </p:cNvSpPr>
          <p:nvPr>
            <p:ph idx="1"/>
          </p:nvPr>
        </p:nvSpPr>
        <p:spPr>
          <a:xfrm>
            <a:off x="685800" y="2133600"/>
            <a:ext cx="7772400" cy="4114800"/>
          </a:xfrm>
        </p:spPr>
        <p:txBody>
          <a:bodyPr/>
          <a:lstStyle/>
          <a:p>
            <a:pPr algn="just" eaLnBrk="1" hangingPunct="1">
              <a:buFont typeface="Symbol" pitchFamily="18" charset="2"/>
              <a:buChar char="·"/>
            </a:pPr>
            <a:r>
              <a:rPr lang="en-US" dirty="0" smtClean="0">
                <a:latin typeface="Tahoma" pitchFamily="34" charset="0"/>
              </a:rPr>
              <a:t>Different doses of ionizing energy can be used for various purposes in food preservation:</a:t>
            </a:r>
          </a:p>
          <a:p>
            <a:pPr lvl="1" eaLnBrk="1" hangingPunct="1">
              <a:buFont typeface="Symbol" pitchFamily="18" charset="2"/>
              <a:buChar char="-"/>
            </a:pPr>
            <a:r>
              <a:rPr lang="en-US" sz="3200" dirty="0" smtClean="0">
                <a:latin typeface="Tahoma" pitchFamily="34" charset="0"/>
              </a:rPr>
              <a:t>low</a:t>
            </a:r>
          </a:p>
          <a:p>
            <a:pPr lvl="1" eaLnBrk="1" hangingPunct="1">
              <a:buFont typeface="Symbol" pitchFamily="18" charset="2"/>
              <a:buChar char="-"/>
            </a:pPr>
            <a:r>
              <a:rPr lang="en-US" sz="3200" dirty="0" smtClean="0">
                <a:latin typeface="Tahoma" pitchFamily="34" charset="0"/>
              </a:rPr>
              <a:t>medium</a:t>
            </a:r>
          </a:p>
          <a:p>
            <a:pPr lvl="1" eaLnBrk="1" hangingPunct="1">
              <a:buFont typeface="Symbol" pitchFamily="18" charset="2"/>
              <a:buChar char="-"/>
            </a:pPr>
            <a:r>
              <a:rPr lang="en-US" sz="3200" dirty="0" smtClean="0">
                <a:latin typeface="Tahoma" pitchFamily="34" charset="0"/>
              </a:rPr>
              <a:t>high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339">
                                            <p:txEl>
                                              <p:pRg st="2" end="2"/>
                                            </p:txEl>
                                          </p:spTgt>
                                        </p:tgtEl>
                                        <p:attrNameLst>
                                          <p:attrName>style.visibility</p:attrName>
                                        </p:attrNameLst>
                                      </p:cBhvr>
                                      <p:to>
                                        <p:strVal val="visible"/>
                                      </p:to>
                                    </p:set>
                                    <p:anim calcmode="lin" valueType="num">
                                      <p:cBhvr additive="base">
                                        <p:cTn id="19" dur="5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339">
                                            <p:txEl>
                                              <p:pRg st="3" end="3"/>
                                            </p:txEl>
                                          </p:spTgt>
                                        </p:tgtEl>
                                        <p:attrNameLst>
                                          <p:attrName>style.visibility</p:attrName>
                                        </p:attrNameLst>
                                      </p:cBhvr>
                                      <p:to>
                                        <p:strVal val="visible"/>
                                      </p:to>
                                    </p:set>
                                    <p:anim calcmode="lin" valueType="num">
                                      <p:cBhvr additive="base">
                                        <p:cTn id="25" dur="5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152400"/>
            <a:ext cx="8229600" cy="1143000"/>
          </a:xfrm>
        </p:spPr>
        <p:txBody>
          <a:bodyPr/>
          <a:lstStyle/>
          <a:p>
            <a:r>
              <a:rPr lang="en-US" b="1" smtClean="0">
                <a:latin typeface="Tahoma" pitchFamily="34" charset="0"/>
              </a:rPr>
              <a:t>Dosimetry</a:t>
            </a:r>
            <a:endParaRPr lang="en-US" smtClean="0">
              <a:latin typeface="Tahoma" pitchFamily="34" charset="0"/>
            </a:endParaRPr>
          </a:p>
        </p:txBody>
      </p:sp>
      <p:sp>
        <p:nvSpPr>
          <p:cNvPr id="32771" name="Content Placeholder 2"/>
          <p:cNvSpPr>
            <a:spLocks noGrp="1"/>
          </p:cNvSpPr>
          <p:nvPr>
            <p:ph idx="1"/>
          </p:nvPr>
        </p:nvSpPr>
        <p:spPr>
          <a:xfrm>
            <a:off x="0" y="838200"/>
            <a:ext cx="6553200" cy="5287963"/>
          </a:xfrm>
        </p:spPr>
        <p:txBody>
          <a:bodyPr/>
          <a:lstStyle/>
          <a:p>
            <a:r>
              <a:rPr lang="en-US" sz="2800" smtClean="0">
                <a:latin typeface="Tahoma" pitchFamily="34" charset="0"/>
              </a:rPr>
              <a:t>The measurement of radiation dose is referred to as dosimetry and involves exposing dosimeters jointly with the treated food item. </a:t>
            </a:r>
          </a:p>
          <a:p>
            <a:r>
              <a:rPr lang="en-US" sz="2800" smtClean="0">
                <a:latin typeface="Tahoma" pitchFamily="34" charset="0"/>
              </a:rPr>
              <a:t>Dosimeters are small components attached to the irradiated product made of materials that, when exposed to ionizing radiation, change specific, measurable physical attributes to a degree that can be correlated to the dose received.</a:t>
            </a:r>
          </a:p>
        </p:txBody>
      </p:sp>
      <p:pic>
        <p:nvPicPr>
          <p:cNvPr id="32772" name="Picture 2" descr="http://www.sensorsportal.com/HTML/E-SHOP/PRODUCTS_PHOTOS_7/terra-p.jpg"/>
          <p:cNvPicPr>
            <a:picLocks noChangeAspect="1" noChangeArrowheads="1"/>
          </p:cNvPicPr>
          <p:nvPr/>
        </p:nvPicPr>
        <p:blipFill>
          <a:blip r:embed="rId2" cstate="print"/>
          <a:srcRect/>
          <a:stretch>
            <a:fillRect/>
          </a:stretch>
        </p:blipFill>
        <p:spPr bwMode="auto">
          <a:xfrm>
            <a:off x="6535738" y="1651000"/>
            <a:ext cx="2532062" cy="429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0" y="381000"/>
            <a:ext cx="5410200" cy="5867400"/>
          </a:xfrm>
        </p:spPr>
        <p:txBody>
          <a:bodyPr>
            <a:normAutofit lnSpcReduction="10000"/>
          </a:bodyPr>
          <a:lstStyle/>
          <a:p>
            <a:pPr eaLnBrk="1" hangingPunct="1">
              <a:lnSpc>
                <a:spcPct val="90000"/>
              </a:lnSpc>
              <a:buFontTx/>
              <a:buNone/>
            </a:pPr>
            <a:r>
              <a:rPr lang="en-US" sz="2400" b="1" smtClean="0">
                <a:solidFill>
                  <a:srgbClr val="FF00FF"/>
                </a:solidFill>
                <a:latin typeface="Tahoma" pitchFamily="34" charset="0"/>
              </a:rPr>
              <a:t>Low Doses  (up to 1 kGray)</a:t>
            </a:r>
          </a:p>
          <a:p>
            <a:pPr eaLnBrk="1" hangingPunct="1">
              <a:lnSpc>
                <a:spcPct val="90000"/>
              </a:lnSpc>
            </a:pPr>
            <a:r>
              <a:rPr lang="en-US" sz="2400" smtClean="0">
                <a:latin typeface="Tahoma" pitchFamily="34" charset="0"/>
              </a:rPr>
              <a:t>Inhibition of sprouting</a:t>
            </a:r>
          </a:p>
          <a:p>
            <a:pPr eaLnBrk="1" hangingPunct="1">
              <a:lnSpc>
                <a:spcPct val="90000"/>
              </a:lnSpc>
            </a:pPr>
            <a:r>
              <a:rPr lang="en-US" sz="2400" smtClean="0">
                <a:latin typeface="Tahoma" pitchFamily="34" charset="0"/>
              </a:rPr>
              <a:t>Insect disinfestations – instead of sprays</a:t>
            </a:r>
          </a:p>
          <a:p>
            <a:pPr eaLnBrk="1" hangingPunct="1">
              <a:lnSpc>
                <a:spcPct val="90000"/>
              </a:lnSpc>
            </a:pPr>
            <a:r>
              <a:rPr lang="en-US" sz="2400" smtClean="0">
                <a:latin typeface="Tahoma" pitchFamily="34" charset="0"/>
              </a:rPr>
              <a:t>Delay of ripening</a:t>
            </a:r>
          </a:p>
          <a:p>
            <a:pPr eaLnBrk="1" hangingPunct="1">
              <a:lnSpc>
                <a:spcPct val="90000"/>
              </a:lnSpc>
            </a:pPr>
            <a:endParaRPr lang="en-US" sz="2400" smtClean="0">
              <a:solidFill>
                <a:srgbClr val="FF0000"/>
              </a:solidFill>
              <a:latin typeface="Arial" charset="0"/>
            </a:endParaRPr>
          </a:p>
          <a:p>
            <a:pPr eaLnBrk="1" hangingPunct="1">
              <a:lnSpc>
                <a:spcPct val="90000"/>
              </a:lnSpc>
              <a:buFontTx/>
              <a:buNone/>
            </a:pPr>
            <a:r>
              <a:rPr lang="en-US" sz="2400" b="1" smtClean="0">
                <a:solidFill>
                  <a:srgbClr val="FF0000"/>
                </a:solidFill>
                <a:latin typeface="Tahoma" pitchFamily="34" charset="0"/>
              </a:rPr>
              <a:t>Medium Doses (1-10 kGray)</a:t>
            </a:r>
          </a:p>
          <a:p>
            <a:pPr eaLnBrk="1" hangingPunct="1">
              <a:lnSpc>
                <a:spcPct val="90000"/>
              </a:lnSpc>
            </a:pPr>
            <a:r>
              <a:rPr lang="en-US" sz="2400" smtClean="0">
                <a:latin typeface="Tahoma" pitchFamily="34" charset="0"/>
              </a:rPr>
              <a:t>Extension of food shelf-life</a:t>
            </a:r>
          </a:p>
          <a:p>
            <a:pPr eaLnBrk="1" hangingPunct="1">
              <a:lnSpc>
                <a:spcPct val="90000"/>
              </a:lnSpc>
            </a:pPr>
            <a:r>
              <a:rPr lang="en-US" sz="2400" smtClean="0">
                <a:latin typeface="Tahoma" pitchFamily="34" charset="0"/>
              </a:rPr>
              <a:t>Reduction of microbial load</a:t>
            </a:r>
          </a:p>
          <a:p>
            <a:pPr eaLnBrk="1" hangingPunct="1">
              <a:lnSpc>
                <a:spcPct val="90000"/>
              </a:lnSpc>
            </a:pPr>
            <a:r>
              <a:rPr lang="en-US" sz="2400" smtClean="0">
                <a:latin typeface="Tahoma" pitchFamily="34" charset="0"/>
              </a:rPr>
              <a:t>Improvements in technological properties of food</a:t>
            </a:r>
          </a:p>
          <a:p>
            <a:pPr eaLnBrk="1" hangingPunct="1">
              <a:lnSpc>
                <a:spcPct val="90000"/>
              </a:lnSpc>
            </a:pPr>
            <a:endParaRPr lang="en-US" sz="2400" smtClean="0">
              <a:latin typeface="Tahoma" pitchFamily="34" charset="0"/>
            </a:endParaRPr>
          </a:p>
          <a:p>
            <a:pPr algn="just" eaLnBrk="1" hangingPunct="1">
              <a:lnSpc>
                <a:spcPct val="90000"/>
              </a:lnSpc>
              <a:buFontTx/>
              <a:buNone/>
            </a:pPr>
            <a:r>
              <a:rPr lang="en-US" sz="2400" b="1" smtClean="0">
                <a:solidFill>
                  <a:srgbClr val="800080"/>
                </a:solidFill>
                <a:latin typeface="Tahoma" pitchFamily="34" charset="0"/>
              </a:rPr>
              <a:t>High Doses (10-50 kGray)</a:t>
            </a:r>
          </a:p>
          <a:p>
            <a:pPr algn="just" eaLnBrk="1" hangingPunct="1">
              <a:lnSpc>
                <a:spcPct val="90000"/>
              </a:lnSpc>
            </a:pPr>
            <a:r>
              <a:rPr lang="en-US" sz="2400" smtClean="0">
                <a:latin typeface="Tahoma" pitchFamily="34" charset="0"/>
              </a:rPr>
              <a:t>Commercial sterilization</a:t>
            </a:r>
          </a:p>
          <a:p>
            <a:pPr algn="just" eaLnBrk="1" hangingPunct="1">
              <a:lnSpc>
                <a:spcPct val="90000"/>
              </a:lnSpc>
            </a:pPr>
            <a:r>
              <a:rPr lang="en-US" sz="2400" smtClean="0">
                <a:latin typeface="Tahoma" pitchFamily="34" charset="0"/>
              </a:rPr>
              <a:t>Elimination of viruses</a:t>
            </a:r>
          </a:p>
          <a:p>
            <a:pPr algn="just" eaLnBrk="1" hangingPunct="1">
              <a:lnSpc>
                <a:spcPct val="90000"/>
              </a:lnSpc>
            </a:pPr>
            <a:endParaRPr lang="en-US" sz="2400" smtClean="0">
              <a:solidFill>
                <a:srgbClr val="FF0000"/>
              </a:solidFill>
              <a:latin typeface="Tahoma" pitchFamily="34" charset="0"/>
            </a:endParaRPr>
          </a:p>
        </p:txBody>
      </p:sp>
      <p:pic>
        <p:nvPicPr>
          <p:cNvPr id="108547" name="Picture 3" descr="http://www.naturalcollection.com/images/newproducts/14006-00.jpg"/>
          <p:cNvPicPr>
            <a:picLocks noChangeAspect="1" noChangeArrowheads="1"/>
          </p:cNvPicPr>
          <p:nvPr/>
        </p:nvPicPr>
        <p:blipFill>
          <a:blip r:embed="rId3" cstate="print"/>
          <a:srcRect/>
          <a:stretch>
            <a:fillRect/>
          </a:stretch>
        </p:blipFill>
        <p:spPr bwMode="auto">
          <a:xfrm>
            <a:off x="5486400" y="0"/>
            <a:ext cx="1752600" cy="1752600"/>
          </a:xfrm>
          <a:prstGeom prst="rect">
            <a:avLst/>
          </a:prstGeom>
          <a:noFill/>
          <a:ln w="9525">
            <a:noFill/>
            <a:miter lim="800000"/>
            <a:headEnd/>
            <a:tailEnd/>
          </a:ln>
        </p:spPr>
      </p:pic>
      <p:pic>
        <p:nvPicPr>
          <p:cNvPr id="108549" name="Picture 5" descr="http://www.combinedsales.com/images/aeros.JPG"/>
          <p:cNvPicPr>
            <a:picLocks noChangeAspect="1" noChangeArrowheads="1"/>
          </p:cNvPicPr>
          <p:nvPr/>
        </p:nvPicPr>
        <p:blipFill>
          <a:blip r:embed="rId4" cstate="print"/>
          <a:srcRect/>
          <a:stretch>
            <a:fillRect/>
          </a:stretch>
        </p:blipFill>
        <p:spPr bwMode="auto">
          <a:xfrm>
            <a:off x="7620000" y="152400"/>
            <a:ext cx="1371600" cy="1608138"/>
          </a:xfrm>
          <a:prstGeom prst="rect">
            <a:avLst/>
          </a:prstGeom>
          <a:noFill/>
          <a:ln w="9525">
            <a:noFill/>
            <a:miter lim="800000"/>
            <a:headEnd/>
            <a:tailEnd/>
          </a:ln>
        </p:spPr>
      </p:pic>
      <p:pic>
        <p:nvPicPr>
          <p:cNvPr id="108553" name="Picture 9" descr="http://www.agbios.com/images/dbimages/tomato.gif"/>
          <p:cNvPicPr>
            <a:picLocks noChangeAspect="1" noChangeArrowheads="1"/>
          </p:cNvPicPr>
          <p:nvPr/>
        </p:nvPicPr>
        <p:blipFill>
          <a:blip r:embed="rId5" cstate="print"/>
          <a:srcRect/>
          <a:stretch>
            <a:fillRect/>
          </a:stretch>
        </p:blipFill>
        <p:spPr bwMode="auto">
          <a:xfrm>
            <a:off x="5105400" y="1905000"/>
            <a:ext cx="1371600" cy="2057400"/>
          </a:xfrm>
          <a:prstGeom prst="rect">
            <a:avLst/>
          </a:prstGeom>
          <a:noFill/>
          <a:ln w="9525">
            <a:noFill/>
            <a:miter lim="800000"/>
            <a:headEnd/>
            <a:tailEnd/>
          </a:ln>
        </p:spPr>
      </p:pic>
      <p:pic>
        <p:nvPicPr>
          <p:cNvPr id="108555" name="Picture 11" descr="http://www.bsyse.wsu.edu/core/Research/consortiums/images/mwhtang.jpg"/>
          <p:cNvPicPr>
            <a:picLocks noChangeAspect="1" noChangeArrowheads="1"/>
          </p:cNvPicPr>
          <p:nvPr/>
        </p:nvPicPr>
        <p:blipFill>
          <a:blip r:embed="rId6" cstate="print"/>
          <a:srcRect/>
          <a:stretch>
            <a:fillRect/>
          </a:stretch>
        </p:blipFill>
        <p:spPr bwMode="auto">
          <a:xfrm>
            <a:off x="6750050" y="1981200"/>
            <a:ext cx="2317750" cy="1600200"/>
          </a:xfrm>
          <a:prstGeom prst="rect">
            <a:avLst/>
          </a:prstGeom>
          <a:noFill/>
          <a:ln w="9525">
            <a:noFill/>
            <a:miter lim="800000"/>
            <a:headEnd/>
            <a:tailEnd/>
          </a:ln>
        </p:spPr>
      </p:pic>
      <p:pic>
        <p:nvPicPr>
          <p:cNvPr id="108557" name="Picture 13" descr="http://www.scienceclarified.com/scitech/images/lsbv_0001_0001_0_img0030.jpg"/>
          <p:cNvPicPr>
            <a:picLocks noChangeAspect="1" noChangeArrowheads="1"/>
          </p:cNvPicPr>
          <p:nvPr/>
        </p:nvPicPr>
        <p:blipFill>
          <a:blip r:embed="rId7" cstate="print"/>
          <a:srcRect/>
          <a:stretch>
            <a:fillRect/>
          </a:stretch>
        </p:blipFill>
        <p:spPr bwMode="auto">
          <a:xfrm>
            <a:off x="5562600" y="4114800"/>
            <a:ext cx="3352800" cy="25860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8547"/>
                                        </p:tgtEl>
                                        <p:attrNameLst>
                                          <p:attrName>style.visibility</p:attrName>
                                        </p:attrNameLst>
                                      </p:cBhvr>
                                      <p:to>
                                        <p:strVal val="visible"/>
                                      </p:to>
                                    </p:set>
                                    <p:anim calcmode="lin" valueType="num">
                                      <p:cBhvr additive="base">
                                        <p:cTn id="19" dur="500" fill="hold"/>
                                        <p:tgtEl>
                                          <p:spTgt spid="108547"/>
                                        </p:tgtEl>
                                        <p:attrNameLst>
                                          <p:attrName>ppt_x</p:attrName>
                                        </p:attrNameLst>
                                      </p:cBhvr>
                                      <p:tavLst>
                                        <p:tav tm="0">
                                          <p:val>
                                            <p:strVal val="#ppt_x"/>
                                          </p:val>
                                        </p:tav>
                                        <p:tav tm="100000">
                                          <p:val>
                                            <p:strVal val="#ppt_x"/>
                                          </p:val>
                                        </p:tav>
                                      </p:tavLst>
                                    </p:anim>
                                    <p:anim calcmode="lin" valueType="num">
                                      <p:cBhvr additive="base">
                                        <p:cTn id="20" dur="500" fill="hold"/>
                                        <p:tgtEl>
                                          <p:spTgt spid="10854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7891">
                                            <p:txEl>
                                              <p:pRg st="2" end="2"/>
                                            </p:txEl>
                                          </p:spTgt>
                                        </p:tgtEl>
                                        <p:attrNameLst>
                                          <p:attrName>style.visibility</p:attrName>
                                        </p:attrNameLst>
                                      </p:cBhvr>
                                      <p:to>
                                        <p:strVal val="visible"/>
                                      </p:to>
                                    </p:set>
                                    <p:anim calcmode="lin" valueType="num">
                                      <p:cBhvr additive="base">
                                        <p:cTn id="25"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8549"/>
                                        </p:tgtEl>
                                        <p:attrNameLst>
                                          <p:attrName>style.visibility</p:attrName>
                                        </p:attrNameLst>
                                      </p:cBhvr>
                                      <p:to>
                                        <p:strVal val="visible"/>
                                      </p:to>
                                    </p:set>
                                    <p:anim calcmode="lin" valueType="num">
                                      <p:cBhvr additive="base">
                                        <p:cTn id="31" dur="500" fill="hold"/>
                                        <p:tgtEl>
                                          <p:spTgt spid="108549"/>
                                        </p:tgtEl>
                                        <p:attrNameLst>
                                          <p:attrName>ppt_x</p:attrName>
                                        </p:attrNameLst>
                                      </p:cBhvr>
                                      <p:tavLst>
                                        <p:tav tm="0">
                                          <p:val>
                                            <p:strVal val="#ppt_x"/>
                                          </p:val>
                                        </p:tav>
                                        <p:tav tm="100000">
                                          <p:val>
                                            <p:strVal val="#ppt_x"/>
                                          </p:val>
                                        </p:tav>
                                      </p:tavLst>
                                    </p:anim>
                                    <p:anim calcmode="lin" valueType="num">
                                      <p:cBhvr additive="base">
                                        <p:cTn id="32" dur="500" fill="hold"/>
                                        <p:tgtEl>
                                          <p:spTgt spid="10854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7891">
                                            <p:txEl>
                                              <p:pRg st="3" end="3"/>
                                            </p:txEl>
                                          </p:spTgt>
                                        </p:tgtEl>
                                        <p:attrNameLst>
                                          <p:attrName>style.visibility</p:attrName>
                                        </p:attrNameLst>
                                      </p:cBhvr>
                                      <p:to>
                                        <p:strVal val="visible"/>
                                      </p:to>
                                    </p:set>
                                    <p:anim calcmode="lin" valueType="num">
                                      <p:cBhvr additive="base">
                                        <p:cTn id="37"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8553"/>
                                        </p:tgtEl>
                                        <p:attrNameLst>
                                          <p:attrName>style.visibility</p:attrName>
                                        </p:attrNameLst>
                                      </p:cBhvr>
                                      <p:to>
                                        <p:strVal val="visible"/>
                                      </p:to>
                                    </p:set>
                                    <p:anim calcmode="lin" valueType="num">
                                      <p:cBhvr additive="base">
                                        <p:cTn id="43" dur="500" fill="hold"/>
                                        <p:tgtEl>
                                          <p:spTgt spid="108553"/>
                                        </p:tgtEl>
                                        <p:attrNameLst>
                                          <p:attrName>ppt_x</p:attrName>
                                        </p:attrNameLst>
                                      </p:cBhvr>
                                      <p:tavLst>
                                        <p:tav tm="0">
                                          <p:val>
                                            <p:strVal val="#ppt_x"/>
                                          </p:val>
                                        </p:tav>
                                        <p:tav tm="100000">
                                          <p:val>
                                            <p:strVal val="#ppt_x"/>
                                          </p:val>
                                        </p:tav>
                                      </p:tavLst>
                                    </p:anim>
                                    <p:anim calcmode="lin" valueType="num">
                                      <p:cBhvr additive="base">
                                        <p:cTn id="44" dur="500" fill="hold"/>
                                        <p:tgtEl>
                                          <p:spTgt spid="108553"/>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7891">
                                            <p:txEl>
                                              <p:pRg st="5" end="5"/>
                                            </p:txEl>
                                          </p:spTgt>
                                        </p:tgtEl>
                                        <p:attrNameLst>
                                          <p:attrName>style.visibility</p:attrName>
                                        </p:attrNameLst>
                                      </p:cBhvr>
                                      <p:to>
                                        <p:strVal val="visible"/>
                                      </p:to>
                                    </p:set>
                                    <p:anim calcmode="lin" valueType="num">
                                      <p:cBhvr additive="base">
                                        <p:cTn id="49"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8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37891">
                                            <p:txEl>
                                              <p:pRg st="6" end="6"/>
                                            </p:txEl>
                                          </p:spTgt>
                                        </p:tgtEl>
                                        <p:attrNameLst>
                                          <p:attrName>style.visibility</p:attrName>
                                        </p:attrNameLst>
                                      </p:cBhvr>
                                      <p:to>
                                        <p:strVal val="visible"/>
                                      </p:to>
                                    </p:set>
                                    <p:anim calcmode="lin" valueType="num">
                                      <p:cBhvr additive="base">
                                        <p:cTn id="55"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78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37891">
                                            <p:txEl>
                                              <p:pRg st="7" end="7"/>
                                            </p:txEl>
                                          </p:spTgt>
                                        </p:tgtEl>
                                        <p:attrNameLst>
                                          <p:attrName>style.visibility</p:attrName>
                                        </p:attrNameLst>
                                      </p:cBhvr>
                                      <p:to>
                                        <p:strVal val="visible"/>
                                      </p:to>
                                    </p:set>
                                    <p:anim calcmode="lin" valueType="num">
                                      <p:cBhvr additive="base">
                                        <p:cTn id="61" dur="500" fill="hold"/>
                                        <p:tgtEl>
                                          <p:spTgt spid="37891">
                                            <p:txEl>
                                              <p:pRg st="7" end="7"/>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78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37891">
                                            <p:txEl>
                                              <p:pRg st="8" end="8"/>
                                            </p:txEl>
                                          </p:spTgt>
                                        </p:tgtEl>
                                        <p:attrNameLst>
                                          <p:attrName>style.visibility</p:attrName>
                                        </p:attrNameLst>
                                      </p:cBhvr>
                                      <p:to>
                                        <p:strVal val="visible"/>
                                      </p:to>
                                    </p:set>
                                    <p:anim calcmode="lin" valueType="num">
                                      <p:cBhvr additive="base">
                                        <p:cTn id="67" dur="500" fill="hold"/>
                                        <p:tgtEl>
                                          <p:spTgt spid="37891">
                                            <p:txEl>
                                              <p:pRg st="8" end="8"/>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789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37891">
                                            <p:txEl>
                                              <p:pRg st="10" end="10"/>
                                            </p:txEl>
                                          </p:spTgt>
                                        </p:tgtEl>
                                        <p:attrNameLst>
                                          <p:attrName>style.visibility</p:attrName>
                                        </p:attrNameLst>
                                      </p:cBhvr>
                                      <p:to>
                                        <p:strVal val="visible"/>
                                      </p:to>
                                    </p:set>
                                    <p:anim calcmode="lin" valueType="num">
                                      <p:cBhvr additive="base">
                                        <p:cTn id="73" dur="500" fill="hold"/>
                                        <p:tgtEl>
                                          <p:spTgt spid="37891">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7891">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nodeType="clickEffect">
                                  <p:stCondLst>
                                    <p:cond delay="0"/>
                                  </p:stCondLst>
                                  <p:childTnLst>
                                    <p:set>
                                      <p:cBhvr>
                                        <p:cTn id="78" dur="1" fill="hold">
                                          <p:stCondLst>
                                            <p:cond delay="0"/>
                                          </p:stCondLst>
                                        </p:cTn>
                                        <p:tgtEl>
                                          <p:spTgt spid="37891">
                                            <p:txEl>
                                              <p:pRg st="11" end="11"/>
                                            </p:txEl>
                                          </p:spTgt>
                                        </p:tgtEl>
                                        <p:attrNameLst>
                                          <p:attrName>style.visibility</p:attrName>
                                        </p:attrNameLst>
                                      </p:cBhvr>
                                      <p:to>
                                        <p:strVal val="visible"/>
                                      </p:to>
                                    </p:set>
                                    <p:anim calcmode="lin" valueType="num">
                                      <p:cBhvr additive="base">
                                        <p:cTn id="79" dur="500" fill="hold"/>
                                        <p:tgtEl>
                                          <p:spTgt spid="37891">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789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nodeType="clickEffect">
                                  <p:stCondLst>
                                    <p:cond delay="0"/>
                                  </p:stCondLst>
                                  <p:childTnLst>
                                    <p:set>
                                      <p:cBhvr>
                                        <p:cTn id="84" dur="1" fill="hold">
                                          <p:stCondLst>
                                            <p:cond delay="0"/>
                                          </p:stCondLst>
                                        </p:cTn>
                                        <p:tgtEl>
                                          <p:spTgt spid="108555"/>
                                        </p:tgtEl>
                                        <p:attrNameLst>
                                          <p:attrName>style.visibility</p:attrName>
                                        </p:attrNameLst>
                                      </p:cBhvr>
                                      <p:to>
                                        <p:strVal val="visible"/>
                                      </p:to>
                                    </p:set>
                                    <p:anim calcmode="lin" valueType="num">
                                      <p:cBhvr additive="base">
                                        <p:cTn id="85" dur="500" fill="hold"/>
                                        <p:tgtEl>
                                          <p:spTgt spid="108555"/>
                                        </p:tgtEl>
                                        <p:attrNameLst>
                                          <p:attrName>ppt_x</p:attrName>
                                        </p:attrNameLst>
                                      </p:cBhvr>
                                      <p:tavLst>
                                        <p:tav tm="0">
                                          <p:val>
                                            <p:strVal val="#ppt_x"/>
                                          </p:val>
                                        </p:tav>
                                        <p:tav tm="100000">
                                          <p:val>
                                            <p:strVal val="#ppt_x"/>
                                          </p:val>
                                        </p:tav>
                                      </p:tavLst>
                                    </p:anim>
                                    <p:anim calcmode="lin" valueType="num">
                                      <p:cBhvr additive="base">
                                        <p:cTn id="86" dur="500" fill="hold"/>
                                        <p:tgtEl>
                                          <p:spTgt spid="108555"/>
                                        </p:tgtEl>
                                        <p:attrNameLst>
                                          <p:attrName>ppt_y</p:attrName>
                                        </p:attrNameLst>
                                      </p:cBhvr>
                                      <p:tavLst>
                                        <p:tav tm="0">
                                          <p:val>
                                            <p:strVal val="1+#ppt_h/2"/>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4" fill="hold" nodeType="clickEffect">
                                  <p:stCondLst>
                                    <p:cond delay="0"/>
                                  </p:stCondLst>
                                  <p:childTnLst>
                                    <p:set>
                                      <p:cBhvr>
                                        <p:cTn id="90" dur="1" fill="hold">
                                          <p:stCondLst>
                                            <p:cond delay="0"/>
                                          </p:stCondLst>
                                        </p:cTn>
                                        <p:tgtEl>
                                          <p:spTgt spid="37891">
                                            <p:txEl>
                                              <p:pRg st="12" end="12"/>
                                            </p:txEl>
                                          </p:spTgt>
                                        </p:tgtEl>
                                        <p:attrNameLst>
                                          <p:attrName>style.visibility</p:attrName>
                                        </p:attrNameLst>
                                      </p:cBhvr>
                                      <p:to>
                                        <p:strVal val="visible"/>
                                      </p:to>
                                    </p:set>
                                    <p:anim calcmode="lin" valueType="num">
                                      <p:cBhvr additive="base">
                                        <p:cTn id="91" dur="500" fill="hold"/>
                                        <p:tgtEl>
                                          <p:spTgt spid="37891">
                                            <p:txEl>
                                              <p:pRg st="12" end="1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7891">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nodeType="clickEffect">
                                  <p:stCondLst>
                                    <p:cond delay="0"/>
                                  </p:stCondLst>
                                  <p:childTnLst>
                                    <p:set>
                                      <p:cBhvr>
                                        <p:cTn id="96" dur="1" fill="hold">
                                          <p:stCondLst>
                                            <p:cond delay="0"/>
                                          </p:stCondLst>
                                        </p:cTn>
                                        <p:tgtEl>
                                          <p:spTgt spid="108557"/>
                                        </p:tgtEl>
                                        <p:attrNameLst>
                                          <p:attrName>style.visibility</p:attrName>
                                        </p:attrNameLst>
                                      </p:cBhvr>
                                      <p:to>
                                        <p:strVal val="visible"/>
                                      </p:to>
                                    </p:set>
                                    <p:anim calcmode="lin" valueType="num">
                                      <p:cBhvr additive="base">
                                        <p:cTn id="97" dur="500" fill="hold"/>
                                        <p:tgtEl>
                                          <p:spTgt spid="108557"/>
                                        </p:tgtEl>
                                        <p:attrNameLst>
                                          <p:attrName>ppt_x</p:attrName>
                                        </p:attrNameLst>
                                      </p:cBhvr>
                                      <p:tavLst>
                                        <p:tav tm="0">
                                          <p:val>
                                            <p:strVal val="#ppt_x"/>
                                          </p:val>
                                        </p:tav>
                                        <p:tav tm="100000">
                                          <p:val>
                                            <p:strVal val="#ppt_x"/>
                                          </p:val>
                                        </p:tav>
                                      </p:tavLst>
                                    </p:anim>
                                    <p:anim calcmode="lin" valueType="num">
                                      <p:cBhvr additive="base">
                                        <p:cTn id="98" dur="500" fill="hold"/>
                                        <p:tgtEl>
                                          <p:spTgt spid="1085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152400"/>
            <a:ext cx="7772400" cy="1143000"/>
          </a:xfrm>
        </p:spPr>
        <p:txBody>
          <a:bodyPr>
            <a:normAutofit fontScale="90000"/>
          </a:bodyPr>
          <a:lstStyle/>
          <a:p>
            <a:pPr eaLnBrk="1" hangingPunct="1">
              <a:buFont typeface="Symbol" pitchFamily="18" charset="2"/>
              <a:buNone/>
            </a:pPr>
            <a:r>
              <a:rPr lang="en-US" b="1" smtClean="0">
                <a:latin typeface="Tahoma" pitchFamily="34" charset="0"/>
              </a:rPr>
              <a:t>EXAMPLES OF FOOD IRRADIATION</a:t>
            </a:r>
            <a:endParaRPr lang="en-US" b="1" smtClean="0"/>
          </a:p>
        </p:txBody>
      </p:sp>
      <p:sp>
        <p:nvSpPr>
          <p:cNvPr id="15363" name="Rectangle 3"/>
          <p:cNvSpPr>
            <a:spLocks noGrp="1" noChangeArrowheads="1"/>
          </p:cNvSpPr>
          <p:nvPr>
            <p:ph idx="1"/>
          </p:nvPr>
        </p:nvSpPr>
        <p:spPr>
          <a:xfrm>
            <a:off x="533400" y="1447800"/>
            <a:ext cx="8153400" cy="5334000"/>
          </a:xfrm>
        </p:spPr>
        <p:txBody>
          <a:bodyPr/>
          <a:lstStyle/>
          <a:p>
            <a:pPr eaLnBrk="1" hangingPunct="1">
              <a:buFont typeface="Symbol" pitchFamily="18" charset="2"/>
              <a:buNone/>
            </a:pPr>
            <a:r>
              <a:rPr lang="en-US" b="1" smtClean="0">
                <a:solidFill>
                  <a:srgbClr val="A50021"/>
                </a:solidFill>
                <a:latin typeface="Tahoma" pitchFamily="34" charset="0"/>
              </a:rPr>
              <a:t>Fish</a:t>
            </a:r>
          </a:p>
          <a:p>
            <a:pPr eaLnBrk="1" hangingPunct="1"/>
            <a:r>
              <a:rPr lang="en-US" smtClean="0">
                <a:latin typeface="Tahoma" pitchFamily="34" charset="0"/>
              </a:rPr>
              <a:t>To control insect infestation of dried fish during storage and marketing (0.5 kGy)</a:t>
            </a:r>
          </a:p>
          <a:p>
            <a:pPr eaLnBrk="1" hangingPunct="1"/>
            <a:r>
              <a:rPr lang="en-US" smtClean="0">
                <a:latin typeface="Tahoma" pitchFamily="34" charset="0"/>
              </a:rPr>
              <a:t>To reduce the microbial load of the packaged fish and fish products (23 kGy)</a:t>
            </a:r>
          </a:p>
          <a:p>
            <a:pPr eaLnBrk="1" hangingPunct="1"/>
            <a:r>
              <a:rPr lang="en-US" smtClean="0">
                <a:latin typeface="Tahoma" pitchFamily="34" charset="0"/>
              </a:rPr>
              <a:t>To eliminate certain pathogenic microorganisms in packaged frozen fish and fish products (35 kGy)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shrimp"/>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304800" y="152400"/>
            <a:ext cx="8610600" cy="6705600"/>
          </a:xfrm>
        </p:spPr>
        <p:txBody>
          <a:bodyPr/>
          <a:lstStyle/>
          <a:p>
            <a:pPr algn="just" eaLnBrk="1" hangingPunct="1">
              <a:buFont typeface="Symbol" pitchFamily="18" charset="2"/>
              <a:buNone/>
            </a:pPr>
            <a:r>
              <a:rPr lang="en-US" b="1" dirty="0" smtClean="0">
                <a:solidFill>
                  <a:srgbClr val="800080"/>
                </a:solidFill>
                <a:latin typeface="Tahoma" pitchFamily="34" charset="0"/>
              </a:rPr>
              <a:t>Potatoes and Onions</a:t>
            </a:r>
          </a:p>
          <a:p>
            <a:pPr algn="just" eaLnBrk="1" hangingPunct="1"/>
            <a:r>
              <a:rPr lang="en-US" dirty="0" smtClean="0">
                <a:latin typeface="Tahoma" pitchFamily="34" charset="0"/>
              </a:rPr>
              <a:t>To inhibit sprouting during storage </a:t>
            </a:r>
          </a:p>
          <a:p>
            <a:pPr algn="just" eaLnBrk="1" hangingPunct="1">
              <a:buFont typeface="Arial" charset="0"/>
              <a:buNone/>
            </a:pPr>
            <a:r>
              <a:rPr lang="en-US" dirty="0" smtClean="0">
                <a:latin typeface="Tahoma" pitchFamily="34" charset="0"/>
              </a:rPr>
              <a:t>(0.0-50.0 </a:t>
            </a:r>
            <a:r>
              <a:rPr lang="en-US" dirty="0" err="1" smtClean="0">
                <a:latin typeface="Tahoma" pitchFamily="34" charset="0"/>
              </a:rPr>
              <a:t>kGy</a:t>
            </a:r>
            <a:r>
              <a:rPr lang="en-US" dirty="0" smtClean="0">
                <a:latin typeface="Tahoma" pitchFamily="34" charset="0"/>
              </a:rPr>
              <a:t>)</a:t>
            </a:r>
          </a:p>
          <a:p>
            <a:pPr algn="just" eaLnBrk="1" hangingPunct="1">
              <a:buFont typeface="Symbol" pitchFamily="18" charset="2"/>
              <a:buNone/>
            </a:pPr>
            <a:r>
              <a:rPr lang="en-US" b="1" dirty="0" smtClean="0">
                <a:solidFill>
                  <a:srgbClr val="008000"/>
                </a:solidFill>
                <a:latin typeface="Tahoma" pitchFamily="34" charset="0"/>
              </a:rPr>
              <a:t>Food Grains</a:t>
            </a:r>
          </a:p>
          <a:p>
            <a:pPr algn="just" eaLnBrk="1" hangingPunct="1"/>
            <a:r>
              <a:rPr lang="en-US" dirty="0" smtClean="0">
                <a:latin typeface="Tahoma" pitchFamily="34" charset="0"/>
              </a:rPr>
              <a:t>To control insect infestation during storage (0.5-1.0 </a:t>
            </a:r>
            <a:r>
              <a:rPr lang="en-US" dirty="0" err="1" smtClean="0">
                <a:latin typeface="Tahoma" pitchFamily="34" charset="0"/>
              </a:rPr>
              <a:t>kGy</a:t>
            </a:r>
            <a:r>
              <a:rPr lang="en-US" dirty="0" smtClean="0">
                <a:latin typeface="Tahoma" pitchFamily="34" charset="0"/>
              </a:rPr>
              <a:t>)</a:t>
            </a:r>
          </a:p>
          <a:p>
            <a:pPr algn="just" eaLnBrk="1" hangingPunct="1">
              <a:buFont typeface="Symbol" pitchFamily="18" charset="2"/>
              <a:buNone/>
            </a:pPr>
            <a:r>
              <a:rPr lang="en-US" b="1" dirty="0" smtClean="0">
                <a:solidFill>
                  <a:srgbClr val="0000FF"/>
                </a:solidFill>
                <a:latin typeface="Tahoma" pitchFamily="34" charset="0"/>
              </a:rPr>
              <a:t>Cocoa Beans</a:t>
            </a:r>
          </a:p>
          <a:p>
            <a:pPr algn="just" eaLnBrk="1" hangingPunct="1"/>
            <a:r>
              <a:rPr lang="en-US" dirty="0" smtClean="0">
                <a:latin typeface="Tahoma" pitchFamily="34" charset="0"/>
              </a:rPr>
              <a:t>To control insect infestation during storage (0.5-1.0 </a:t>
            </a:r>
            <a:r>
              <a:rPr lang="en-US" dirty="0" err="1" smtClean="0">
                <a:latin typeface="Tahoma" pitchFamily="34" charset="0"/>
              </a:rPr>
              <a:t>kGy</a:t>
            </a:r>
            <a:r>
              <a:rPr lang="en-US" dirty="0" smtClean="0">
                <a:latin typeface="Tahoma" pitchFamily="34" charset="0"/>
              </a:rPr>
              <a:t>)</a:t>
            </a:r>
          </a:p>
          <a:p>
            <a:pPr algn="just" eaLnBrk="1" hangingPunct="1"/>
            <a:r>
              <a:rPr lang="en-US" dirty="0" smtClean="0">
                <a:latin typeface="Tahoma" pitchFamily="34" charset="0"/>
              </a:rPr>
              <a:t>To reduce the microbial load of fermented beans with or without heat treatment (23 </a:t>
            </a:r>
            <a:r>
              <a:rPr lang="en-US" dirty="0" err="1" smtClean="0">
                <a:latin typeface="Tahoma" pitchFamily="34" charset="0"/>
              </a:rPr>
              <a:t>kGy</a:t>
            </a:r>
            <a:r>
              <a:rPr lang="en-US" dirty="0" smtClean="0">
                <a:latin typeface="Tahoma" pitchFamily="34" charset="0"/>
              </a:rPr>
              <a:t>)</a:t>
            </a:r>
          </a:p>
          <a:p>
            <a:pPr algn="just" eaLnBrk="1" hangingPunct="1">
              <a:buFont typeface="Arial" charset="0"/>
              <a:buNone/>
            </a:pPr>
            <a:r>
              <a:rPr lang="en-US" dirty="0" smtClean="0">
                <a:latin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5">
                                            <p:txEl>
                                              <p:pRg st="1" end="1"/>
                                            </p:txEl>
                                          </p:spTgt>
                                        </p:tgtEl>
                                        <p:attrNameLst>
                                          <p:attrName>style.visibility</p:attrName>
                                        </p:attrNameLst>
                                      </p:cBhvr>
                                      <p:to>
                                        <p:strVal val="visible"/>
                                      </p:to>
                                    </p:set>
                                    <p:anim calcmode="lin" valueType="num">
                                      <p:cBhvr additive="base">
                                        <p:cTn id="13" dur="5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9155">
                                            <p:txEl>
                                              <p:pRg st="2" end="2"/>
                                            </p:txEl>
                                          </p:spTgt>
                                        </p:tgtEl>
                                        <p:attrNameLst>
                                          <p:attrName>style.visibility</p:attrName>
                                        </p:attrNameLst>
                                      </p:cBhvr>
                                      <p:to>
                                        <p:strVal val="visible"/>
                                      </p:to>
                                    </p:set>
                                    <p:anim calcmode="lin" valueType="num">
                                      <p:cBhvr additive="base">
                                        <p:cTn id="19"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9155">
                                            <p:txEl>
                                              <p:pRg st="3" end="3"/>
                                            </p:txEl>
                                          </p:spTgt>
                                        </p:tgtEl>
                                        <p:attrNameLst>
                                          <p:attrName>style.visibility</p:attrName>
                                        </p:attrNameLst>
                                      </p:cBhvr>
                                      <p:to>
                                        <p:strVal val="visible"/>
                                      </p:to>
                                    </p:set>
                                    <p:anim calcmode="lin" valueType="num">
                                      <p:cBhvr additive="base">
                                        <p:cTn id="25" dur="500" fill="hold"/>
                                        <p:tgtEl>
                                          <p:spTgt spid="491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9155">
                                            <p:txEl>
                                              <p:pRg st="4" end="4"/>
                                            </p:txEl>
                                          </p:spTgt>
                                        </p:tgtEl>
                                        <p:attrNameLst>
                                          <p:attrName>style.visibility</p:attrName>
                                        </p:attrNameLst>
                                      </p:cBhvr>
                                      <p:to>
                                        <p:strVal val="visible"/>
                                      </p:to>
                                    </p:set>
                                    <p:anim calcmode="lin" valueType="num">
                                      <p:cBhvr additive="base">
                                        <p:cTn id="31"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91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9155">
                                            <p:txEl>
                                              <p:pRg st="5" end="5"/>
                                            </p:txEl>
                                          </p:spTgt>
                                        </p:tgtEl>
                                        <p:attrNameLst>
                                          <p:attrName>style.visibility</p:attrName>
                                        </p:attrNameLst>
                                      </p:cBhvr>
                                      <p:to>
                                        <p:strVal val="visible"/>
                                      </p:to>
                                    </p:set>
                                    <p:anim calcmode="lin" valueType="num">
                                      <p:cBhvr additive="base">
                                        <p:cTn id="37" dur="500" fill="hold"/>
                                        <p:tgtEl>
                                          <p:spTgt spid="491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91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9155">
                                            <p:txEl>
                                              <p:pRg st="6" end="6"/>
                                            </p:txEl>
                                          </p:spTgt>
                                        </p:tgtEl>
                                        <p:attrNameLst>
                                          <p:attrName>style.visibility</p:attrName>
                                        </p:attrNameLst>
                                      </p:cBhvr>
                                      <p:to>
                                        <p:strVal val="visible"/>
                                      </p:to>
                                    </p:set>
                                    <p:anim calcmode="lin" valueType="num">
                                      <p:cBhvr additive="base">
                                        <p:cTn id="43" dur="500" fill="hold"/>
                                        <p:tgtEl>
                                          <p:spTgt spid="4915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91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49155">
                                            <p:txEl>
                                              <p:pRg st="7" end="7"/>
                                            </p:txEl>
                                          </p:spTgt>
                                        </p:tgtEl>
                                        <p:attrNameLst>
                                          <p:attrName>style.visibility</p:attrName>
                                        </p:attrNameLst>
                                      </p:cBhvr>
                                      <p:to>
                                        <p:strVal val="visible"/>
                                      </p:to>
                                    </p:set>
                                    <p:anim calcmode="lin" valueType="num">
                                      <p:cBhvr additive="base">
                                        <p:cTn id="49" dur="500" fill="hold"/>
                                        <p:tgtEl>
                                          <p:spTgt spid="4915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91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49155">
                                            <p:txEl>
                                              <p:pRg st="8" end="8"/>
                                            </p:txEl>
                                          </p:spTgt>
                                        </p:tgtEl>
                                        <p:attrNameLst>
                                          <p:attrName>style.visibility</p:attrName>
                                        </p:attrNameLst>
                                      </p:cBhvr>
                                      <p:to>
                                        <p:strVal val="visible"/>
                                      </p:to>
                                    </p:set>
                                    <p:anim calcmode="lin" valueType="num">
                                      <p:cBhvr additive="base">
                                        <p:cTn id="55" dur="500" fill="hold"/>
                                        <p:tgtEl>
                                          <p:spTgt spid="4915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915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potato &amp; onion"/>
          <p:cNvPicPr>
            <a:picLocks noChangeAspect="1" noChangeArrowheads="1"/>
          </p:cNvPicPr>
          <p:nvPr/>
        </p:nvPicPr>
        <p:blipFill>
          <a:blip r:embed="rId2" cstate="print"/>
          <a:srcRect/>
          <a:stretch>
            <a:fillRect/>
          </a:stretch>
        </p:blipFill>
        <p:spPr bwMode="auto">
          <a:xfrm>
            <a:off x="0" y="0"/>
            <a:ext cx="9144000" cy="5943600"/>
          </a:xfrm>
          <a:prstGeom prst="rect">
            <a:avLst/>
          </a:prstGeom>
          <a:noFill/>
          <a:ln w="9525">
            <a:noFill/>
            <a:miter lim="800000"/>
            <a:headEnd/>
            <a:tailEnd/>
          </a:ln>
        </p:spPr>
      </p:pic>
      <p:sp>
        <p:nvSpPr>
          <p:cNvPr id="37891" name="Text Box 3"/>
          <p:cNvSpPr txBox="1">
            <a:spLocks noChangeArrowheads="1"/>
          </p:cNvSpPr>
          <p:nvPr/>
        </p:nvSpPr>
        <p:spPr bwMode="auto">
          <a:xfrm>
            <a:off x="1295400" y="6126163"/>
            <a:ext cx="6705600" cy="579437"/>
          </a:xfrm>
          <a:prstGeom prst="rect">
            <a:avLst/>
          </a:prstGeom>
          <a:noFill/>
          <a:ln w="9525">
            <a:noFill/>
            <a:miter lim="800000"/>
            <a:headEnd/>
            <a:tailEnd/>
          </a:ln>
        </p:spPr>
        <p:txBody>
          <a:bodyPr>
            <a:spAutoFit/>
          </a:bodyPr>
          <a:lstStyle/>
          <a:p>
            <a:pPr algn="ctr">
              <a:spcBef>
                <a:spcPct val="50000"/>
              </a:spcBef>
            </a:pPr>
            <a:r>
              <a:rPr lang="en-US" sz="3200" b="1">
                <a:solidFill>
                  <a:srgbClr val="006600"/>
                </a:solidFill>
                <a:latin typeface="Tahoma" pitchFamily="34" charset="0"/>
              </a:rPr>
              <a:t>Treated and Untreated</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304800" y="304800"/>
            <a:ext cx="8610600" cy="6553200"/>
          </a:xfrm>
        </p:spPr>
        <p:txBody>
          <a:bodyPr rtlCol="0">
            <a:normAutofit fontScale="92500" lnSpcReduction="20000"/>
          </a:bodyPr>
          <a:lstStyle/>
          <a:p>
            <a:pPr algn="just" eaLnBrk="1" fontAlgn="auto" hangingPunct="1">
              <a:spcAft>
                <a:spcPts val="0"/>
              </a:spcAft>
              <a:buFont typeface="Symbol" pitchFamily="18" charset="2"/>
              <a:buNone/>
              <a:defRPr/>
            </a:pPr>
            <a:r>
              <a:rPr lang="en-US" sz="3500" b="1" dirty="0" smtClean="0">
                <a:solidFill>
                  <a:srgbClr val="A50021"/>
                </a:solidFill>
                <a:latin typeface="Tahoma" pitchFamily="34" charset="0"/>
              </a:rPr>
              <a:t>Dates</a:t>
            </a:r>
          </a:p>
          <a:p>
            <a:pPr algn="just" eaLnBrk="1" fontAlgn="auto" hangingPunct="1">
              <a:spcAft>
                <a:spcPts val="0"/>
              </a:spcAft>
              <a:buFont typeface="Symbol" pitchFamily="18" charset="2"/>
              <a:buNone/>
              <a:defRPr/>
            </a:pPr>
            <a:endParaRPr lang="en-US" dirty="0" smtClean="0">
              <a:solidFill>
                <a:srgbClr val="FF00FF"/>
              </a:solidFill>
              <a:latin typeface="Tahoma" pitchFamily="34" charset="0"/>
            </a:endParaRPr>
          </a:p>
          <a:p>
            <a:pPr algn="just" eaLnBrk="1" fontAlgn="auto" hangingPunct="1">
              <a:spcAft>
                <a:spcPts val="0"/>
              </a:spcAft>
              <a:buFont typeface="Symbol" pitchFamily="18" charset="2"/>
              <a:buNone/>
              <a:defRPr/>
            </a:pPr>
            <a:endParaRPr lang="en-US" dirty="0" smtClean="0">
              <a:solidFill>
                <a:srgbClr val="FF00FF"/>
              </a:solidFill>
              <a:latin typeface="Tahoma" pitchFamily="34" charset="0"/>
            </a:endParaRPr>
          </a:p>
          <a:p>
            <a:pPr algn="just" eaLnBrk="1" fontAlgn="auto" hangingPunct="1">
              <a:spcAft>
                <a:spcPts val="0"/>
              </a:spcAft>
              <a:buFont typeface="Arial" pitchFamily="34" charset="0"/>
              <a:buChar char="•"/>
              <a:defRPr/>
            </a:pPr>
            <a:r>
              <a:rPr lang="en-US" dirty="0">
                <a:latin typeface="Tahoma" pitchFamily="34" charset="0"/>
              </a:rPr>
              <a:t>T</a:t>
            </a:r>
            <a:r>
              <a:rPr lang="en-US" dirty="0" smtClean="0">
                <a:latin typeface="Tahoma" pitchFamily="34" charset="0"/>
              </a:rPr>
              <a:t>o control insect infestation in dried dates </a:t>
            </a:r>
          </a:p>
          <a:p>
            <a:pPr algn="just" eaLnBrk="1" fontAlgn="auto" hangingPunct="1">
              <a:spcAft>
                <a:spcPts val="0"/>
              </a:spcAft>
              <a:buFont typeface="Arial" charset="0"/>
              <a:buNone/>
              <a:defRPr/>
            </a:pPr>
            <a:r>
              <a:rPr lang="en-US" dirty="0" smtClean="0">
                <a:latin typeface="Tahoma" pitchFamily="34" charset="0"/>
              </a:rPr>
              <a:t>   (0.5-1.0 </a:t>
            </a:r>
            <a:r>
              <a:rPr lang="en-US" dirty="0" err="1" smtClean="0">
                <a:latin typeface="Tahoma" pitchFamily="34" charset="0"/>
              </a:rPr>
              <a:t>kGy</a:t>
            </a:r>
            <a:r>
              <a:rPr lang="en-US" dirty="0" smtClean="0">
                <a:latin typeface="Tahoma" pitchFamily="34" charset="0"/>
              </a:rPr>
              <a:t>)</a:t>
            </a:r>
          </a:p>
          <a:p>
            <a:pPr algn="just" eaLnBrk="1" fontAlgn="auto" hangingPunct="1">
              <a:spcAft>
                <a:spcPts val="0"/>
              </a:spcAft>
              <a:buFont typeface="Arial" pitchFamily="34" charset="0"/>
              <a:buChar char="•"/>
              <a:defRPr/>
            </a:pPr>
            <a:endParaRPr lang="en-US" dirty="0" smtClean="0">
              <a:latin typeface="Tahoma" pitchFamily="34" charset="0"/>
            </a:endParaRPr>
          </a:p>
          <a:p>
            <a:pPr algn="just" eaLnBrk="1" fontAlgn="auto" hangingPunct="1">
              <a:spcAft>
                <a:spcPts val="0"/>
              </a:spcAft>
              <a:buFont typeface="Symbol" pitchFamily="18" charset="2"/>
              <a:buNone/>
              <a:defRPr/>
            </a:pPr>
            <a:r>
              <a:rPr lang="en-US" sz="3500" b="1" dirty="0" smtClean="0">
                <a:solidFill>
                  <a:srgbClr val="000080"/>
                </a:solidFill>
                <a:latin typeface="Tahoma" pitchFamily="34" charset="0"/>
              </a:rPr>
              <a:t>Mangoes</a:t>
            </a:r>
          </a:p>
          <a:p>
            <a:pPr algn="just" eaLnBrk="1" fontAlgn="auto" hangingPunct="1">
              <a:spcAft>
                <a:spcPts val="0"/>
              </a:spcAft>
              <a:buFont typeface="Symbol" pitchFamily="18" charset="2"/>
              <a:buNone/>
              <a:defRPr/>
            </a:pPr>
            <a:endParaRPr lang="en-US" dirty="0" smtClean="0">
              <a:solidFill>
                <a:srgbClr val="000080"/>
              </a:solidFill>
              <a:latin typeface="Tahoma" pitchFamily="34" charset="0"/>
            </a:endParaRPr>
          </a:p>
          <a:p>
            <a:pPr algn="just" eaLnBrk="1" fontAlgn="auto" hangingPunct="1">
              <a:spcAft>
                <a:spcPts val="0"/>
              </a:spcAft>
              <a:buFont typeface="Arial" pitchFamily="34" charset="0"/>
              <a:buChar char="•"/>
              <a:defRPr/>
            </a:pPr>
            <a:r>
              <a:rPr lang="en-US" dirty="0">
                <a:latin typeface="Tahoma" pitchFamily="34" charset="0"/>
              </a:rPr>
              <a:t>T</a:t>
            </a:r>
            <a:r>
              <a:rPr lang="en-US" dirty="0" smtClean="0">
                <a:latin typeface="Tahoma" pitchFamily="34" charset="0"/>
              </a:rPr>
              <a:t>o control insect infestation</a:t>
            </a:r>
          </a:p>
          <a:p>
            <a:pPr algn="just" eaLnBrk="1" fontAlgn="auto" hangingPunct="1">
              <a:spcAft>
                <a:spcPts val="0"/>
              </a:spcAft>
              <a:buFontTx/>
              <a:buNone/>
              <a:defRPr/>
            </a:pPr>
            <a:r>
              <a:rPr lang="en-US" dirty="0" smtClean="0">
                <a:latin typeface="Tahoma" pitchFamily="34" charset="0"/>
              </a:rPr>
              <a:t>	(0.25-0.5 </a:t>
            </a:r>
            <a:r>
              <a:rPr lang="en-US" dirty="0" err="1" smtClean="0">
                <a:latin typeface="Tahoma" pitchFamily="34" charset="0"/>
              </a:rPr>
              <a:t>kGy</a:t>
            </a:r>
            <a:r>
              <a:rPr lang="en-US" dirty="0" smtClean="0">
                <a:latin typeface="Tahoma" pitchFamily="34" charset="0"/>
              </a:rPr>
              <a:t>)</a:t>
            </a:r>
          </a:p>
          <a:p>
            <a:pPr algn="just" eaLnBrk="1" fontAlgn="auto" hangingPunct="1">
              <a:spcAft>
                <a:spcPts val="0"/>
              </a:spcAft>
              <a:buFont typeface="Arial" pitchFamily="34" charset="0"/>
              <a:buChar char="•"/>
              <a:defRPr/>
            </a:pPr>
            <a:r>
              <a:rPr lang="en-US" dirty="0">
                <a:latin typeface="Tahoma" pitchFamily="34" charset="0"/>
              </a:rPr>
              <a:t>T</a:t>
            </a:r>
            <a:r>
              <a:rPr lang="en-US" dirty="0" smtClean="0">
                <a:latin typeface="Tahoma" pitchFamily="34" charset="0"/>
              </a:rPr>
              <a:t>o improve quality by delaying ripening </a:t>
            </a:r>
          </a:p>
          <a:p>
            <a:pPr algn="just" eaLnBrk="1" fontAlgn="auto" hangingPunct="1">
              <a:spcAft>
                <a:spcPts val="0"/>
              </a:spcAft>
              <a:buFont typeface="Arial" charset="0"/>
              <a:buNone/>
              <a:defRPr/>
            </a:pPr>
            <a:r>
              <a:rPr lang="en-US" dirty="0" smtClean="0">
                <a:latin typeface="Tahoma" pitchFamily="34" charset="0"/>
              </a:rPr>
              <a:t>   (0.5-1.0 </a:t>
            </a:r>
            <a:r>
              <a:rPr lang="en-US" dirty="0" err="1" smtClean="0">
                <a:latin typeface="Tahoma" pitchFamily="34" charset="0"/>
              </a:rPr>
              <a:t>kGy</a:t>
            </a:r>
            <a:r>
              <a:rPr lang="en-US" dirty="0" smtClean="0">
                <a:latin typeface="Tahoma" pitchFamily="34" charset="0"/>
              </a:rPr>
              <a:t>)</a:t>
            </a:r>
          </a:p>
          <a:p>
            <a:pPr algn="just" eaLnBrk="1" fontAlgn="auto" hangingPunct="1">
              <a:spcAft>
                <a:spcPts val="0"/>
              </a:spcAft>
              <a:buFont typeface="Arial" pitchFamily="34" charset="0"/>
              <a:buChar char="•"/>
              <a:defRPr/>
            </a:pPr>
            <a:r>
              <a:rPr lang="en-US" dirty="0">
                <a:latin typeface="Tahoma" pitchFamily="34" charset="0"/>
              </a:rPr>
              <a:t>T</a:t>
            </a:r>
            <a:r>
              <a:rPr lang="en-US" dirty="0" smtClean="0">
                <a:latin typeface="Tahoma" pitchFamily="34" charset="0"/>
              </a:rPr>
              <a:t>o reduce the microbial load through combined irradiation and heat treatment (0.5-1.0 </a:t>
            </a:r>
            <a:r>
              <a:rPr lang="en-US" dirty="0" err="1" smtClean="0">
                <a:latin typeface="Tahoma" pitchFamily="34" charset="0"/>
              </a:rPr>
              <a:t>kGy</a:t>
            </a:r>
            <a:r>
              <a:rPr lang="en-US" dirty="0" smtClean="0">
                <a:latin typeface="Tahoma" pitchFamily="34" charset="0"/>
              </a:rPr>
              <a:t>)</a:t>
            </a:r>
          </a:p>
        </p:txBody>
      </p:sp>
      <p:pic>
        <p:nvPicPr>
          <p:cNvPr id="3" name="Picture 2" descr="35JICAYZCAINCAT760ZZCAHGXGA4CAGCBNNDCARP3I1WCARGJUVWCAYTU9W2CAX4K90DCA2GO2VMCAQ3UY4TCACK7Y0KCAWC8QZNCA5A0DG8CAT1U046CAM5C5C8CAYQX6N3CALL6NUDCANLOI7ICAREPJSS.jpg"/>
          <p:cNvPicPr>
            <a:picLocks noChangeAspect="1"/>
          </p:cNvPicPr>
          <p:nvPr/>
        </p:nvPicPr>
        <p:blipFill>
          <a:blip r:embed="rId3" cstate="print"/>
          <a:srcRect/>
          <a:stretch>
            <a:fillRect/>
          </a:stretch>
        </p:blipFill>
        <p:spPr bwMode="auto">
          <a:xfrm>
            <a:off x="3200400" y="228600"/>
            <a:ext cx="1154113" cy="1371600"/>
          </a:xfrm>
          <a:prstGeom prst="rect">
            <a:avLst/>
          </a:prstGeom>
          <a:noFill/>
          <a:ln w="9525">
            <a:noFill/>
            <a:miter lim="800000"/>
            <a:headEnd/>
            <a:tailEnd/>
          </a:ln>
        </p:spPr>
      </p:pic>
      <p:pic>
        <p:nvPicPr>
          <p:cNvPr id="4" name="Picture 3" descr="mangoes.jpg"/>
          <p:cNvPicPr>
            <a:picLocks noChangeAspect="1"/>
          </p:cNvPicPr>
          <p:nvPr/>
        </p:nvPicPr>
        <p:blipFill>
          <a:blip r:embed="rId4" cstate="print"/>
          <a:srcRect/>
          <a:stretch>
            <a:fillRect/>
          </a:stretch>
        </p:blipFill>
        <p:spPr bwMode="auto">
          <a:xfrm>
            <a:off x="3352800" y="2489200"/>
            <a:ext cx="1905000" cy="1397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anim calcmode="lin" valueType="num">
                                      <p:cBhvr additive="base">
                                        <p:cTn id="19"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2227">
                                            <p:txEl>
                                              <p:pRg st="4" end="4"/>
                                            </p:txEl>
                                          </p:spTgt>
                                        </p:tgtEl>
                                        <p:attrNameLst>
                                          <p:attrName>style.visibility</p:attrName>
                                        </p:attrNameLst>
                                      </p:cBhvr>
                                      <p:to>
                                        <p:strVal val="visible"/>
                                      </p:to>
                                    </p:set>
                                    <p:anim calcmode="lin" valueType="num">
                                      <p:cBhvr additive="base">
                                        <p:cTn id="25"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2227">
                                            <p:txEl>
                                              <p:pRg st="6" end="6"/>
                                            </p:txEl>
                                          </p:spTgt>
                                        </p:tgtEl>
                                        <p:attrNameLst>
                                          <p:attrName>style.visibility</p:attrName>
                                        </p:attrNameLst>
                                      </p:cBhvr>
                                      <p:to>
                                        <p:strVal val="visible"/>
                                      </p:to>
                                    </p:set>
                                    <p:anim calcmode="lin" valueType="num">
                                      <p:cBhvr additive="base">
                                        <p:cTn id="31" dur="500" fill="hold"/>
                                        <p:tgtEl>
                                          <p:spTgt spid="5222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22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2227">
                                            <p:txEl>
                                              <p:pRg st="8" end="8"/>
                                            </p:txEl>
                                          </p:spTgt>
                                        </p:tgtEl>
                                        <p:attrNameLst>
                                          <p:attrName>style.visibility</p:attrName>
                                        </p:attrNameLst>
                                      </p:cBhvr>
                                      <p:to>
                                        <p:strVal val="visible"/>
                                      </p:to>
                                    </p:set>
                                    <p:anim calcmode="lin" valueType="num">
                                      <p:cBhvr additive="base">
                                        <p:cTn id="43" dur="500" fill="hold"/>
                                        <p:tgtEl>
                                          <p:spTgt spid="5222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2227">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2227">
                                            <p:txEl>
                                              <p:pRg st="9" end="9"/>
                                            </p:txEl>
                                          </p:spTgt>
                                        </p:tgtEl>
                                        <p:attrNameLst>
                                          <p:attrName>style.visibility</p:attrName>
                                        </p:attrNameLst>
                                      </p:cBhvr>
                                      <p:to>
                                        <p:strVal val="visible"/>
                                      </p:to>
                                    </p:set>
                                    <p:anim calcmode="lin" valueType="num">
                                      <p:cBhvr additive="base">
                                        <p:cTn id="47" dur="500" fill="hold"/>
                                        <p:tgtEl>
                                          <p:spTgt spid="52227">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2227">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2227">
                                            <p:txEl>
                                              <p:pRg st="10" end="10"/>
                                            </p:txEl>
                                          </p:spTgt>
                                        </p:tgtEl>
                                        <p:attrNameLst>
                                          <p:attrName>style.visibility</p:attrName>
                                        </p:attrNameLst>
                                      </p:cBhvr>
                                      <p:to>
                                        <p:strVal val="visible"/>
                                      </p:to>
                                    </p:set>
                                    <p:anim calcmode="lin" valueType="num">
                                      <p:cBhvr additive="base">
                                        <p:cTn id="51" dur="500" fill="hold"/>
                                        <p:tgtEl>
                                          <p:spTgt spid="52227">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2227">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2227">
                                            <p:txEl>
                                              <p:pRg st="11" end="11"/>
                                            </p:txEl>
                                          </p:spTgt>
                                        </p:tgtEl>
                                        <p:attrNameLst>
                                          <p:attrName>style.visibility</p:attrName>
                                        </p:attrNameLst>
                                      </p:cBhvr>
                                      <p:to>
                                        <p:strVal val="visible"/>
                                      </p:to>
                                    </p:set>
                                    <p:anim calcmode="lin" valueType="num">
                                      <p:cBhvr additive="base">
                                        <p:cTn id="55" dur="500" fill="hold"/>
                                        <p:tgtEl>
                                          <p:spTgt spid="52227">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2227">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2227">
                                            <p:txEl>
                                              <p:pRg st="12" end="12"/>
                                            </p:txEl>
                                          </p:spTgt>
                                        </p:tgtEl>
                                        <p:attrNameLst>
                                          <p:attrName>style.visibility</p:attrName>
                                        </p:attrNameLst>
                                      </p:cBhvr>
                                      <p:to>
                                        <p:strVal val="visible"/>
                                      </p:to>
                                    </p:set>
                                    <p:anim calcmode="lin" valueType="num">
                                      <p:cBhvr additive="base">
                                        <p:cTn id="59" dur="500" fill="hold"/>
                                        <p:tgtEl>
                                          <p:spTgt spid="52227">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222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before &amp; after"/>
          <p:cNvPicPr>
            <a:picLocks noChangeAspect="1" noChangeArrowheads="1"/>
          </p:cNvPicPr>
          <p:nvPr/>
        </p:nvPicPr>
        <p:blipFill>
          <a:blip r:embed="rId2" cstate="print"/>
          <a:srcRect/>
          <a:stretch>
            <a:fillRect/>
          </a:stretch>
        </p:blipFill>
        <p:spPr bwMode="auto">
          <a:xfrm>
            <a:off x="0" y="0"/>
            <a:ext cx="9144000" cy="5943600"/>
          </a:xfrm>
          <a:prstGeom prst="rect">
            <a:avLst/>
          </a:prstGeom>
          <a:noFill/>
          <a:ln w="9525">
            <a:noFill/>
            <a:miter lim="800000"/>
            <a:headEnd/>
            <a:tailEnd/>
          </a:ln>
        </p:spPr>
      </p:pic>
      <p:sp>
        <p:nvSpPr>
          <p:cNvPr id="39939" name="Text Box 3"/>
          <p:cNvSpPr txBox="1">
            <a:spLocks noChangeArrowheads="1"/>
          </p:cNvSpPr>
          <p:nvPr/>
        </p:nvSpPr>
        <p:spPr bwMode="auto">
          <a:xfrm>
            <a:off x="2209800" y="6096000"/>
            <a:ext cx="5181600" cy="579438"/>
          </a:xfrm>
          <a:prstGeom prst="rect">
            <a:avLst/>
          </a:prstGeom>
          <a:noFill/>
          <a:ln w="9525">
            <a:noFill/>
            <a:miter lim="800000"/>
            <a:headEnd/>
            <a:tailEnd/>
          </a:ln>
        </p:spPr>
        <p:txBody>
          <a:bodyPr>
            <a:spAutoFit/>
          </a:bodyPr>
          <a:lstStyle/>
          <a:p>
            <a:pPr algn="ctr">
              <a:spcBef>
                <a:spcPct val="50000"/>
              </a:spcBef>
            </a:pPr>
            <a:r>
              <a:rPr lang="en-US" sz="3200" b="1">
                <a:solidFill>
                  <a:schemeClr val="accent2"/>
                </a:solidFill>
                <a:latin typeface="Tahoma" pitchFamily="34" charset="0"/>
              </a:rPr>
              <a:t>Papaya</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strawberry irradiation"/>
          <p:cNvPicPr>
            <a:picLocks noChangeAspect="1" noChangeArrowheads="1"/>
          </p:cNvPicPr>
          <p:nvPr/>
        </p:nvPicPr>
        <p:blipFill>
          <a:blip r:embed="rId2" cstate="print"/>
          <a:srcRect/>
          <a:stretch>
            <a:fillRect/>
          </a:stretch>
        </p:blipFill>
        <p:spPr bwMode="auto">
          <a:xfrm>
            <a:off x="0" y="0"/>
            <a:ext cx="9144000" cy="5964238"/>
          </a:xfrm>
          <a:prstGeom prst="rect">
            <a:avLst/>
          </a:prstGeom>
          <a:noFill/>
          <a:ln w="9525">
            <a:noFill/>
            <a:miter lim="800000"/>
            <a:headEnd/>
            <a:tailEnd/>
          </a:ln>
        </p:spPr>
      </p:pic>
      <p:sp>
        <p:nvSpPr>
          <p:cNvPr id="40963" name="Text Box 3"/>
          <p:cNvSpPr txBox="1">
            <a:spLocks noChangeArrowheads="1"/>
          </p:cNvSpPr>
          <p:nvPr/>
        </p:nvSpPr>
        <p:spPr bwMode="auto">
          <a:xfrm>
            <a:off x="1219200" y="6126163"/>
            <a:ext cx="6629400" cy="579437"/>
          </a:xfrm>
          <a:prstGeom prst="rect">
            <a:avLst/>
          </a:prstGeom>
          <a:noFill/>
          <a:ln w="9525">
            <a:noFill/>
            <a:miter lim="800000"/>
            <a:headEnd/>
            <a:tailEnd/>
          </a:ln>
        </p:spPr>
        <p:txBody>
          <a:bodyPr>
            <a:spAutoFit/>
          </a:bodyPr>
          <a:lstStyle/>
          <a:p>
            <a:pPr algn="ctr">
              <a:spcBef>
                <a:spcPct val="50000"/>
              </a:spcBef>
            </a:pPr>
            <a:r>
              <a:rPr lang="en-US" sz="3200" b="1">
                <a:latin typeface="Tahoma" pitchFamily="34" charset="0"/>
              </a:rPr>
              <a:t>Strawberry Irradiation</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533400" y="228600"/>
            <a:ext cx="8153400" cy="6400800"/>
          </a:xfrm>
        </p:spPr>
        <p:txBody>
          <a:bodyPr/>
          <a:lstStyle/>
          <a:p>
            <a:pPr algn="just" eaLnBrk="1" hangingPunct="1">
              <a:buFont typeface="Symbol" pitchFamily="18" charset="2"/>
              <a:buNone/>
            </a:pPr>
            <a:r>
              <a:rPr lang="en-US" b="1" dirty="0" smtClean="0">
                <a:solidFill>
                  <a:srgbClr val="800080"/>
                </a:solidFill>
                <a:latin typeface="Tahoma" pitchFamily="34" charset="0"/>
              </a:rPr>
              <a:t>Spices and Condiments</a:t>
            </a:r>
          </a:p>
          <a:p>
            <a:pPr eaLnBrk="1" hangingPunct="1">
              <a:buFont typeface="Symbol" pitchFamily="18" charset="2"/>
              <a:buChar char="·"/>
            </a:pPr>
            <a:r>
              <a:rPr lang="en-US" dirty="0" smtClean="0">
                <a:latin typeface="Tahoma" pitchFamily="34" charset="0"/>
              </a:rPr>
              <a:t>To control insect infestation </a:t>
            </a:r>
          </a:p>
          <a:p>
            <a:pPr eaLnBrk="1" hangingPunct="1">
              <a:buFont typeface="Symbol" pitchFamily="18" charset="2"/>
              <a:buNone/>
            </a:pPr>
            <a:r>
              <a:rPr lang="en-US" dirty="0" smtClean="0">
                <a:latin typeface="Tahoma" pitchFamily="34" charset="0"/>
              </a:rPr>
              <a:t>	(0.5 -1.0 </a:t>
            </a:r>
            <a:r>
              <a:rPr lang="en-US" dirty="0" err="1" smtClean="0">
                <a:latin typeface="Tahoma" pitchFamily="34" charset="0"/>
              </a:rPr>
              <a:t>kGy</a:t>
            </a:r>
            <a:r>
              <a:rPr lang="en-US" dirty="0" smtClean="0">
                <a:latin typeface="Tahoma" pitchFamily="34" charset="0"/>
              </a:rPr>
              <a:t>)</a:t>
            </a:r>
          </a:p>
          <a:p>
            <a:pPr eaLnBrk="1" hangingPunct="1">
              <a:buFont typeface="Symbol" pitchFamily="18" charset="2"/>
              <a:buChar char="·"/>
            </a:pPr>
            <a:r>
              <a:rPr lang="en-US" dirty="0" smtClean="0">
                <a:latin typeface="Tahoma" pitchFamily="34" charset="0"/>
              </a:rPr>
              <a:t>To reduce the microbial load</a:t>
            </a:r>
          </a:p>
          <a:p>
            <a:pPr eaLnBrk="1" hangingPunct="1">
              <a:buFont typeface="Symbol" pitchFamily="18" charset="2"/>
              <a:buNone/>
            </a:pPr>
            <a:r>
              <a:rPr lang="en-US" dirty="0" smtClean="0">
                <a:latin typeface="Tahoma" pitchFamily="34" charset="0"/>
              </a:rPr>
              <a:t>	(5-10 </a:t>
            </a:r>
            <a:r>
              <a:rPr lang="en-US" dirty="0" err="1" smtClean="0">
                <a:latin typeface="Tahoma" pitchFamily="34" charset="0"/>
              </a:rPr>
              <a:t>kGy</a:t>
            </a:r>
            <a:r>
              <a:rPr lang="en-US" dirty="0" smtClean="0">
                <a:latin typeface="Tahoma" pitchFamily="34" charset="0"/>
              </a:rPr>
              <a:t>)</a:t>
            </a:r>
          </a:p>
          <a:p>
            <a:pPr eaLnBrk="1" hangingPunct="1">
              <a:buFont typeface="Symbol" pitchFamily="18" charset="2"/>
              <a:buChar char="·"/>
            </a:pPr>
            <a:r>
              <a:rPr lang="en-US" dirty="0" smtClean="0">
                <a:latin typeface="Tahoma" pitchFamily="34" charset="0"/>
              </a:rPr>
              <a:t>To reduce the number of pathogenic microorganisms (5 </a:t>
            </a:r>
            <a:r>
              <a:rPr lang="en-US" dirty="0" err="1" smtClean="0">
                <a:latin typeface="Tahoma" pitchFamily="34" charset="0"/>
              </a:rPr>
              <a:t>kGy</a:t>
            </a:r>
            <a:r>
              <a:rPr lang="en-US" dirty="0" smtClean="0">
                <a:latin typeface="Tahoma" pitchFamily="34" charset="0"/>
              </a:rPr>
              <a:t>)</a:t>
            </a:r>
          </a:p>
          <a:p>
            <a:pPr eaLnBrk="1" hangingPunct="1">
              <a:buFontTx/>
              <a:buNone/>
            </a:pPr>
            <a:r>
              <a:rPr lang="en-US" b="1" dirty="0" smtClean="0">
                <a:solidFill>
                  <a:srgbClr val="0000FF"/>
                </a:solidFill>
                <a:latin typeface="Tahoma" pitchFamily="34" charset="0"/>
              </a:rPr>
              <a:t>Meat and Poultry</a:t>
            </a:r>
          </a:p>
          <a:p>
            <a:pPr eaLnBrk="1" hangingPunct="1"/>
            <a:r>
              <a:rPr lang="en-US" dirty="0" smtClean="0">
                <a:latin typeface="Tahoma" pitchFamily="34" charset="0"/>
              </a:rPr>
              <a:t>To extend shelf-life and eliminate pathogenic micro-organisms</a:t>
            </a:r>
          </a:p>
          <a:p>
            <a:pPr eaLnBrk="1" hangingPunct="1">
              <a:buFontTx/>
              <a:buNone/>
            </a:pPr>
            <a:r>
              <a:rPr lang="en-US" dirty="0" smtClean="0">
                <a:latin typeface="Tahoma" pitchFamily="34" charset="0"/>
              </a:rPr>
              <a:t>	(24 </a:t>
            </a:r>
            <a:r>
              <a:rPr lang="en-US" dirty="0" err="1" smtClean="0">
                <a:latin typeface="Tahoma" pitchFamily="34" charset="0"/>
              </a:rPr>
              <a:t>kGy</a:t>
            </a:r>
            <a:r>
              <a:rPr lang="en-US" dirty="0" smtClean="0">
                <a:latin typeface="Tahom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 calcmode="lin" valueType="num">
                                      <p:cBhvr additive="base">
                                        <p:cTn id="17"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54275">
                                            <p:txEl>
                                              <p:pRg st="3" end="3"/>
                                            </p:txEl>
                                          </p:spTgt>
                                        </p:tgtEl>
                                        <p:attrNameLst>
                                          <p:attrName>style.visibility</p:attrName>
                                        </p:attrNameLst>
                                      </p:cBhvr>
                                      <p:to>
                                        <p:strVal val="visible"/>
                                      </p:to>
                                    </p:set>
                                    <p:anim calcmode="lin" valueType="num">
                                      <p:cBhvr additive="base">
                                        <p:cTn id="23"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427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4275">
                                            <p:txEl>
                                              <p:pRg st="4" end="4"/>
                                            </p:txEl>
                                          </p:spTgt>
                                        </p:tgtEl>
                                        <p:attrNameLst>
                                          <p:attrName>style.visibility</p:attrName>
                                        </p:attrNameLst>
                                      </p:cBhvr>
                                      <p:to>
                                        <p:strVal val="visible"/>
                                      </p:to>
                                    </p:set>
                                    <p:anim calcmode="lin" valueType="num">
                                      <p:cBhvr additive="base">
                                        <p:cTn id="27"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4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54275">
                                            <p:txEl>
                                              <p:pRg st="5" end="5"/>
                                            </p:txEl>
                                          </p:spTgt>
                                        </p:tgtEl>
                                        <p:attrNameLst>
                                          <p:attrName>style.visibility</p:attrName>
                                        </p:attrNameLst>
                                      </p:cBhvr>
                                      <p:to>
                                        <p:strVal val="visible"/>
                                      </p:to>
                                    </p:set>
                                    <p:anim calcmode="lin" valueType="num">
                                      <p:cBhvr additive="base">
                                        <p:cTn id="33"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54275">
                                            <p:txEl>
                                              <p:pRg st="6" end="6"/>
                                            </p:txEl>
                                          </p:spTgt>
                                        </p:tgtEl>
                                        <p:attrNameLst>
                                          <p:attrName>style.visibility</p:attrName>
                                        </p:attrNameLst>
                                      </p:cBhvr>
                                      <p:to>
                                        <p:strVal val="visible"/>
                                      </p:to>
                                    </p:set>
                                    <p:anim calcmode="lin" valueType="num">
                                      <p:cBhvr additive="base">
                                        <p:cTn id="39" dur="500" fill="hold"/>
                                        <p:tgtEl>
                                          <p:spTgt spid="5427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42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54275">
                                            <p:txEl>
                                              <p:pRg st="7" end="7"/>
                                            </p:txEl>
                                          </p:spTgt>
                                        </p:tgtEl>
                                        <p:attrNameLst>
                                          <p:attrName>style.visibility</p:attrName>
                                        </p:attrNameLst>
                                      </p:cBhvr>
                                      <p:to>
                                        <p:strVal val="visible"/>
                                      </p:to>
                                    </p:set>
                                    <p:anim calcmode="lin" valueType="num">
                                      <p:cBhvr additive="base">
                                        <p:cTn id="45" dur="500" fill="hold"/>
                                        <p:tgtEl>
                                          <p:spTgt spid="5427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4275">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4275">
                                            <p:txEl>
                                              <p:pRg st="8" end="8"/>
                                            </p:txEl>
                                          </p:spTgt>
                                        </p:tgtEl>
                                        <p:attrNameLst>
                                          <p:attrName>style.visibility</p:attrName>
                                        </p:attrNameLst>
                                      </p:cBhvr>
                                      <p:to>
                                        <p:strVal val="visible"/>
                                      </p:to>
                                    </p:set>
                                    <p:anim calcmode="lin" valueType="num">
                                      <p:cBhvr additive="base">
                                        <p:cTn id="49" dur="500" fill="hold"/>
                                        <p:tgtEl>
                                          <p:spTgt spid="5427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427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33400" y="5715000"/>
            <a:ext cx="7772400" cy="1143000"/>
          </a:xfrm>
        </p:spPr>
        <p:txBody>
          <a:bodyPr/>
          <a:lstStyle/>
          <a:p>
            <a:pPr eaLnBrk="1" hangingPunct="1"/>
            <a:r>
              <a:rPr lang="en-US" sz="3200" dirty="0" smtClean="0">
                <a:latin typeface="Tahoma" pitchFamily="34" charset="0"/>
              </a:rPr>
              <a:t>Irradiated Meat</a:t>
            </a:r>
          </a:p>
        </p:txBody>
      </p:sp>
      <p:pic>
        <p:nvPicPr>
          <p:cNvPr id="43011" name="Picture 2" descr="http://www.organicconsumers.org/images/bytes/irradiation.jpg"/>
          <p:cNvPicPr>
            <a:picLocks noChangeAspect="1" noChangeArrowheads="1"/>
          </p:cNvPicPr>
          <p:nvPr/>
        </p:nvPicPr>
        <p:blipFill>
          <a:blip r:embed="rId2" cstate="print"/>
          <a:srcRect/>
          <a:stretch>
            <a:fillRect/>
          </a:stretch>
        </p:blipFill>
        <p:spPr bwMode="auto">
          <a:xfrm>
            <a:off x="4648200" y="3048000"/>
            <a:ext cx="4191000" cy="2800350"/>
          </a:xfrm>
          <a:prstGeom prst="rect">
            <a:avLst/>
          </a:prstGeom>
          <a:noFill/>
          <a:ln w="9525">
            <a:noFill/>
            <a:miter lim="800000"/>
            <a:headEnd/>
            <a:tailEnd/>
          </a:ln>
        </p:spPr>
      </p:pic>
      <p:pic>
        <p:nvPicPr>
          <p:cNvPr id="43012" name="Picture 3" descr="sirloin_scenario.png"/>
          <p:cNvPicPr>
            <a:picLocks noChangeAspect="1"/>
          </p:cNvPicPr>
          <p:nvPr/>
        </p:nvPicPr>
        <p:blipFill>
          <a:blip r:embed="rId3" cstate="print"/>
          <a:srcRect/>
          <a:stretch>
            <a:fillRect/>
          </a:stretch>
        </p:blipFill>
        <p:spPr bwMode="auto">
          <a:xfrm>
            <a:off x="762000" y="609600"/>
            <a:ext cx="3649663" cy="2105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b="1" smtClean="0">
                <a:latin typeface="Tahoma" pitchFamily="34" charset="0"/>
              </a:rPr>
              <a:t>International Use</a:t>
            </a:r>
          </a:p>
        </p:txBody>
      </p:sp>
      <p:sp>
        <p:nvSpPr>
          <p:cNvPr id="45059" name="Content Placeholder 2"/>
          <p:cNvSpPr>
            <a:spLocks noGrp="1"/>
          </p:cNvSpPr>
          <p:nvPr>
            <p:ph idx="1"/>
          </p:nvPr>
        </p:nvSpPr>
        <p:spPr>
          <a:xfrm>
            <a:off x="0" y="1600200"/>
            <a:ext cx="9144000" cy="4525963"/>
          </a:xfrm>
        </p:spPr>
        <p:txBody>
          <a:bodyPr/>
          <a:lstStyle/>
          <a:p>
            <a:r>
              <a:rPr lang="en-US" dirty="0" smtClean="0">
                <a:latin typeface="Tahoma" pitchFamily="34" charset="0"/>
              </a:rPr>
              <a:t>Food irradiation is currently permitted by over 50 countries, and the volume of food treated is estimated to exceed 500,000 metric tons annually worldwide; however, the extent of clearances varies significantly, from a single item (spices) in the EU to any food in Brazil.</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28600"/>
            <a:ext cx="8229600" cy="1143000"/>
          </a:xfrm>
        </p:spPr>
        <p:txBody>
          <a:bodyPr/>
          <a:lstStyle/>
          <a:p>
            <a:pPr eaLnBrk="1" hangingPunct="1"/>
            <a:r>
              <a:rPr lang="en-US" sz="4000" b="1" dirty="0" smtClean="0">
                <a:latin typeface="Tahoma" pitchFamily="34" charset="0"/>
                <a:ea typeface="Tahoma" pitchFamily="34" charset="0"/>
                <a:cs typeface="Tahoma" pitchFamily="34" charset="0"/>
              </a:rPr>
              <a:t>Common Foods of Interest</a:t>
            </a:r>
          </a:p>
        </p:txBody>
      </p:sp>
      <p:graphicFrame>
        <p:nvGraphicFramePr>
          <p:cNvPr id="4" name="Content Placeholder 3"/>
          <p:cNvGraphicFramePr>
            <a:graphicFrameLocks noGrp="1"/>
          </p:cNvGraphicFramePr>
          <p:nvPr>
            <p:ph idx="1"/>
          </p:nvPr>
        </p:nvGraphicFramePr>
        <p:xfrm>
          <a:off x="213841" y="1981197"/>
          <a:ext cx="8777759" cy="4324988"/>
        </p:xfrm>
        <a:graphic>
          <a:graphicData uri="http://schemas.openxmlformats.org/drawingml/2006/table">
            <a:tbl>
              <a:tblPr firstRow="1" bandRow="1">
                <a:tableStyleId>{9DCAF9ED-07DC-4A11-8D7F-57B35C25682E}</a:tableStyleId>
              </a:tblPr>
              <a:tblGrid>
                <a:gridCol w="2263084"/>
                <a:gridCol w="6514675"/>
              </a:tblGrid>
              <a:tr h="491476">
                <a:tc>
                  <a:txBody>
                    <a:bodyPr/>
                    <a:lstStyle/>
                    <a:p>
                      <a:r>
                        <a:rPr lang="en-US" sz="2400" b="0" cap="none" dirty="0" smtClean="0">
                          <a:latin typeface="Times New Roman"/>
                          <a:cs typeface="Times New Roman"/>
                        </a:rPr>
                        <a:t>F</a:t>
                      </a:r>
                      <a:r>
                        <a:rPr lang="en-US" sz="2400" b="0" cap="small" dirty="0" smtClean="0">
                          <a:latin typeface="Times New Roman"/>
                          <a:cs typeface="Times New Roman"/>
                        </a:rPr>
                        <a:t>ood</a:t>
                      </a:r>
                      <a:endParaRPr lang="en-US" sz="2400" b="0" cap="none" dirty="0">
                        <a:latin typeface="Times New Roman"/>
                        <a:cs typeface="Times New Roman"/>
                      </a:endParaRPr>
                    </a:p>
                  </a:txBody>
                  <a:tcPr/>
                </a:tc>
                <a:tc>
                  <a:txBody>
                    <a:bodyPr/>
                    <a:lstStyle/>
                    <a:p>
                      <a:r>
                        <a:rPr lang="en-US" sz="2400" b="0" dirty="0" smtClean="0">
                          <a:latin typeface="Times New Roman"/>
                          <a:cs typeface="Times New Roman"/>
                        </a:rPr>
                        <a:t>C</a:t>
                      </a:r>
                      <a:r>
                        <a:rPr lang="en-US" sz="2400" b="0" cap="small" dirty="0" smtClean="0">
                          <a:latin typeface="Times New Roman"/>
                          <a:cs typeface="Times New Roman"/>
                        </a:rPr>
                        <a:t>ountries</a:t>
                      </a:r>
                      <a:endParaRPr lang="en-US" sz="2400" b="0" dirty="0">
                        <a:latin typeface="Times New Roman"/>
                        <a:cs typeface="Times New Roman"/>
                      </a:endParaRP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Alfalfa</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Argentina, Hungary, USA, UK</a:t>
                      </a:r>
                      <a:endParaRPr lang="en-US" sz="2400" b="0" dirty="0">
                        <a:latin typeface="Tahoma" pitchFamily="34" charset="0"/>
                        <a:ea typeface="Tahoma" pitchFamily="34" charset="0"/>
                        <a:cs typeface="Tahoma" pitchFamily="34" charset="0"/>
                      </a:endParaRPr>
                    </a:p>
                  </a:txBody>
                  <a:tcPr/>
                </a:tc>
              </a:tr>
              <a:tr h="884656">
                <a:tc>
                  <a:txBody>
                    <a:bodyPr/>
                    <a:lstStyle/>
                    <a:p>
                      <a:r>
                        <a:rPr lang="en-US" sz="2400" b="1" dirty="0" smtClean="0">
                          <a:solidFill>
                            <a:srgbClr val="FF0000"/>
                          </a:solidFill>
                          <a:latin typeface="Tahoma" pitchFamily="34" charset="0"/>
                          <a:ea typeface="Tahoma" pitchFamily="34" charset="0"/>
                          <a:cs typeface="Tahoma" pitchFamily="34" charset="0"/>
                        </a:rPr>
                        <a:t>Carrot</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Canada,</a:t>
                      </a:r>
                      <a:r>
                        <a:rPr lang="en-US" sz="2400" b="0" baseline="0" dirty="0" smtClean="0">
                          <a:latin typeface="Tahoma" pitchFamily="34" charset="0"/>
                          <a:ea typeface="Tahoma" pitchFamily="34" charset="0"/>
                          <a:cs typeface="Tahoma" pitchFamily="34" charset="0"/>
                        </a:rPr>
                        <a:t> Chile, Egypt, India, Pakistan, Turkey, USA</a:t>
                      </a: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Cucumber</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Egypt, India, Malaysia,</a:t>
                      </a:r>
                      <a:r>
                        <a:rPr lang="en-US" sz="2400" b="0" baseline="0" dirty="0" smtClean="0">
                          <a:latin typeface="Tahoma" pitchFamily="34" charset="0"/>
                          <a:ea typeface="Tahoma" pitchFamily="34" charset="0"/>
                          <a:cs typeface="Tahoma" pitchFamily="34" charset="0"/>
                        </a:rPr>
                        <a:t> Pakistan</a:t>
                      </a:r>
                      <a:endParaRPr lang="en-US" sz="2400" b="0" dirty="0">
                        <a:latin typeface="Tahoma" pitchFamily="34" charset="0"/>
                        <a:ea typeface="Tahoma" pitchFamily="34" charset="0"/>
                        <a:cs typeface="Tahoma" pitchFamily="34" charset="0"/>
                      </a:endParaRP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Lettuce</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Brazil, Chile, Egypt,</a:t>
                      </a:r>
                      <a:r>
                        <a:rPr lang="en-US" sz="2400" b="0" baseline="0" dirty="0" smtClean="0">
                          <a:latin typeface="Tahoma" pitchFamily="34" charset="0"/>
                          <a:ea typeface="Tahoma" pitchFamily="34" charset="0"/>
                          <a:cs typeface="Tahoma" pitchFamily="34" charset="0"/>
                        </a:rPr>
                        <a:t> Portugal, USA</a:t>
                      </a:r>
                      <a:endParaRPr lang="en-US" sz="2400" b="0" dirty="0">
                        <a:latin typeface="Tahoma" pitchFamily="34" charset="0"/>
                        <a:ea typeface="Tahoma" pitchFamily="34" charset="0"/>
                        <a:cs typeface="Tahoma" pitchFamily="34" charset="0"/>
                      </a:endParaRP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Melon</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Hungary, Pakistan, Portugal, USA</a:t>
                      </a:r>
                      <a:endParaRPr lang="en-US" sz="2400" b="0" dirty="0">
                        <a:latin typeface="Tahoma" pitchFamily="34" charset="0"/>
                        <a:ea typeface="Tahoma" pitchFamily="34" charset="0"/>
                        <a:cs typeface="Tahoma" pitchFamily="34" charset="0"/>
                      </a:endParaRP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Pineapple</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Brazil, India, Malaysia</a:t>
                      </a:r>
                      <a:endParaRPr lang="en-US" sz="2400" b="0" dirty="0">
                        <a:latin typeface="Tahoma" pitchFamily="34" charset="0"/>
                        <a:ea typeface="Tahoma" pitchFamily="34" charset="0"/>
                        <a:cs typeface="Tahoma" pitchFamily="34" charset="0"/>
                      </a:endParaRPr>
                    </a:p>
                  </a:txBody>
                  <a:tcPr/>
                </a:tc>
              </a:tr>
              <a:tr h="491476">
                <a:tc>
                  <a:txBody>
                    <a:bodyPr/>
                    <a:lstStyle/>
                    <a:p>
                      <a:r>
                        <a:rPr lang="en-US" sz="2400" b="1" dirty="0" smtClean="0">
                          <a:solidFill>
                            <a:srgbClr val="FF0000"/>
                          </a:solidFill>
                          <a:latin typeface="Tahoma" pitchFamily="34" charset="0"/>
                          <a:ea typeface="Tahoma" pitchFamily="34" charset="0"/>
                          <a:cs typeface="Tahoma" pitchFamily="34" charset="0"/>
                        </a:rPr>
                        <a:t>Watermelon</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Brazil, Hungary, Portugal</a:t>
                      </a:r>
                      <a:endParaRPr lang="en-US" sz="2400" b="0" dirty="0">
                        <a:latin typeface="Tahoma" pitchFamily="34" charset="0"/>
                        <a:ea typeface="Tahoma" pitchFamily="34" charset="0"/>
                        <a:cs typeface="Tahoma"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sz="4000" b="1" dirty="0" smtClean="0">
                <a:latin typeface="Tahoma" pitchFamily="34" charset="0"/>
                <a:ea typeface="Tahoma" pitchFamily="34" charset="0"/>
                <a:cs typeface="Tahoma" pitchFamily="34" charset="0"/>
              </a:rPr>
              <a:t>Some Ethnic Foods of Interest</a:t>
            </a:r>
          </a:p>
        </p:txBody>
      </p:sp>
      <p:graphicFrame>
        <p:nvGraphicFramePr>
          <p:cNvPr id="6" name="Content Placeholder 5"/>
          <p:cNvGraphicFramePr>
            <a:graphicFrameLocks noGrp="1"/>
          </p:cNvGraphicFramePr>
          <p:nvPr>
            <p:ph idx="1"/>
          </p:nvPr>
        </p:nvGraphicFramePr>
        <p:xfrm>
          <a:off x="228600" y="1905004"/>
          <a:ext cx="8367809" cy="4205663"/>
        </p:xfrm>
        <a:graphic>
          <a:graphicData uri="http://schemas.openxmlformats.org/drawingml/2006/table">
            <a:tbl>
              <a:tblPr firstRow="1" bandRow="1">
                <a:tableStyleId>{9DCAF9ED-07DC-4A11-8D7F-57B35C25682E}</a:tableStyleId>
              </a:tblPr>
              <a:tblGrid>
                <a:gridCol w="5068226"/>
                <a:gridCol w="3299583"/>
              </a:tblGrid>
              <a:tr h="600809">
                <a:tc>
                  <a:txBody>
                    <a:bodyPr/>
                    <a:lstStyle/>
                    <a:p>
                      <a:r>
                        <a:rPr lang="en-US" sz="2400" b="0" dirty="0" smtClean="0">
                          <a:latin typeface="Tahoma" pitchFamily="34" charset="0"/>
                          <a:ea typeface="Tahoma" pitchFamily="34" charset="0"/>
                          <a:cs typeface="Tahoma" pitchFamily="34" charset="0"/>
                        </a:rPr>
                        <a:t>F</a:t>
                      </a:r>
                      <a:r>
                        <a:rPr lang="en-US" sz="2400" b="0" cap="small" dirty="0" smtClean="0">
                          <a:latin typeface="Tahoma" pitchFamily="34" charset="0"/>
                          <a:ea typeface="Tahoma" pitchFamily="34" charset="0"/>
                          <a:cs typeface="Tahoma" pitchFamily="34" charset="0"/>
                        </a:rPr>
                        <a:t>ood</a:t>
                      </a:r>
                      <a:endParaRPr lang="en-US" sz="2400" b="0" dirty="0">
                        <a:latin typeface="Tahoma" pitchFamily="34" charset="0"/>
                        <a:ea typeface="Tahoma" pitchFamily="34" charset="0"/>
                        <a:cs typeface="Tahoma" pitchFamily="34" charset="0"/>
                      </a:endParaRPr>
                    </a:p>
                  </a:txBody>
                  <a:tcPr/>
                </a:tc>
                <a:tc>
                  <a:txBody>
                    <a:bodyPr/>
                    <a:lstStyle/>
                    <a:p>
                      <a:r>
                        <a:rPr lang="en-US" sz="2400" b="0" dirty="0" smtClean="0">
                          <a:latin typeface="Tahoma" pitchFamily="34" charset="0"/>
                          <a:ea typeface="Tahoma" pitchFamily="34" charset="0"/>
                          <a:cs typeface="Tahoma" pitchFamily="34" charset="0"/>
                        </a:rPr>
                        <a:t>C</a:t>
                      </a:r>
                      <a:r>
                        <a:rPr lang="en-US" sz="2400" b="0" cap="small" dirty="0" smtClean="0">
                          <a:latin typeface="Tahoma" pitchFamily="34" charset="0"/>
                          <a:ea typeface="Tahoma" pitchFamily="34" charset="0"/>
                          <a:cs typeface="Tahoma" pitchFamily="34" charset="0"/>
                        </a:rPr>
                        <a:t>ountry</a:t>
                      </a:r>
                      <a:endParaRPr lang="en-US" sz="2400" b="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Cannelloni</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Argentina</a:t>
                      </a:r>
                      <a:endParaRPr lang="en-US" sz="240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Chinese</a:t>
                      </a:r>
                      <a:r>
                        <a:rPr lang="en-US" sz="2400" b="1" baseline="0" dirty="0" smtClean="0">
                          <a:solidFill>
                            <a:srgbClr val="FF0000"/>
                          </a:solidFill>
                          <a:latin typeface="Tahoma" pitchFamily="34" charset="0"/>
                          <a:ea typeface="Tahoma" pitchFamily="34" charset="0"/>
                          <a:cs typeface="Tahoma" pitchFamily="34" charset="0"/>
                        </a:rPr>
                        <a:t> Dumpling</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China</a:t>
                      </a:r>
                      <a:endParaRPr lang="en-US" sz="240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Prawn Masala</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India</a:t>
                      </a:r>
                      <a:endParaRPr lang="en-US" sz="240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Ox-tail Soup</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Indonesia</a:t>
                      </a:r>
                      <a:endParaRPr lang="en-US" sz="240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Bulgogi</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Korea</a:t>
                      </a:r>
                      <a:endParaRPr lang="en-US" sz="2400" dirty="0">
                        <a:latin typeface="Tahoma" pitchFamily="34" charset="0"/>
                        <a:ea typeface="Tahoma" pitchFamily="34" charset="0"/>
                        <a:cs typeface="Tahoma" pitchFamily="34" charset="0"/>
                      </a:endParaRPr>
                    </a:p>
                  </a:txBody>
                  <a:tcPr/>
                </a:tc>
              </a:tr>
              <a:tr h="600809">
                <a:tc>
                  <a:txBody>
                    <a:bodyPr/>
                    <a:lstStyle/>
                    <a:p>
                      <a:r>
                        <a:rPr lang="en-US" sz="2400" b="1" dirty="0" smtClean="0">
                          <a:solidFill>
                            <a:srgbClr val="FF0000"/>
                          </a:solidFill>
                          <a:latin typeface="Tahoma" pitchFamily="34" charset="0"/>
                          <a:ea typeface="Tahoma" pitchFamily="34" charset="0"/>
                          <a:cs typeface="Tahoma" pitchFamily="34" charset="0"/>
                        </a:rPr>
                        <a:t>Thai Spicy Chicken Basil Rice</a:t>
                      </a:r>
                      <a:endParaRPr lang="en-US" sz="2400" b="1" dirty="0">
                        <a:solidFill>
                          <a:srgbClr val="FF0000"/>
                        </a:solidFill>
                        <a:latin typeface="Tahoma" pitchFamily="34" charset="0"/>
                        <a:ea typeface="Tahoma" pitchFamily="34" charset="0"/>
                        <a:cs typeface="Tahoma" pitchFamily="34" charset="0"/>
                      </a:endParaRPr>
                    </a:p>
                  </a:txBody>
                  <a:tcPr/>
                </a:tc>
                <a:tc>
                  <a:txBody>
                    <a:bodyPr/>
                    <a:lstStyle/>
                    <a:p>
                      <a:r>
                        <a:rPr lang="en-US" sz="2400" dirty="0" smtClean="0">
                          <a:latin typeface="Tahoma" pitchFamily="34" charset="0"/>
                          <a:ea typeface="Tahoma" pitchFamily="34" charset="0"/>
                          <a:cs typeface="Tahoma" pitchFamily="34" charset="0"/>
                        </a:rPr>
                        <a:t>Thailand</a:t>
                      </a:r>
                      <a:endParaRPr lang="en-US" sz="2400" dirty="0">
                        <a:latin typeface="Tahoma" pitchFamily="34" charset="0"/>
                        <a:ea typeface="Tahoma" pitchFamily="34" charset="0"/>
                        <a:cs typeface="Tahoma"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76200"/>
            <a:ext cx="8229600" cy="1143000"/>
          </a:xfrm>
        </p:spPr>
        <p:txBody>
          <a:bodyPr/>
          <a:lstStyle/>
          <a:p>
            <a:r>
              <a:rPr lang="en-US" b="1" smtClean="0">
                <a:latin typeface="Tahoma" pitchFamily="34" charset="0"/>
              </a:rPr>
              <a:t>Current US Market</a:t>
            </a:r>
            <a:endParaRPr lang="en-US" smtClean="0">
              <a:latin typeface="Tahoma" pitchFamily="34" charset="0"/>
            </a:endParaRPr>
          </a:p>
        </p:txBody>
      </p:sp>
      <p:sp>
        <p:nvSpPr>
          <p:cNvPr id="46083" name="Content Placeholder 2"/>
          <p:cNvSpPr>
            <a:spLocks noGrp="1"/>
          </p:cNvSpPr>
          <p:nvPr>
            <p:ph idx="1"/>
          </p:nvPr>
        </p:nvSpPr>
        <p:spPr>
          <a:xfrm>
            <a:off x="0" y="914400"/>
            <a:ext cx="9144000" cy="5791200"/>
          </a:xfrm>
        </p:spPr>
        <p:txBody>
          <a:bodyPr/>
          <a:lstStyle/>
          <a:p>
            <a:r>
              <a:rPr lang="en-US" sz="2800" dirty="0" smtClean="0">
                <a:latin typeface="Tahoma" pitchFamily="34" charset="0"/>
              </a:rPr>
              <a:t>Several U.S. supermarkets carry irradiated food products ranging from fresh tropical fruit from Hawaii, Florida or Mexico, dehydrated spices,</a:t>
            </a:r>
            <a:r>
              <a:rPr lang="en-US" sz="2800" baseline="30000" dirty="0" smtClean="0">
                <a:latin typeface="Tahoma" pitchFamily="34" charset="0"/>
              </a:rPr>
              <a:t> </a:t>
            </a:r>
            <a:r>
              <a:rPr lang="en-US" sz="2800" dirty="0" smtClean="0">
                <a:latin typeface="Tahoma" pitchFamily="34" charset="0"/>
              </a:rPr>
              <a:t>spinach, and ground meat products. </a:t>
            </a:r>
          </a:p>
          <a:p>
            <a:endParaRPr lang="en-US" sz="2800" dirty="0" smtClean="0">
              <a:latin typeface="Tahoma" pitchFamily="34" charset="0"/>
            </a:endParaRPr>
          </a:p>
          <a:p>
            <a:r>
              <a:rPr lang="en-US" sz="2800" dirty="0" smtClean="0">
                <a:latin typeface="Tahoma" pitchFamily="34" charset="0"/>
              </a:rPr>
              <a:t>Certain supermarkets prefer not to carry irradiated products for reasons of consumer perception. </a:t>
            </a:r>
          </a:p>
          <a:p>
            <a:endParaRPr lang="en-US" sz="2800" dirty="0" smtClean="0">
              <a:latin typeface="Tahoma" pitchFamily="34" charset="0"/>
            </a:endParaRPr>
          </a:p>
          <a:p>
            <a:r>
              <a:rPr lang="en-US" sz="2800" dirty="0" smtClean="0">
                <a:latin typeface="Tahoma" pitchFamily="34" charset="0"/>
              </a:rPr>
              <a:t>Mexico may become the largest exporter of irradiated produce to the US at this point. Varieties will include mango, sweet citrus, </a:t>
            </a:r>
            <a:r>
              <a:rPr lang="en-US" sz="2800" dirty="0" err="1" smtClean="0">
                <a:latin typeface="Tahoma" pitchFamily="34" charset="0"/>
              </a:rPr>
              <a:t>manzano</a:t>
            </a:r>
            <a:r>
              <a:rPr lang="en-US" sz="2800" dirty="0" smtClean="0">
                <a:latin typeface="Tahoma" pitchFamily="34" charset="0"/>
              </a:rPr>
              <a:t> Pepper, star fruit, and guava according to the current US / Mexico irradiation work plan.</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b="1" smtClean="0">
                <a:latin typeface="Tahoma" pitchFamily="34" charset="0"/>
              </a:rPr>
              <a:t>Current EU market</a:t>
            </a:r>
            <a:endParaRPr lang="en-US" smtClean="0">
              <a:latin typeface="Tahoma" pitchFamily="34" charset="0"/>
            </a:endParaRPr>
          </a:p>
        </p:txBody>
      </p:sp>
      <p:sp>
        <p:nvSpPr>
          <p:cNvPr id="47107" name="Content Placeholder 2"/>
          <p:cNvSpPr>
            <a:spLocks noGrp="1"/>
          </p:cNvSpPr>
          <p:nvPr>
            <p:ph idx="1"/>
          </p:nvPr>
        </p:nvSpPr>
        <p:spPr>
          <a:xfrm>
            <a:off x="0" y="1600200"/>
            <a:ext cx="9144000" cy="5257800"/>
          </a:xfrm>
        </p:spPr>
        <p:txBody>
          <a:bodyPr/>
          <a:lstStyle/>
          <a:p>
            <a:r>
              <a:rPr lang="en-US" smtClean="0">
                <a:latin typeface="Tahoma" pitchFamily="34" charset="0"/>
              </a:rPr>
              <a:t>The European Community has the most restrictive regulations: mandatory by EC-directive, one single item 'spices' is permitted presently in all 27 member states. </a:t>
            </a:r>
          </a:p>
          <a:p>
            <a:r>
              <a:rPr lang="en-US" smtClean="0">
                <a:latin typeface="Tahoma" pitchFamily="34" charset="0"/>
              </a:rPr>
              <a:t>Seven members (Belgium, Czech Republic, France, Italy, Netherlands, Poland, United Kingdom) maintain a number of national regulations.  </a:t>
            </a:r>
          </a:p>
          <a:p>
            <a:pPr lvl="1"/>
            <a:r>
              <a:rPr lang="en-US" smtClean="0">
                <a:latin typeface="Tahoma" pitchFamily="34" charset="0"/>
              </a:rPr>
              <a:t>This has created labeling issues regarding whether the product was irradiated or not. </a:t>
            </a:r>
          </a:p>
          <a:p>
            <a:pPr lvl="1"/>
            <a:endParaRPr lang="en-US" smtClean="0">
              <a:latin typeface="Tahoma"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228600"/>
            <a:ext cx="8229600" cy="1143000"/>
          </a:xfrm>
        </p:spPr>
        <p:txBody>
          <a:bodyPr/>
          <a:lstStyle/>
          <a:p>
            <a:r>
              <a:rPr lang="en-US" b="1" smtClean="0">
                <a:latin typeface="Tahoma" pitchFamily="34" charset="0"/>
              </a:rPr>
              <a:t>Consumer Protection</a:t>
            </a:r>
          </a:p>
        </p:txBody>
      </p:sp>
      <p:sp>
        <p:nvSpPr>
          <p:cNvPr id="48131" name="Content Placeholder 2"/>
          <p:cNvSpPr>
            <a:spLocks noGrp="1"/>
          </p:cNvSpPr>
          <p:nvPr>
            <p:ph idx="1"/>
          </p:nvPr>
        </p:nvSpPr>
        <p:spPr>
          <a:xfrm>
            <a:off x="0" y="1219200"/>
            <a:ext cx="9144000" cy="5257800"/>
          </a:xfrm>
        </p:spPr>
        <p:txBody>
          <a:bodyPr/>
          <a:lstStyle/>
          <a:p>
            <a:r>
              <a:rPr lang="en-US" smtClean="0">
                <a:latin typeface="Tahoma" pitchFamily="34" charset="0"/>
              </a:rPr>
              <a:t>Irradiation has not been widely adopted due to an asserted negative public perception, the concerns expressed by some consumer groups and the reluctance of many food producers. </a:t>
            </a:r>
          </a:p>
          <a:p>
            <a:endParaRPr lang="en-US" smtClean="0">
              <a:latin typeface="Tahoma" pitchFamily="34" charset="0"/>
            </a:endParaRPr>
          </a:p>
          <a:p>
            <a:r>
              <a:rPr lang="en-US" smtClean="0">
                <a:latin typeface="Tahoma" pitchFamily="34" charset="0"/>
              </a:rPr>
              <a:t>Consumer organizations, environmentalist groups, and opponents to food irradiation refer to some studies suggesting that a large part of the public questions the safety of irradiated foods, and will not buy foods that have been irradiated.</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b="1" smtClean="0">
                <a:latin typeface="Tahoma" pitchFamily="34" charset="0"/>
              </a:rPr>
              <a:t>Consumer Protection</a:t>
            </a:r>
          </a:p>
        </p:txBody>
      </p:sp>
      <p:sp>
        <p:nvSpPr>
          <p:cNvPr id="49155" name="Content Placeholder 2"/>
          <p:cNvSpPr>
            <a:spLocks noGrp="1"/>
          </p:cNvSpPr>
          <p:nvPr>
            <p:ph idx="1"/>
          </p:nvPr>
        </p:nvSpPr>
        <p:spPr>
          <a:xfrm>
            <a:off x="0" y="1600200"/>
            <a:ext cx="9144000" cy="4525963"/>
          </a:xfrm>
        </p:spPr>
        <p:txBody>
          <a:bodyPr/>
          <a:lstStyle/>
          <a:p>
            <a:r>
              <a:rPr lang="en-US" sz="2800" dirty="0" smtClean="0">
                <a:latin typeface="Tahoma" pitchFamily="34" charset="0"/>
              </a:rPr>
              <a:t>On the other hand, other studies indicate the number of consumers concerned about the safety of irradiated food has decreased in the last 10 years and continues to be less than the number of those concerned about pesticide residues, microbiological contamination, and other food related concerns. </a:t>
            </a:r>
          </a:p>
          <a:p>
            <a:endParaRPr lang="en-US" sz="2800" dirty="0" smtClean="0">
              <a:latin typeface="Tahoma" pitchFamily="34" charset="0"/>
            </a:endParaRPr>
          </a:p>
          <a:p>
            <a:r>
              <a:rPr lang="en-US" sz="2800" dirty="0" smtClean="0">
                <a:latin typeface="Tahoma" pitchFamily="34" charset="0"/>
              </a:rPr>
              <a:t> Consumers, given a choice and access to irradiated products, appear ready to buy it in considerably large numbers.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Grp="1"/>
          </p:cNvSpPr>
          <p:nvPr>
            <p:ph type="title"/>
          </p:nvPr>
        </p:nvSpPr>
        <p:spPr/>
        <p:txBody>
          <a:bodyPr/>
          <a:lstStyle/>
          <a:p>
            <a:r>
              <a:rPr lang="en-US" smtClean="0">
                <a:latin typeface="Tahoma" pitchFamily="34" charset="0"/>
              </a:rPr>
              <a:t>Pros and Cons</a:t>
            </a:r>
          </a:p>
        </p:txBody>
      </p:sp>
      <p:sp>
        <p:nvSpPr>
          <p:cNvPr id="79877" name="Rectangle 5"/>
          <p:cNvSpPr>
            <a:spLocks noGrp="1"/>
          </p:cNvSpPr>
          <p:nvPr>
            <p:ph type="body" sz="half" idx="1"/>
          </p:nvPr>
        </p:nvSpPr>
        <p:spPr>
          <a:xfrm>
            <a:off x="457200" y="1295400"/>
            <a:ext cx="4038600" cy="4525963"/>
          </a:xfrm>
        </p:spPr>
        <p:txBody>
          <a:bodyPr/>
          <a:lstStyle/>
          <a:p>
            <a:pPr>
              <a:lnSpc>
                <a:spcPct val="90000"/>
              </a:lnSpc>
            </a:pPr>
            <a:r>
              <a:rPr lang="en-US" b="1" smtClean="0">
                <a:latin typeface="Tahoma" pitchFamily="34" charset="0"/>
              </a:rPr>
              <a:t>Pros </a:t>
            </a:r>
          </a:p>
          <a:p>
            <a:pPr>
              <a:lnSpc>
                <a:spcPct val="90000"/>
              </a:lnSpc>
            </a:pPr>
            <a:r>
              <a:rPr lang="en-US" smtClean="0">
                <a:latin typeface="Tahoma" pitchFamily="34" charset="0"/>
              </a:rPr>
              <a:t> It does not make the food radioactive or less nutritious  </a:t>
            </a:r>
          </a:p>
          <a:p>
            <a:pPr>
              <a:lnSpc>
                <a:spcPct val="90000"/>
              </a:lnSpc>
            </a:pPr>
            <a:r>
              <a:rPr lang="en-US" smtClean="0">
                <a:latin typeface="Tahoma" pitchFamily="34" charset="0"/>
              </a:rPr>
              <a:t> It effectively kills harmful bacteria in our food supply</a:t>
            </a:r>
          </a:p>
        </p:txBody>
      </p:sp>
      <p:sp>
        <p:nvSpPr>
          <p:cNvPr id="79878" name="Rectangle 6"/>
          <p:cNvSpPr>
            <a:spLocks noGrp="1"/>
          </p:cNvSpPr>
          <p:nvPr>
            <p:ph type="body" sz="half" idx="2"/>
          </p:nvPr>
        </p:nvSpPr>
        <p:spPr>
          <a:xfrm>
            <a:off x="4648200" y="1371600"/>
            <a:ext cx="4038600" cy="4525963"/>
          </a:xfrm>
        </p:spPr>
        <p:txBody>
          <a:bodyPr/>
          <a:lstStyle/>
          <a:p>
            <a:pPr>
              <a:lnSpc>
                <a:spcPct val="90000"/>
              </a:lnSpc>
            </a:pPr>
            <a:r>
              <a:rPr lang="en-US" b="1" dirty="0" smtClean="0">
                <a:latin typeface="Tahoma" pitchFamily="34" charset="0"/>
              </a:rPr>
              <a:t>Cons </a:t>
            </a:r>
          </a:p>
          <a:p>
            <a:pPr>
              <a:lnSpc>
                <a:spcPct val="90000"/>
              </a:lnSpc>
            </a:pPr>
            <a:r>
              <a:rPr lang="en-US" dirty="0" smtClean="0">
                <a:latin typeface="Tahoma" pitchFamily="34" charset="0"/>
              </a:rPr>
              <a:t> Public perception of irradiated food</a:t>
            </a:r>
          </a:p>
          <a:p>
            <a:pPr>
              <a:lnSpc>
                <a:spcPct val="90000"/>
              </a:lnSpc>
            </a:pPr>
            <a:r>
              <a:rPr lang="en-US" dirty="0" smtClean="0">
                <a:latin typeface="Tahoma" pitchFamily="34" charset="0"/>
              </a:rPr>
              <a:t> Not applicable to all foods</a:t>
            </a:r>
          </a:p>
          <a:p>
            <a:pPr>
              <a:lnSpc>
                <a:spcPct val="90000"/>
              </a:lnSpc>
            </a:pPr>
            <a:r>
              <a:rPr lang="en-US" dirty="0" smtClean="0">
                <a:latin typeface="Tahoma" pitchFamily="34" charset="0"/>
              </a:rPr>
              <a:t> Need special shielded irradiation facilities using Co-60 ,Cs-137 or electron accelerators</a:t>
            </a:r>
            <a:endParaRPr lang="en-US" b="1" dirty="0" smtClean="0">
              <a:latin typeface="Tahoma" pitchFamily="34" charset="0"/>
            </a:endParaRPr>
          </a:p>
          <a:p>
            <a:pPr>
              <a:lnSpc>
                <a:spcPct val="90000"/>
              </a:lnSpc>
            </a:pPr>
            <a:endParaRPr lang="en-US" b="1" dirty="0" smtClean="0"/>
          </a:p>
          <a:p>
            <a:pPr>
              <a:lnSpc>
                <a:spcPct val="90000"/>
              </a:lnSpc>
            </a:pPr>
            <a:endParaRPr lang="en-US" dirty="0" smtClean="0"/>
          </a:p>
        </p:txBody>
      </p:sp>
      <p:pic>
        <p:nvPicPr>
          <p:cNvPr id="79880" name="Picture 8" descr="pros-vs-cons">
            <a:hlinkClick r:id="rId2"/>
          </p:cNvPr>
          <p:cNvPicPr>
            <a:picLocks noChangeAspect="1" noChangeArrowheads="1"/>
          </p:cNvPicPr>
          <p:nvPr/>
        </p:nvPicPr>
        <p:blipFill>
          <a:blip r:embed="rId3" cstate="print"/>
          <a:srcRect/>
          <a:stretch>
            <a:fillRect/>
          </a:stretch>
        </p:blipFill>
        <p:spPr bwMode="auto">
          <a:xfrm>
            <a:off x="2514600" y="4800600"/>
            <a:ext cx="2133600" cy="1952625"/>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914400" y="5029200"/>
            <a:ext cx="8153400" cy="1738313"/>
          </a:xfrm>
          <a:prstGeom prst="rect">
            <a:avLst/>
          </a:prstGeom>
          <a:noFill/>
          <a:ln w="9525">
            <a:noFill/>
            <a:miter lim="800000"/>
            <a:headEnd/>
            <a:tailEnd/>
          </a:ln>
        </p:spPr>
        <p:txBody>
          <a:bodyPr>
            <a:spAutoFit/>
          </a:bodyPr>
          <a:lstStyle/>
          <a:p>
            <a:r>
              <a:rPr lang="en-US" dirty="0"/>
              <a:t>            </a:t>
            </a:r>
            <a:r>
              <a:rPr lang="en-US" sz="2800" b="1" dirty="0">
                <a:latin typeface="Tahoma" pitchFamily="34" charset="0"/>
                <a:hlinkClick r:id="rId2"/>
              </a:rPr>
              <a:t>http://www.youtube.com/watch?v=S5q1XkG0Rk4</a:t>
            </a:r>
            <a:endParaRPr lang="en-US" sz="2800" b="1" dirty="0">
              <a:latin typeface="Tahoma" pitchFamily="34" charset="0"/>
            </a:endParaRPr>
          </a:p>
          <a:p>
            <a:endParaRPr lang="en-US" sz="2800" dirty="0">
              <a:latin typeface="Tahoma" pitchFamily="34" charset="0"/>
            </a:endParaRPr>
          </a:p>
        </p:txBody>
      </p:sp>
      <p:sp>
        <p:nvSpPr>
          <p:cNvPr id="24579" name="Rectangle 3"/>
          <p:cNvSpPr>
            <a:spLocks noChangeArrowheads="1"/>
          </p:cNvSpPr>
          <p:nvPr/>
        </p:nvSpPr>
        <p:spPr bwMode="auto">
          <a:xfrm>
            <a:off x="838200" y="1066800"/>
            <a:ext cx="7848600" cy="1373188"/>
          </a:xfrm>
          <a:prstGeom prst="rect">
            <a:avLst/>
          </a:prstGeom>
          <a:noFill/>
          <a:ln w="9525">
            <a:noFill/>
            <a:miter lim="800000"/>
            <a:headEnd/>
            <a:tailEnd/>
          </a:ln>
        </p:spPr>
        <p:txBody>
          <a:bodyPr>
            <a:spAutoFit/>
          </a:bodyPr>
          <a:lstStyle/>
          <a:p>
            <a:r>
              <a:rPr lang="en-US" sz="2800" b="1" dirty="0">
                <a:latin typeface="Tahoma" pitchFamily="34" charset="0"/>
                <a:hlinkClick r:id="rId3"/>
              </a:rPr>
              <a:t>http://www.cdc.gov/ncidod/dbmd/diseaseinfo/foodirradiation.htm</a:t>
            </a:r>
            <a:endParaRPr lang="en-US" sz="2800" b="1" dirty="0">
              <a:latin typeface="Tahoma" pitchFamily="34" charset="0"/>
            </a:endParaRPr>
          </a:p>
          <a:p>
            <a:endParaRPr lang="en-US" sz="2800" dirty="0">
              <a:latin typeface="Tahoma" pitchFamily="34" charset="0"/>
            </a:endParaRPr>
          </a:p>
        </p:txBody>
      </p:sp>
      <p:sp>
        <p:nvSpPr>
          <p:cNvPr id="24580" name="TextBox 1"/>
          <p:cNvSpPr txBox="1">
            <a:spLocks noChangeArrowheads="1"/>
          </p:cNvSpPr>
          <p:nvPr/>
        </p:nvSpPr>
        <p:spPr bwMode="auto">
          <a:xfrm>
            <a:off x="1219200" y="4213225"/>
            <a:ext cx="7010400" cy="1189038"/>
          </a:xfrm>
          <a:prstGeom prst="rect">
            <a:avLst/>
          </a:prstGeom>
          <a:noFill/>
          <a:ln w="9525">
            <a:noFill/>
            <a:miter lim="800000"/>
            <a:headEnd/>
            <a:tailEnd/>
          </a:ln>
        </p:spPr>
        <p:txBody>
          <a:bodyPr>
            <a:spAutoFit/>
          </a:bodyPr>
          <a:lstStyle/>
          <a:p>
            <a:endParaRPr lang="en-US" sz="7200"/>
          </a:p>
        </p:txBody>
      </p:sp>
      <p:sp>
        <p:nvSpPr>
          <p:cNvPr id="24582" name="Rectangle 6"/>
          <p:cNvSpPr>
            <a:spLocks noGrp="1"/>
          </p:cNvSpPr>
          <p:nvPr>
            <p:ph type="title" idx="4294967295"/>
          </p:nvPr>
        </p:nvSpPr>
        <p:spPr>
          <a:xfrm>
            <a:off x="457200" y="304800"/>
            <a:ext cx="8229600" cy="457200"/>
          </a:xfrm>
        </p:spPr>
        <p:txBody>
          <a:bodyPr/>
          <a:lstStyle/>
          <a:p>
            <a:r>
              <a:rPr lang="en-US" dirty="0" smtClean="0">
                <a:latin typeface="Tahoma" pitchFamily="34" charset="0"/>
              </a:rPr>
              <a:t>Internet Information and Videos</a:t>
            </a:r>
          </a:p>
        </p:txBody>
      </p:sp>
      <p:sp>
        <p:nvSpPr>
          <p:cNvPr id="24584" name="Rectangle 8"/>
          <p:cNvSpPr>
            <a:spLocks noChangeArrowheads="1"/>
          </p:cNvSpPr>
          <p:nvPr/>
        </p:nvSpPr>
        <p:spPr bwMode="auto">
          <a:xfrm>
            <a:off x="1143000" y="3200400"/>
            <a:ext cx="6003567" cy="1077218"/>
          </a:xfrm>
          <a:prstGeom prst="rect">
            <a:avLst/>
          </a:prstGeom>
          <a:noFill/>
          <a:ln w="9525">
            <a:noFill/>
            <a:miter lim="800000"/>
            <a:headEnd/>
            <a:tailEnd/>
          </a:ln>
          <a:effectLst/>
        </p:spPr>
        <p:txBody>
          <a:bodyPr wrap="none">
            <a:spAutoFit/>
          </a:bodyPr>
          <a:lstStyle/>
          <a:p>
            <a:r>
              <a:rPr lang="en-US" sz="2800" b="1" dirty="0">
                <a:latin typeface="Tahoma" pitchFamily="34" charset="0"/>
                <a:hlinkClick r:id="rId4"/>
              </a:rPr>
              <a:t>http://www.fipa.us/q%26a.pdf</a:t>
            </a:r>
            <a:endParaRPr lang="en-US" sz="2800" b="1" dirty="0">
              <a:latin typeface="Tahoma" pitchFamily="34" charset="0"/>
            </a:endParaRPr>
          </a:p>
          <a:p>
            <a:endParaRPr lang="en-US" sz="3600" dirty="0">
              <a:latin typeface="Tahoma" pitchFamily="34" charset="0"/>
            </a:endParaRPr>
          </a:p>
        </p:txBody>
      </p:sp>
      <p:sp>
        <p:nvSpPr>
          <p:cNvPr id="24585" name="Rectangle 9"/>
          <p:cNvSpPr>
            <a:spLocks noChangeArrowheads="1"/>
          </p:cNvSpPr>
          <p:nvPr/>
        </p:nvSpPr>
        <p:spPr bwMode="auto">
          <a:xfrm>
            <a:off x="989012" y="4038600"/>
            <a:ext cx="6935788" cy="1754326"/>
          </a:xfrm>
          <a:prstGeom prst="rect">
            <a:avLst/>
          </a:prstGeom>
          <a:noFill/>
          <a:ln w="9525">
            <a:noFill/>
            <a:miter lim="800000"/>
            <a:headEnd/>
            <a:tailEnd/>
          </a:ln>
          <a:effectLst/>
        </p:spPr>
        <p:txBody>
          <a:bodyPr>
            <a:spAutoFit/>
          </a:bodyPr>
          <a:lstStyle/>
          <a:p>
            <a:r>
              <a:rPr lang="en-US" sz="2800" b="1" dirty="0">
                <a:latin typeface="Tahoma" pitchFamily="34" charset="0"/>
                <a:ea typeface="Tahoma" pitchFamily="34" charset="0"/>
                <a:cs typeface="Tahoma" pitchFamily="34" charset="0"/>
                <a:hlinkClick r:id="rId5"/>
              </a:rPr>
              <a:t>http://www.mnbeef.org/foodirradiation.aspx</a:t>
            </a:r>
            <a:endParaRPr lang="en-US" sz="2800" b="1" dirty="0">
              <a:latin typeface="Tahoma" pitchFamily="34" charset="0"/>
              <a:ea typeface="Tahoma" pitchFamily="34" charset="0"/>
              <a:cs typeface="Tahoma" pitchFamily="34" charset="0"/>
            </a:endParaRPr>
          </a:p>
          <a:p>
            <a:endParaRPr lang="en-US" sz="2800" b="1" dirty="0">
              <a:latin typeface="Tahoma" pitchFamily="34" charset="0"/>
              <a:ea typeface="Tahoma" pitchFamily="34" charset="0"/>
              <a:cs typeface="Tahoma" pitchFamily="34" charset="0"/>
            </a:endParaRPr>
          </a:p>
          <a:p>
            <a:endParaRPr lang="en-US" dirty="0"/>
          </a:p>
        </p:txBody>
      </p:sp>
      <p:sp>
        <p:nvSpPr>
          <p:cNvPr id="8" name="Rectangle 7"/>
          <p:cNvSpPr/>
          <p:nvPr/>
        </p:nvSpPr>
        <p:spPr>
          <a:xfrm>
            <a:off x="990600" y="2133600"/>
            <a:ext cx="6477000" cy="1323439"/>
          </a:xfrm>
          <a:prstGeom prst="rect">
            <a:avLst/>
          </a:prstGeom>
        </p:spPr>
        <p:txBody>
          <a:bodyPr wrap="square">
            <a:spAutoFit/>
          </a:bodyPr>
          <a:lstStyle/>
          <a:p>
            <a:r>
              <a:rPr lang="en-US" sz="2800" b="1" dirty="0" smtClean="0">
                <a:latin typeface="Tahoma" pitchFamily="34" charset="0"/>
                <a:ea typeface="Tahoma" pitchFamily="34" charset="0"/>
                <a:cs typeface="Tahoma" pitchFamily="34" charset="0"/>
                <a:hlinkClick r:id="rId6"/>
              </a:rPr>
              <a:t>http://www.wholefoodsmarket.com/products/irradiation.php</a:t>
            </a:r>
            <a:endParaRPr lang="en-US" sz="2800" b="1" dirty="0" smtClean="0">
              <a:latin typeface="Tahoma" pitchFamily="34" charset="0"/>
              <a:ea typeface="Tahoma" pitchFamily="34" charset="0"/>
              <a:cs typeface="Tahoma" pitchFamily="34" charset="0"/>
            </a:endParaRPr>
          </a:p>
          <a:p>
            <a:endParaRPr lang="en-US" dirty="0">
              <a:latin typeface="Tahoma" pitchFamily="34" charset="0"/>
              <a:ea typeface="Tahoma" pitchFamily="34" charset="0"/>
              <a:cs typeface="Tahoma"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1589</TotalTime>
  <Words>1378</Words>
  <Application>Microsoft Office PowerPoint</Application>
  <PresentationFormat>On-screen Show (4:3)</PresentationFormat>
  <Paragraphs>221</Paragraphs>
  <Slides>50</Slides>
  <Notes>15</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FOOD IRRADIATION PROCESSING</vt:lpstr>
      <vt:lpstr>What is Food Irradiation?</vt:lpstr>
      <vt:lpstr>What is Food Irradiation?</vt:lpstr>
      <vt:lpstr>What is Food Irradiation?</vt:lpstr>
      <vt:lpstr>Irradiation </vt:lpstr>
      <vt:lpstr>Food Irradiation Process</vt:lpstr>
      <vt:lpstr>Food Irradiation Process</vt:lpstr>
      <vt:lpstr>Preventable Losses</vt:lpstr>
      <vt:lpstr>Preventable Losses</vt:lpstr>
      <vt:lpstr>PowerPoint Presentation</vt:lpstr>
      <vt:lpstr>Government Involvement</vt:lpstr>
      <vt:lpstr>Government Involvement</vt:lpstr>
      <vt:lpstr>Government Involvement</vt:lpstr>
      <vt:lpstr>NEED FOR NEW TECHNOLOGY</vt:lpstr>
      <vt:lpstr>PowerPoint Presentation</vt:lpstr>
      <vt:lpstr>Electron Irradiation</vt:lpstr>
      <vt:lpstr>Gamma Irradiation</vt:lpstr>
      <vt:lpstr>PowerPoint Presentation</vt:lpstr>
      <vt:lpstr>X-Ray Irradiation</vt:lpstr>
      <vt:lpstr>PowerPoint Presentation</vt:lpstr>
      <vt:lpstr>PowerPoint Presentation</vt:lpstr>
      <vt:lpstr>PowerPoint Presentation</vt:lpstr>
      <vt:lpstr>PowerPoint Presentation</vt:lpstr>
      <vt:lpstr>HOW FOOD IRRADIATION PROCESSING WORKS</vt:lpstr>
      <vt:lpstr>  Two Basic Processes Occur When Ionizing Radiation Interacts </vt:lpstr>
      <vt:lpstr>PowerPoint Presentation</vt:lpstr>
      <vt:lpstr>PowerPoint Presentation</vt:lpstr>
      <vt:lpstr>SAFETY OF FOOD IRRADIATION</vt:lpstr>
      <vt:lpstr>PowerPoint Presentation</vt:lpstr>
      <vt:lpstr>PRACTICAL USES OF IRRADIATION</vt:lpstr>
      <vt:lpstr>Dosimetry</vt:lpstr>
      <vt:lpstr>PowerPoint Presentation</vt:lpstr>
      <vt:lpstr>EXAMPLES OF FOOD IRRADIATION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Irradiated Meat</vt:lpstr>
      <vt:lpstr>International Use</vt:lpstr>
      <vt:lpstr>Common Foods of Interest</vt:lpstr>
      <vt:lpstr>Some Ethnic Foods of Interest</vt:lpstr>
      <vt:lpstr>Current US Market</vt:lpstr>
      <vt:lpstr>Current EU market</vt:lpstr>
      <vt:lpstr>Consumer Protection</vt:lpstr>
      <vt:lpstr>Consumer Protection</vt:lpstr>
      <vt:lpstr>Pros and Cons</vt:lpstr>
      <vt:lpstr>Internet Information and Videos</vt:lpstr>
    </vt:vector>
  </TitlesOfParts>
  <Company>Univ of Texas NROTC Unit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Irradiation Processing</dc:title>
  <dc:creator>Commanding Officer</dc:creator>
  <cp:lastModifiedBy>Sheldon</cp:lastModifiedBy>
  <cp:revision>154</cp:revision>
  <dcterms:created xsi:type="dcterms:W3CDTF">1999-10-29T12:29:52Z</dcterms:created>
  <dcterms:modified xsi:type="dcterms:W3CDTF">2017-06-13T12:53:02Z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1</vt:i4>
  </property>
  <property fmtid="{D5CDD505-2E9C-101B-9397-08002B2CF9AE}" pid="6" name="ScreenUsage">
    <vt:i4>2</vt:i4>
  </property>
  <property fmtid="{D5CDD505-2E9C-101B-9397-08002B2CF9AE}" pid="7" name="MailAddress">
    <vt:lpwstr>s.landsberger@mail.utexes.edu</vt:lpwstr>
  </property>
  <property fmtid="{D5CDD505-2E9C-101B-9397-08002B2CF9AE}" pid="8" name="HomePage">
    <vt:lpwstr>www.me.utexas.edu/~nuclear</vt:lpwstr>
  </property>
  <property fmtid="{D5CDD505-2E9C-101B-9397-08002B2CF9AE}" pid="9" name="Other">
    <vt:lpwstr/>
  </property>
  <property fmtid="{D5CDD505-2E9C-101B-9397-08002B2CF9AE}" pid="10" name="DownloadOriginal">
    <vt:bool>true</vt:bool>
  </property>
  <property fmtid="{D5CDD505-2E9C-101B-9397-08002B2CF9AE}" pid="11" name="DownloadIEButton">
    <vt:bool>true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4</vt:i4>
  </property>
  <property fmtid="{D5CDD505-2E9C-101B-9397-08002B2CF9AE}" pid="21" name="OutputDir">
    <vt:lpwstr>C:\web</vt:lpwstr>
  </property>
</Properties>
</file>